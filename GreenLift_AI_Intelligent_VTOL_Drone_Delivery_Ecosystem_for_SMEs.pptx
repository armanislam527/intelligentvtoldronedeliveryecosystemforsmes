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4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7F8CD-F827-4067-B13D-9CBD36262E7D}" v="15" dt="2025-12-29T08:20:05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6948215-D106-4A70-81F1-C47839B42C1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CCDD02-6E17-4AF7-BD60-5B2C414E18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C7A784-BA1C-418D-BF55-B0E13D57ED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64E0B7-8A52-433C-8CE0-D3E42BE148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5E7D49-B032-4315-ADDC-2EF79C5677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6AE870-CEBF-4718-84AE-596D9F4F6B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32A95D-93E7-4F89-9EE4-E276E026AA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B1188D-6C7C-49C4-BB11-CD295FA6C7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857040-C5CD-4FE2-8C4A-4EE66CDB38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D8C876-2C47-4C88-B054-41E25DEFC0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342BCE-DF55-4736-8B45-38F7E77376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0C60F4-8B55-4B8F-9393-27D1D1AE2E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95C194-47CF-42F1-B0D4-5A1E813585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A5FEC3-1DEC-4FDC-87B2-FC99E2E879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DDF2E4-6031-4FEB-A317-546043CABD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B1949E-2E8A-49B6-885F-25675AE83E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E3EF66-2296-4B80-8127-F2E1483307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mordorintelligence.com/industry-reports/bangladesh-freight-and-logistics-market#:~:text=Bangladesh%20Freight%20And%20Logistics%20Market%20Analysis%20by%20Mordor%20Intelligence,%2C%20bridge%2C%20and%20port%20projects." TargetMode="External"/><Relationship Id="rId4" Type="http://schemas.openxmlformats.org/officeDocument/2006/relationships/hyperlink" Target="https://plandiv.portal.gov.bd/sites/default/files/files/plandiv.portal.gov.bd/notices/afbffe34_be4c_417d_b36c_ecf8db4614fc/ToR%20final%20SME.pdf#:~:text=The%20total%20number%20of%20SMEs%20in%20Bangladesh,are%20small%20and%206.4%20percent%20are%20medium.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hyperlink" Target="https://www.linkedin.com/in/armanislam527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://github.com/Armanislam527%E2%80%8B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://cv-of-arman.netlify.app/" TargetMode="External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3"/>
          <a:stretch/>
        </p:blipFill>
        <p:spPr>
          <a:xfrm>
            <a:off x="-1681" y="-190919"/>
            <a:ext cx="9143280" cy="533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317552" y="143457"/>
            <a:ext cx="8396401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800" b="1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GreenLift</a:t>
            </a:r>
            <a:r>
              <a:rPr lang="en-US" sz="2800" b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AI</a:t>
            </a:r>
            <a:r>
              <a:rPr lang="en-US" sz="2800">
                <a:solidFill>
                  <a:srgbClr val="1A1A1A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sz="2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Intelligent</a:t>
            </a:r>
            <a:r>
              <a:rPr lang="en-US" sz="2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  <a:cs typeface="Calibri"/>
              </a:rPr>
              <a:t> VTOL Drone Delivery Ecosystem for SMEs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81500" y="513386"/>
            <a:ext cx="6184971" cy="202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Transforming Last-Mile Logistics and Business Intelligence for 10 Million SMEs in Bangladesh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485640" y="3343320"/>
            <a:ext cx="8171640" cy="173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710592" y="3342248"/>
            <a:ext cx="6961763" cy="3401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3166647" y="3369182"/>
            <a:ext cx="1669754" cy="471666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3166647" y="3453752"/>
            <a:ext cx="2291680" cy="3162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7440" tIns="76680" rIns="127440" bIns="7668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 PHANTOM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209602" y="3765687"/>
            <a:ext cx="397836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CONTACT: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defTabSz="914400">
              <a:tabLst>
                <a:tab pos="0" algn="l"/>
              </a:tabLst>
            </a:pPr>
            <a:r>
              <a:rPr lang="en-US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armanislam527@gmail.com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2586218" y="4215479"/>
            <a:ext cx="397201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PHONE: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+8801521751005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263390" y="4647820"/>
            <a:ext cx="7087991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PROJECT PORTFOLIO: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defTabSz="914400">
              <a:tabLst>
                <a:tab pos="0" algn="l"/>
              </a:tabLst>
            </a:pPr>
            <a:r>
              <a:rPr lang="en-US" sz="140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https://armanislam527.github.io/IntelligentVTOLDroneDeliveryEcosystemForSMEs/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A0C43A-F227-B1DF-B4CD-395835898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965" y="3162300"/>
            <a:ext cx="1905000" cy="1905000"/>
          </a:xfrm>
          <a:prstGeom prst="rect">
            <a:avLst/>
          </a:prstGeom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6FFED70A-5248-2C30-A630-538C65DD6F6F}"/>
              </a:ext>
            </a:extLst>
          </p:cNvPr>
          <p:cNvSpPr/>
          <p:nvPr/>
        </p:nvSpPr>
        <p:spPr>
          <a:xfrm>
            <a:off x="4315349" y="4208593"/>
            <a:ext cx="397201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r>
              <a:rPr lang="en-US" sz="1600" b="1">
                <a:solidFill>
                  <a:srgbClr val="FF5F1F"/>
                </a:solidFill>
                <a:latin typeface="Times New Roman"/>
                <a:cs typeface="Times New Roman"/>
              </a:rPr>
              <a:t>LinkedIn</a:t>
            </a: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  <a:p>
            <a:pPr defTabSz="914400">
              <a:tabLst>
                <a:tab pos="0" algn="l"/>
              </a:tabLst>
            </a:pPr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linkedin.com/in/armanislam527/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DC3B4-A013-0CE5-D16B-67C76601AA91}"/>
              </a:ext>
            </a:extLst>
          </p:cNvPr>
          <p:cNvSpPr/>
          <p:nvPr/>
        </p:nvSpPr>
        <p:spPr>
          <a:xfrm>
            <a:off x="42461" y="919569"/>
            <a:ext cx="3250891" cy="1879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drone&#10;&#10;AI-generated content may be incorrect.">
            <a:extLst>
              <a:ext uri="{FF2B5EF4-FFF2-40B4-BE49-F238E27FC236}">
                <a16:creationId xmlns:a16="http://schemas.microsoft.com/office/drawing/2014/main" id="{06E65463-0183-86F1-52FD-5C3CBCC41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9666" y="986299"/>
            <a:ext cx="3198556" cy="18066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96AAEF-6DF6-7DC1-CFB0-73852E2239F1}"/>
              </a:ext>
            </a:extLst>
          </p:cNvPr>
          <p:cNvSpPr/>
          <p:nvPr/>
        </p:nvSpPr>
        <p:spPr>
          <a:xfrm>
            <a:off x="5823256" y="915215"/>
            <a:ext cx="3250891" cy="1879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preencoded.png">
            <a:extLst>
              <a:ext uri="{FF2B5EF4-FFF2-40B4-BE49-F238E27FC236}">
                <a16:creationId xmlns:a16="http://schemas.microsoft.com/office/drawing/2014/main" id="{145FED7B-6659-2B3B-07D8-AD7FE70A2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235" y="715879"/>
            <a:ext cx="380047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35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Shape 0"/>
          <p:cNvSpPr/>
          <p:nvPr/>
        </p:nvSpPr>
        <p:spPr>
          <a:xfrm>
            <a:off x="57240" y="57240"/>
            <a:ext cx="9029160" cy="103500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57240" y="10645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" name="Text 2"/>
          <p:cNvSpPr/>
          <p:nvPr/>
        </p:nvSpPr>
        <p:spPr>
          <a:xfrm>
            <a:off x="485640" y="271440"/>
            <a:ext cx="2907719" cy="259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The Team: Focused on Execution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" name="Text 3"/>
          <p:cNvSpPr/>
          <p:nvPr/>
        </p:nvSpPr>
        <p:spPr>
          <a:xfrm>
            <a:off x="485640" y="655560"/>
            <a:ext cx="3868047" cy="166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A dedicated technical specialist driving the future of intelligent logistics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57240" y="1064520"/>
            <a:ext cx="4514040" cy="42051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4543560" y="1064520"/>
            <a:ext cx="27720" cy="4205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4"/>
          <a:stretch/>
        </p:blipFill>
        <p:spPr>
          <a:xfrm>
            <a:off x="728280" y="1381320"/>
            <a:ext cx="3171600" cy="357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6"/>
          <p:cNvSpPr/>
          <p:nvPr/>
        </p:nvSpPr>
        <p:spPr>
          <a:xfrm>
            <a:off x="5000760" y="1300320"/>
            <a:ext cx="3656880" cy="389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Arman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051186" y="1819800"/>
            <a:ext cx="3051588" cy="36540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" name="Text 8"/>
          <p:cNvSpPr/>
          <p:nvPr/>
        </p:nvSpPr>
        <p:spPr>
          <a:xfrm>
            <a:off x="5051186" y="1819800"/>
            <a:ext cx="3370954" cy="3652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7440" tIns="84960" rIns="12744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💡</a:t>
            </a: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Technical &amp; Idea Supporter</a:t>
            </a:r>
            <a:endParaRPr lang="en-US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000760" y="2371680"/>
            <a:ext cx="1553952" cy="159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Core Expertise: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5000760" y="2691360"/>
            <a:ext cx="35266" cy="148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179320" y="2693160"/>
            <a:ext cx="3694922" cy="173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WRO 2025 Participant (Invited To National)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5000760" y="2965680"/>
            <a:ext cx="35266" cy="148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179320" y="2967480"/>
            <a:ext cx="2633734" cy="177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Autonomous Systems Specialist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5000760" y="3240000"/>
            <a:ext cx="35266" cy="148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5179320" y="3241800"/>
            <a:ext cx="2609689" cy="173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Embedded Systems &amp; Robotics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5000760" y="3514320"/>
            <a:ext cx="35266" cy="148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5179320" y="3516120"/>
            <a:ext cx="2348400" cy="173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Flight Control &amp; Navigation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5000760" y="3788640"/>
            <a:ext cx="35266" cy="148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5179320" y="3790440"/>
            <a:ext cx="2070567" cy="173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IoT &amp; Sensor Integration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4807458" y="4574632"/>
            <a:ext cx="385084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90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47AB"/>
                </a:solidFill>
                <a:effectLst/>
                <a:uFillTx/>
                <a:latin typeface="Times New Roman"/>
                <a:ea typeface="Noto Sans CJK SC"/>
                <a:cs typeface="Times New Roman"/>
              </a:rPr>
              <a:t>PORTFOLIO:</a:t>
            </a:r>
            <a:r>
              <a:rPr lang="en-US" sz="1400" b="1">
                <a:solidFill>
                  <a:srgbClr val="0047AB"/>
                </a:solidFill>
                <a:latin typeface="Times New Roman"/>
                <a:ea typeface="Noto Sans CJK SC"/>
                <a:cs typeface="Times New Roman"/>
              </a:rPr>
              <a:t> </a:t>
            </a:r>
            <a:r>
              <a:rPr lang="en-US" sz="1400" b="1" u="none" strike="noStrike">
                <a:solidFill>
                  <a:srgbClr val="0047AB"/>
                </a:solidFill>
                <a:effectLst/>
                <a:uFillTx/>
                <a:latin typeface="Times New Roman"/>
                <a:ea typeface="Noto Sans CJK SC"/>
                <a:cs typeface="Times New Roman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cv-of-</a:t>
            </a:r>
            <a:r>
              <a:rPr lang="en-US" sz="1600" b="0" u="none" strike="noStrike" err="1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arman.netlify.app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4791322" y="5126236"/>
            <a:ext cx="3520194" cy="14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GITHUB:	</a:t>
            </a:r>
            <a:r>
              <a:rPr lang="en-US" b="0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github.com/Armanislam527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0E212-5AD0-0D45-A5FB-407938AED6E4}"/>
              </a:ext>
            </a:extLst>
          </p:cNvPr>
          <p:cNvSpPr txBox="1"/>
          <p:nvPr/>
        </p:nvSpPr>
        <p:spPr>
          <a:xfrm>
            <a:off x="4701383" y="4641404"/>
            <a:ext cx="452370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LinkedIn: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 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linkedin.com/in/armanislam527/</a:t>
            </a:r>
            <a:r>
              <a:rPr lang="en-US" sz="1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01596" y="145374"/>
            <a:ext cx="4231928" cy="5539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The Logistics Barrier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85640" y="655560"/>
            <a:ext cx="5749972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Costly, Unreliable, and Data-Blind Operations Limiting SME Growth</a:t>
            </a:r>
          </a:p>
        </p:txBody>
      </p:sp>
      <p:sp>
        <p:nvSpPr>
          <p:cNvPr id="53" name="Shape 4"/>
          <p:cNvSpPr/>
          <p:nvPr/>
        </p:nvSpPr>
        <p:spPr>
          <a:xfrm>
            <a:off x="485640" y="117252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4" name="Text 5"/>
          <p:cNvSpPr/>
          <p:nvPr/>
        </p:nvSpPr>
        <p:spPr>
          <a:xfrm>
            <a:off x="585720" y="1272600"/>
            <a:ext cx="512961" cy="615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40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5" name="Text 6"/>
          <p:cNvSpPr/>
          <p:nvPr/>
        </p:nvSpPr>
        <p:spPr>
          <a:xfrm>
            <a:off x="1216051" y="1356242"/>
            <a:ext cx="382824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Last-Mile Inefficiency</a:t>
            </a:r>
            <a:endParaRPr lang="en-US" sz="1600" b="0" i="1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6" name="Text 7"/>
          <p:cNvSpPr/>
          <p:nvPr/>
        </p:nvSpPr>
        <p:spPr>
          <a:xfrm>
            <a:off x="585720" y="1923250"/>
            <a:ext cx="382824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Costly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unreliable 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final delivery 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drains operational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budgets.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1770741" y="2698998"/>
            <a:ext cx="1793392" cy="300352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8" name="Text 9"/>
          <p:cNvSpPr/>
          <p:nvPr/>
        </p:nvSpPr>
        <p:spPr>
          <a:xfrm>
            <a:off x="1770741" y="2690596"/>
            <a:ext cx="2196805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2240" tIns="68040" rIns="10224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89% AFFECTED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4629240" y="117252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754533" y="1260222"/>
            <a:ext cx="512961" cy="615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40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02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5620188" y="1352269"/>
            <a:ext cx="382824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Monsoon Vulnerability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4931026" y="1818424"/>
            <a:ext cx="382824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Delays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during rainy seasons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Create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supply chain chaos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Customer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dissatisfaction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5015070" y="2669813"/>
            <a:ext cx="2878804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5368055" y="2656926"/>
            <a:ext cx="3105722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2240" tIns="68040" rIns="10224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91% REPORT DELAYS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485640" y="308700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585720" y="3187080"/>
            <a:ext cx="512961" cy="615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40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1216051" y="3295935"/>
            <a:ext cx="382824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Cost Burden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585720" y="3778899"/>
            <a:ext cx="3986154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Consume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a significant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 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SME 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budgets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limiting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resources for growth and innovation.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1098389" y="4588267"/>
            <a:ext cx="2467995" cy="333969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1098389" y="4613479"/>
            <a:ext cx="3031091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2240" tIns="68040" rIns="10224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18-25% OF BUDGET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4629240" y="308700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4729320" y="3208320"/>
            <a:ext cx="512961" cy="615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40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5368055" y="3275513"/>
            <a:ext cx="382824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Data Blindness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4830173" y="3774926"/>
            <a:ext cx="3828240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Lack of business intelligence </a:t>
            </a:r>
          </a:p>
        </p:txBody>
      </p:sp>
      <p:sp>
        <p:nvSpPr>
          <p:cNvPr id="75" name="Shape 26"/>
          <p:cNvSpPr/>
          <p:nvPr/>
        </p:nvSpPr>
        <p:spPr>
          <a:xfrm>
            <a:off x="5368055" y="4592697"/>
            <a:ext cx="2267201" cy="317158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5368054" y="4601102"/>
            <a:ext cx="2779870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2240" tIns="68040" rIns="10224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73% LACK TOOLS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0" name="Text 2"/>
          <p:cNvSpPr/>
          <p:nvPr/>
        </p:nvSpPr>
        <p:spPr>
          <a:xfrm>
            <a:off x="208294" y="187396"/>
            <a:ext cx="3183564" cy="2957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Market Opportunity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85640" y="655560"/>
            <a:ext cx="5979201" cy="169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The $10 Billion Untapped Potential in Bangladesh's SME Sector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99037" y="1549138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006959" y="1613192"/>
            <a:ext cx="562655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dirty="0">
                <a:solidFill>
                  <a:srgbClr val="FF5F1F"/>
                </a:solidFill>
                <a:latin typeface="Times New Roman"/>
                <a:cs typeface="Times New Roman"/>
                <a:hlinkClick r:id="rId4"/>
              </a:rPr>
              <a:t>7.9M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4" name="Text 6"/>
          <p:cNvSpPr/>
          <p:nvPr/>
        </p:nvSpPr>
        <p:spPr>
          <a:xfrm>
            <a:off x="636782" y="2121204"/>
            <a:ext cx="1723229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SMEs in Bangladesh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2978979" y="1532329"/>
            <a:ext cx="3403475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6" name="Text 8"/>
          <p:cNvSpPr/>
          <p:nvPr/>
        </p:nvSpPr>
        <p:spPr>
          <a:xfrm>
            <a:off x="4315159" y="1630001"/>
            <a:ext cx="51296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78%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7" name="Text 9"/>
          <p:cNvSpPr/>
          <p:nvPr/>
        </p:nvSpPr>
        <p:spPr>
          <a:xfrm>
            <a:off x="3044390" y="2121205"/>
            <a:ext cx="3037691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Underserved in Poor Logistics Areas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623722" y="1532329"/>
            <a:ext cx="2361330" cy="809516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7251805" y="1609219"/>
            <a:ext cx="702115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  <a:hlinkClick r:id="rId5"/>
              </a:rPr>
              <a:t>$</a:t>
            </a:r>
            <a:r>
              <a:rPr lang="en-US" sz="2000" b="1" dirty="0">
                <a:solidFill>
                  <a:srgbClr val="FF5F1F"/>
                </a:solidFill>
                <a:latin typeface="Times New Roman"/>
                <a:cs typeface="Times New Roman"/>
                <a:hlinkClick r:id="rId5"/>
              </a:rPr>
              <a:t>31B</a:t>
            </a:r>
            <a:r>
              <a:rPr lang="en-US" sz="2000" b="1" u="none" strike="noStrike" dirty="0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  <a:hlinkClick r:id="rId5"/>
              </a:rPr>
              <a:t>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6701674" y="2117232"/>
            <a:ext cx="1651093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Market Opportunity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485640" y="2635560"/>
            <a:ext cx="8171640" cy="11102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600120" y="2771280"/>
            <a:ext cx="2517997" cy="169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Target Market Segments: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00120" y="3031920"/>
            <a:ext cx="2829358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E-commerce &amp; Online Retailers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4614840" y="3031920"/>
            <a:ext cx="2007018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Agricultural Suppliers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600120" y="3253320"/>
            <a:ext cx="1639930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Local Pharmacies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4614840" y="3253320"/>
            <a:ext cx="2083962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Cold-Chain Businesses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600120" y="3474720"/>
            <a:ext cx="2667455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Food &amp; Beverage Distributors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4614840" y="3474720"/>
            <a:ext cx="1285667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Retail Chains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99" name="Shape 21"/>
          <p:cNvSpPr/>
          <p:nvPr/>
        </p:nvSpPr>
        <p:spPr>
          <a:xfrm>
            <a:off x="485640" y="3839040"/>
            <a:ext cx="8171640" cy="5814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600120" y="3031920"/>
            <a:ext cx="7213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4614840" y="3031920"/>
            <a:ext cx="7213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600120" y="3253320"/>
            <a:ext cx="7213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4614840" y="3253320"/>
            <a:ext cx="7213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600120" y="3474720"/>
            <a:ext cx="7213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4614840" y="3474720"/>
            <a:ext cx="72136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3385606" y="3918698"/>
            <a:ext cx="2355261" cy="125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Starting Prototyping Area: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3898723" y="4181080"/>
            <a:ext cx="1429879" cy="1887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b="1">
                <a:solidFill>
                  <a:srgbClr val="FFFFFF"/>
                </a:solidFill>
                <a:latin typeface="Times New Roman"/>
                <a:cs typeface="Times New Roman"/>
              </a:rPr>
              <a:t>Pabna</a:t>
            </a: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 </a:t>
            </a:r>
            <a:r>
              <a:rPr lang="en-US" b="1">
                <a:solidFill>
                  <a:srgbClr val="FFFFFF"/>
                </a:solidFill>
                <a:latin typeface="Times New Roman"/>
                <a:cs typeface="Times New Roman"/>
              </a:rPr>
              <a:t>District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C212C-3DA9-60D8-43E1-7F28856283A8}"/>
              </a:ext>
            </a:extLst>
          </p:cNvPr>
          <p:cNvSpPr/>
          <p:nvPr/>
        </p:nvSpPr>
        <p:spPr>
          <a:xfrm>
            <a:off x="6188074" y="1465262"/>
            <a:ext cx="2892425" cy="33750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85640" y="271440"/>
            <a:ext cx="506068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2400" b="1" u="none" strike="noStrike" err="1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GreenLift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 AI: The Integrated Solution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144211" y="642603"/>
            <a:ext cx="8848576" cy="2769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Comprehensive ecosystem combining autonomous delivery with real-time business intelligence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61097" y="1069541"/>
            <a:ext cx="3054872" cy="1935502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436365" y="1073519"/>
            <a:ext cx="2314736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Green-Fuel VTOL Drones</a:t>
            </a:r>
          </a:p>
        </p:txBody>
      </p:sp>
      <p:sp>
        <p:nvSpPr>
          <p:cNvPr id="116" name="Text 7"/>
          <p:cNvSpPr/>
          <p:nvPr/>
        </p:nvSpPr>
        <p:spPr>
          <a:xfrm>
            <a:off x="59803" y="1547169"/>
            <a:ext cx="3057557" cy="1113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 algn="ctr">
              <a:spcAft>
                <a:spcPts val="500"/>
              </a:spcAft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Autonomous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ctr">
              <a:spcAft>
                <a:spcPts val="500"/>
              </a:spcAft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Green-energy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>
              <a:spcAft>
                <a:spcPts val="500"/>
              </a:spcAft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delivery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for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Fast reliable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service in urban and rural areas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3114540" y="1071657"/>
            <a:ext cx="3064849" cy="1929379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3152710" y="1294994"/>
            <a:ext cx="2683299" cy="3115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b="1" dirty="0"/>
              <a:t>AI-Powered SME Dashboard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3121920" y="1835941"/>
            <a:ext cx="3062469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Converts raw business data into actionable insights for demand, inventory, and cash flow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61097" y="3068998"/>
            <a:ext cx="3064453" cy="2004047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42006" y="3312951"/>
            <a:ext cx="1833835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Seamless Integration</a:t>
            </a:r>
          </a:p>
        </p:txBody>
      </p:sp>
      <p:sp>
        <p:nvSpPr>
          <p:cNvPr id="124" name="Text 15"/>
          <p:cNvSpPr/>
          <p:nvPr/>
        </p:nvSpPr>
        <p:spPr>
          <a:xfrm>
            <a:off x="64849" y="3692427"/>
            <a:ext cx="3055822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Closed-loop intelligence system where every delivery improves predictive analytics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3122704" y="3068109"/>
            <a:ext cx="3063036" cy="2021227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3480922" y="3312289"/>
            <a:ext cx="2066142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Localized &amp; Affordable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3131229" y="3851669"/>
            <a:ext cx="3054098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spcAft>
                <a:spcPts val="500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Bangla interface, mobile-first design, pay-per-use model for easy SME adoption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4"/>
          <a:stretch/>
        </p:blipFill>
        <p:spPr>
          <a:xfrm>
            <a:off x="6190592" y="1636920"/>
            <a:ext cx="2856960" cy="2856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preencoded.png"/>
          <p:cNvPicPr/>
          <p:nvPr/>
        </p:nvPicPr>
        <p:blipFill>
          <a:blip r:embed="rId3"/>
          <a:stretch/>
        </p:blipFill>
        <p:spPr>
          <a:xfrm>
            <a:off x="8049" y="0"/>
            <a:ext cx="9143280" cy="53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231640" y="131740"/>
            <a:ext cx="2671180" cy="2837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Technical Deep Dive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364990" y="477760"/>
            <a:ext cx="4629472" cy="169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Precision, Reliability, and Low-Cost Connectivity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51545" y="1076650"/>
            <a:ext cx="4570986" cy="3143466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7244" y="1076650"/>
            <a:ext cx="4591850" cy="4953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53840" y="1538410"/>
            <a:ext cx="4591850" cy="335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3400" rIns="90000" bIns="-234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85640" y="1159200"/>
            <a:ext cx="4014000" cy="3857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95760" rIns="127440" bIns="95760" anchor="t">
            <a:sp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LoRa Network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126910" y="1652040"/>
            <a:ext cx="718145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Purpose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805090" y="1819590"/>
            <a:ext cx="3728160" cy="173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Low-power, long-range communication</a:t>
            </a:r>
          </a:p>
        </p:txBody>
      </p:sp>
      <p:sp>
        <p:nvSpPr>
          <p:cNvPr id="142" name="Text 10"/>
          <p:cNvSpPr/>
          <p:nvPr/>
        </p:nvSpPr>
        <p:spPr>
          <a:xfrm>
            <a:off x="133260" y="2195010"/>
            <a:ext cx="708527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Benefits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874940" y="2320650"/>
            <a:ext cx="3728160" cy="339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Ensures reliable control and data transmission, reducing operational costs </a:t>
            </a:r>
          </a:p>
        </p:txBody>
      </p:sp>
      <p:sp>
        <p:nvSpPr>
          <p:cNvPr id="144" name="Text 12"/>
          <p:cNvSpPr/>
          <p:nvPr/>
        </p:nvSpPr>
        <p:spPr>
          <a:xfrm>
            <a:off x="57060" y="2820530"/>
            <a:ext cx="1663917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Range &amp; Coverage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488860" y="3198719"/>
            <a:ext cx="3728160" cy="339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Extended range (5-15 km) with low power consumption</a:t>
            </a:r>
          </a:p>
        </p:txBody>
      </p:sp>
      <p:sp>
        <p:nvSpPr>
          <p:cNvPr id="146" name="Shape 14"/>
          <p:cNvSpPr/>
          <p:nvPr/>
        </p:nvSpPr>
        <p:spPr>
          <a:xfrm>
            <a:off x="628560" y="3699690"/>
            <a:ext cx="3861510" cy="5222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47610" y="3699690"/>
            <a:ext cx="3728160" cy="6087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7600" rIns="102240" bIns="5760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COMMUNICATION PROTOCOL: MQTT/</a:t>
            </a:r>
            <a:r>
              <a:rPr lang="en-US" sz="1600" b="1" u="none" strike="noStrike" err="1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LoRaWAN</a:t>
            </a:r>
            <a:endParaRPr lang="en-US" sz="1600" b="0" u="none" strike="noStrike" err="1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4643280" y="1076650"/>
            <a:ext cx="4445800" cy="314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4482295" y="1078349"/>
            <a:ext cx="4608484" cy="4699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4643280" y="1538410"/>
            <a:ext cx="4464850" cy="335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3400" rIns="90000" bIns="-234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4643280" y="1159200"/>
            <a:ext cx="4014000" cy="3857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95760" rIns="127440" bIns="95760" anchor="t">
            <a:sp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Smart Tension Sensor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671900" y="1652040"/>
            <a:ext cx="1016304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Mechanism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5732350" y="1651950"/>
            <a:ext cx="3290010" cy="506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Integrated into the string-down delivery system for secure, precise, and damage-free package release.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4671900" y="2195010"/>
            <a:ext cx="787075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Function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5516450" y="2317384"/>
            <a:ext cx="3728160" cy="339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Detects pre-set threshold tension value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for 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automatically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releasing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packages</a:t>
            </a:r>
            <a:endParaRPr lang="en-US" sz="1600" b="0" u="none" strike="noStrike" dirty="0">
              <a:solidFill>
                <a:srgbClr val="1A1A1A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4671900" y="2885840"/>
            <a:ext cx="945772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Advantage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5148150" y="3201296"/>
            <a:ext cx="3728160" cy="339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No landing required. Autonomous release ensures delivery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without human </a:t>
            </a:r>
            <a:endParaRPr lang="en-US" sz="1600" b="0" u="none" strike="noStrike" dirty="0">
              <a:solidFill>
                <a:srgbClr val="1A1A1A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4856050" y="3689160"/>
            <a:ext cx="3798010" cy="5349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59" name="Text 27"/>
          <p:cNvSpPr/>
          <p:nvPr/>
        </p:nvSpPr>
        <p:spPr>
          <a:xfrm>
            <a:off x="4767150" y="3689160"/>
            <a:ext cx="3728160" cy="6087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7600" rIns="102240" bIns="5760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AUTO-RELEASE: THRESHOLD-BASED ACTIVATION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2790690" y="4410780"/>
            <a:ext cx="3162725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VTOL DRONE SPECIFICATIONS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1" name="Shape 29"/>
          <p:cNvSpPr/>
          <p:nvPr/>
        </p:nvSpPr>
        <p:spPr>
          <a:xfrm>
            <a:off x="491990" y="462488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2" name="Text 30"/>
          <p:cNvSpPr/>
          <p:nvPr/>
        </p:nvSpPr>
        <p:spPr>
          <a:xfrm>
            <a:off x="574540" y="4624880"/>
            <a:ext cx="404964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PAYLOAD: 1-20 kg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3" name="Shape 31"/>
          <p:cNvSpPr/>
          <p:nvPr/>
        </p:nvSpPr>
        <p:spPr>
          <a:xfrm>
            <a:off x="4626690" y="462488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4671140" y="4624880"/>
            <a:ext cx="404964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RANGE: 10-20 km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485640" y="495006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485640" y="4950060"/>
            <a:ext cx="404964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PROPULSION: Hydrogen-Electric Hybrid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7" name="Shape 35"/>
          <p:cNvSpPr/>
          <p:nvPr/>
        </p:nvSpPr>
        <p:spPr>
          <a:xfrm>
            <a:off x="4626690" y="495006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4626690" y="4969110"/>
            <a:ext cx="404964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EMISSIONS: Zero-Carbon Delivery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33AFB0-11F9-F60D-B75F-854FB8933463}"/>
              </a:ext>
            </a:extLst>
          </p:cNvPr>
          <p:cNvSpPr/>
          <p:nvPr/>
        </p:nvSpPr>
        <p:spPr>
          <a:xfrm>
            <a:off x="2757490" y="4226810"/>
            <a:ext cx="2898384" cy="1107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1933399-9174-087B-F58B-AC3C8CBB732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049" y="0"/>
            <a:ext cx="9143280" cy="53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31E4A1A-75A2-A7BE-01EA-C676B091DF64}"/>
              </a:ext>
            </a:extLst>
          </p:cNvPr>
          <p:cNvSpPr/>
          <p:nvPr/>
        </p:nvSpPr>
        <p:spPr>
          <a:xfrm>
            <a:off x="57354" y="57355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Times New Roman"/>
              </a:rPr>
              <a:t>Weight Lift Mechanism</a:t>
            </a:r>
            <a:endParaRPr lang="en-US" sz="24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 descr="A drone flying with a box attached to a parachute&#10;&#10;AI-generated content may be incorrect.">
            <a:extLst>
              <a:ext uri="{FF2B5EF4-FFF2-40B4-BE49-F238E27FC236}">
                <a16:creationId xmlns:a16="http://schemas.microsoft.com/office/drawing/2014/main" id="{9492D593-CD3B-9500-9E3C-2825179C9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603" y="3094263"/>
            <a:ext cx="3445331" cy="2294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15DEC-9C7B-754A-2953-0255B70DA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690" y="1080407"/>
            <a:ext cx="2702110" cy="1902280"/>
          </a:xfrm>
          <a:prstGeom prst="rect">
            <a:avLst/>
          </a:prstGeom>
        </p:spPr>
      </p:pic>
      <p:pic>
        <p:nvPicPr>
          <p:cNvPr id="8" name="Picture 7" descr="A helicopter flying with a box&#10;&#10;AI-generated content may be incorrect.">
            <a:extLst>
              <a:ext uri="{FF2B5EF4-FFF2-40B4-BE49-F238E27FC236}">
                <a16:creationId xmlns:a16="http://schemas.microsoft.com/office/drawing/2014/main" id="{F6C83E87-9EA4-4985-F0A0-BCC8D52EC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" y="1091292"/>
            <a:ext cx="2808517" cy="4237266"/>
          </a:xfrm>
          <a:prstGeom prst="rect">
            <a:avLst/>
          </a:prstGeom>
        </p:spPr>
      </p:pic>
      <p:pic>
        <p:nvPicPr>
          <p:cNvPr id="9" name="Picture 8" descr="A drawing of a gear&#10;&#10;AI-generated content may be incorrect.">
            <a:extLst>
              <a:ext uri="{FF2B5EF4-FFF2-40B4-BE49-F238E27FC236}">
                <a16:creationId xmlns:a16="http://schemas.microsoft.com/office/drawing/2014/main" id="{33000AF3-6C07-D865-D0D7-5F684F919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4345" y="1077686"/>
            <a:ext cx="3698423" cy="2014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29E6FC-343E-79B6-FEE7-52A6FA28908C}"/>
              </a:ext>
            </a:extLst>
          </p:cNvPr>
          <p:cNvSpPr txBox="1"/>
          <p:nvPr/>
        </p:nvSpPr>
        <p:spPr>
          <a:xfrm>
            <a:off x="2688465" y="3103004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Calibri"/>
                <a:cs typeface="Times New Roman"/>
              </a:rPr>
              <a:t>All Possible Approach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C128A3-DDFC-7C87-4F43-18B48397BCB5}"/>
              </a:ext>
            </a:extLst>
          </p:cNvPr>
          <p:cNvSpPr/>
          <p:nvPr/>
        </p:nvSpPr>
        <p:spPr>
          <a:xfrm>
            <a:off x="2823898" y="4267065"/>
            <a:ext cx="2838001" cy="106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1F1F1F"/>
                </a:solidFill>
                <a:ea typeface="+mn-lt"/>
                <a:cs typeface="+mn-lt"/>
              </a:rPr>
              <a:t>The Drone will never take down, so the delivery will be seamless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546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8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288790" y="55540"/>
            <a:ext cx="3403176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Unique Value Proposition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384040" y="401560"/>
            <a:ext cx="497892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Efficiency Meets Sustainability: First-of-its-kind Integration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485640" y="1159200"/>
            <a:ext cx="4028400" cy="1654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628560" y="1302120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⚡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1168310" y="130071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Zero-Carbon Operations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774610" y="1790790"/>
            <a:ext cx="374256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Aligning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with global sustainability goals while boosting brand value.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4629240" y="1159200"/>
            <a:ext cx="4028400" cy="1654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4772160" y="1318680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5604010" y="130457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No Wage Burden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4905510" y="1788300"/>
            <a:ext cx="3742560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Replaces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ongoing driver 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salaries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Autonomous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operations reduce labor dependency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significantly improve margins.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485640" y="2902680"/>
            <a:ext cx="4028400" cy="1483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628560" y="3045600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1168310" y="304419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Integrated AI Analytics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628560" y="3508870"/>
            <a:ext cx="374256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optimize delivery routes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weather planning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demand forecasting </a:t>
            </a:r>
          </a:p>
        </p:txBody>
      </p:sp>
      <p:sp>
        <p:nvSpPr>
          <p:cNvPr id="211" name="Shape 16"/>
          <p:cNvSpPr/>
          <p:nvPr/>
        </p:nvSpPr>
        <p:spPr>
          <a:xfrm>
            <a:off x="4629240" y="2902680"/>
            <a:ext cx="4028400" cy="1483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4772160" y="3066840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🌦️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5184910" y="306579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Weather Resilience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4772160" y="3511420"/>
            <a:ext cx="374256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Advanced sensors and AI modeling enable safe operations in challenging conditions </a:t>
            </a:r>
          </a:p>
        </p:txBody>
      </p:sp>
      <p:sp>
        <p:nvSpPr>
          <p:cNvPr id="215" name="Shape 20"/>
          <p:cNvSpPr/>
          <p:nvPr/>
        </p:nvSpPr>
        <p:spPr>
          <a:xfrm>
            <a:off x="485640" y="4514630"/>
            <a:ext cx="8171640" cy="63471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485640" y="450828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485640" y="4508280"/>
            <a:ext cx="8171640" cy="672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89280" rIns="136080" bIns="8928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THE RESULT: Faster deliveries, lower costs, competitive advantage—all without environmental compromise.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2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136390" y="-1610"/>
            <a:ext cx="7280839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Business Model: Predictable Revenue, Scalable Growth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149090" y="369810"/>
            <a:ext cx="8842164" cy="2769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Multiple revenue streams creating predictable income while remaining flexible to SME budgets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485640" y="115920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628560" y="121322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Pay-Per-Delivery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685710" y="146259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85710" y="1487990"/>
            <a:ext cx="3742560" cy="417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15-30 BDT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685710" y="1905940"/>
            <a:ext cx="374256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Variable revenue scales with transaction volume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.</a:t>
            </a:r>
            <a:endParaRPr lang="en-US" sz="1600" b="0" u="none" strike="noStrike">
              <a:solidFill>
                <a:srgbClr val="1A1A1A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4629240" y="115920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4829310" y="121322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AI Dashboard Subscription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4772160" y="1462590"/>
            <a:ext cx="374891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4772160" y="1462590"/>
            <a:ext cx="3742560" cy="417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500-2,000 BDT/month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4829310" y="2024564"/>
            <a:ext cx="3742560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Recurring revenue for analytics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.</a:t>
            </a:r>
            <a:endParaRPr lang="en-US" sz="1600" b="0" u="none" strike="noStrike">
              <a:solidFill>
                <a:srgbClr val="1A1A1A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485640" y="270828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628560" y="271150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Strategic Partnerships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28560" y="298028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628560" y="3005680"/>
            <a:ext cx="3742560" cy="417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Revenue Sharing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628560" y="3482027"/>
            <a:ext cx="374256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Co-branded solutions with e-commerce platforms and logistics companies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.</a:t>
            </a:r>
            <a:endParaRPr lang="en-US" sz="1600" b="0" u="none" strike="noStrike">
              <a:solidFill>
                <a:srgbClr val="1A1A1A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4629240" y="270828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39" name="Text 20"/>
          <p:cNvSpPr/>
          <p:nvPr/>
        </p:nvSpPr>
        <p:spPr>
          <a:xfrm>
            <a:off x="4911860" y="2714050"/>
            <a:ext cx="3742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Fleet Leasing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4772160" y="297612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4829310" y="3007870"/>
            <a:ext cx="3742560" cy="417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Equipment-as-a-Service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4772160" y="3465260"/>
            <a:ext cx="374256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Maintenance and support included. Lowers customer capital requirements and ensures recurring revenue.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485640" y="4313880"/>
            <a:ext cx="8171640" cy="6138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485640" y="4313880"/>
            <a:ext cx="8171640" cy="672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89280" rIns="136080" bIns="8928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FLEXIBLE MODEL: Combines variable (pay-per-delivery) and recurring (subscriptions) revenue, ensuring sustainable growth while maintaining affordability for SMEs.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187190" y="55540"/>
            <a:ext cx="4533485" cy="2769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AI Integration: Transforming Data into Profit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428490" y="401560"/>
            <a:ext cx="8329203" cy="2769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Machine learning powers intelligent decision-making across the entire delivery ecosystem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428490" y="1127410"/>
            <a:ext cx="8444690" cy="79095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704168" y="1422640"/>
            <a:ext cx="20518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3509850" y="1187690"/>
            <a:ext cx="1815690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Demand Forecasting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439750" y="1422930"/>
            <a:ext cx="631436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Reducing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stockouts and overstock.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428490" y="1920870"/>
            <a:ext cx="8444690" cy="708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704168" y="2152600"/>
            <a:ext cx="20518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3547950" y="1924000"/>
            <a:ext cx="1742465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Route Optimization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1496900" y="2133840"/>
            <a:ext cx="6452629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Reducing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time while maximizing daily capacity.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428490" y="2631420"/>
            <a:ext cx="8444690" cy="6957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704168" y="2831760"/>
            <a:ext cx="20518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3338400" y="2641260"/>
            <a:ext cx="2151230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Autonomous Operations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1182408" y="2929807"/>
            <a:ext cx="7353089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Maintaining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safety and compliance standards across all deliveries.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428490" y="3291530"/>
            <a:ext cx="8444690" cy="7592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704168" y="3485160"/>
            <a:ext cx="20518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3681300" y="3345460"/>
            <a:ext cx="1466748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Smart Inventory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1909650" y="3562010"/>
            <a:ext cx="584500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Prevents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stockouts and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 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overstock 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scenarios which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improving cash flow.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428490" y="4053240"/>
            <a:ext cx="8444690" cy="835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704168" y="4265920"/>
            <a:ext cx="20518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3166950" y="4056370"/>
            <a:ext cx="2491516" cy="280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Customer Behavior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1179400" y="4386860"/>
            <a:ext cx="7089228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Build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loyalty and competitive differentiation.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Shape 0"/>
          <p:cNvSpPr/>
          <p:nvPr/>
        </p:nvSpPr>
        <p:spPr>
          <a:xfrm>
            <a:off x="57240" y="57240"/>
            <a:ext cx="9029160" cy="90900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57240" y="93816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485640" y="271440"/>
            <a:ext cx="420788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Costing: Strategic Investment for Market Entry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485640" y="641160"/>
            <a:ext cx="5438989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Breakdown of 10M BDT to complete pilot and hit Year 2 revenue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428490" y="1120440"/>
            <a:ext cx="8165290" cy="20942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416250" y="1122630"/>
            <a:ext cx="8171639" cy="24804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2" name="Shape 6"/>
          <p:cNvSpPr/>
          <p:nvPr/>
        </p:nvSpPr>
        <p:spPr>
          <a:xfrm flipV="1">
            <a:off x="485640" y="1370670"/>
            <a:ext cx="8171640" cy="11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491990" y="111713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COMPONENT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2500200" y="1068834"/>
            <a:ext cx="288844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ESTIMATED COST (BDT)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5883410" y="112348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JUSTIFICATION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422140" y="145309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R&amp;D and Prototyping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2291186" y="1450496"/>
            <a:ext cx="222804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3,000,000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4942627" y="1453089"/>
            <a:ext cx="4741924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Finalize design, sensors, LoRa, and 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429384" y="177769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Initial Fleet Acquisition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2291186" y="1777690"/>
            <a:ext cx="222804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4,000,000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4938870" y="1775991"/>
            <a:ext cx="5332921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Build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8–10 VTOL drones incl. components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422140" y="209630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Micro-Hub Setup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2283137" y="2096300"/>
            <a:ext cx="222804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1,000,000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4813838" y="2056053"/>
            <a:ext cx="5104143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Pabna hub: solar, storage, dispatch, security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422140" y="241455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Software Development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2283137" y="2414550"/>
            <a:ext cx="222804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1,500,000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4935909" y="2390402"/>
            <a:ext cx="445215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AI dashboard, routing, API, mobile 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429384" y="272046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Regulatory &amp; Legal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2283137" y="2720460"/>
            <a:ext cx="222804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500,000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4435062" y="2720459"/>
            <a:ext cx="4653382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BVLOS, permits, compliance, legal setup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1" name="Shape 25"/>
          <p:cNvSpPr/>
          <p:nvPr/>
        </p:nvSpPr>
        <p:spPr>
          <a:xfrm>
            <a:off x="420326" y="3159360"/>
            <a:ext cx="8171640" cy="60439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485640" y="3159360"/>
            <a:ext cx="2971080" cy="3625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Times New Roman"/>
                <a:cs typeface="Times New Roman"/>
              </a:rPr>
              <a:t>TOTAL INITIAL</a:t>
            </a:r>
            <a:r>
              <a:rPr lang="en-US" sz="16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Times New Roman"/>
                <a:cs typeface="Times New Roman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Times New Roman"/>
                <a:cs typeface="Times New Roman"/>
              </a:rPr>
              <a:t>ASK</a:t>
            </a:r>
            <a:endParaRPr lang="en-US" sz="1600" b="0" u="none" strike="noStrike">
              <a:solidFill>
                <a:schemeClr val="bg1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2290292" y="3159360"/>
            <a:ext cx="2228040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68040" rIns="136080" bIns="68040" anchor="t">
            <a:spAutoFit/>
          </a:bodyPr>
          <a:lstStyle/>
          <a:p>
            <a:pPr algn="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10,000,000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5686560" y="3159360"/>
            <a:ext cx="2971080" cy="6087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Times New Roman"/>
                <a:cs typeface="Times New Roman"/>
              </a:rPr>
              <a:t>Funds pilot and market entry by Q4 2026</a:t>
            </a:r>
            <a:endParaRPr lang="en-US" sz="1600" b="0" u="none" strike="noStrike">
              <a:solidFill>
                <a:schemeClr val="bg1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5" name="Shape 29"/>
          <p:cNvSpPr/>
          <p:nvPr/>
        </p:nvSpPr>
        <p:spPr>
          <a:xfrm>
            <a:off x="485640" y="4269250"/>
            <a:ext cx="8171640" cy="8280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2141938" y="4330380"/>
            <a:ext cx="487210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Capital Required for Pilot Completion &amp; Market Entry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7" name="Text 31"/>
          <p:cNvSpPr/>
          <p:nvPr/>
        </p:nvSpPr>
        <p:spPr>
          <a:xfrm>
            <a:off x="3640725" y="4555564"/>
            <a:ext cx="139461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10,000,000 BDT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1910544" y="4769800"/>
            <a:ext cx="4852290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Funds prototype, approvals, and Pabna pilot with 50 SMEs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pic>
        <p:nvPicPr>
          <p:cNvPr id="3" name="Picture 2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F71C93BD-63F4-7F53-8F0F-BA97F736D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1" y="66121"/>
            <a:ext cx="9024163" cy="4211044"/>
          </a:xfrm>
          <a:prstGeom prst="rect">
            <a:avLst/>
          </a:prstGeom>
        </p:spPr>
      </p:pic>
      <p:sp>
        <p:nvSpPr>
          <p:cNvPr id="5" name="Text 12">
            <a:extLst>
              <a:ext uri="{FF2B5EF4-FFF2-40B4-BE49-F238E27FC236}">
                <a16:creationId xmlns:a16="http://schemas.microsoft.com/office/drawing/2014/main" id="{5CBC81CE-5B32-B42A-701B-07967EFCD937}"/>
              </a:ext>
            </a:extLst>
          </p:cNvPr>
          <p:cNvSpPr/>
          <p:nvPr/>
        </p:nvSpPr>
        <p:spPr>
          <a:xfrm>
            <a:off x="902021" y="1633563"/>
            <a:ext cx="1503424" cy="1347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Finalize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design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sensors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LoRa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and AI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D581175A-A503-8D0B-A4FF-CC3965B7E59F}"/>
              </a:ext>
            </a:extLst>
          </p:cNvPr>
          <p:cNvSpPr/>
          <p:nvPr/>
        </p:nvSpPr>
        <p:spPr>
          <a:xfrm>
            <a:off x="2502475" y="953833"/>
            <a:ext cx="1232157" cy="1347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Build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8–10 VTOL drones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including components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8F238A1-9F8B-D52B-23CB-4434174760DE}"/>
              </a:ext>
            </a:extLst>
          </p:cNvPr>
          <p:cNvSpPr/>
          <p:nvPr/>
        </p:nvSpPr>
        <p:spPr>
          <a:xfrm>
            <a:off x="4043612" y="809625"/>
            <a:ext cx="1533525" cy="1507958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DA9B9278-C4FE-2CD8-5D3B-D1ECF1BB4989}"/>
              </a:ext>
            </a:extLst>
          </p:cNvPr>
          <p:cNvSpPr/>
          <p:nvPr/>
        </p:nvSpPr>
        <p:spPr>
          <a:xfrm>
            <a:off x="4011733" y="892999"/>
            <a:ext cx="1915774" cy="1347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Pabna hub: 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Solar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Storage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Dispatch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security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C77ED0C3-3013-2D36-A0AE-58985C6F6A7A}"/>
              </a:ext>
            </a:extLst>
          </p:cNvPr>
          <p:cNvSpPr/>
          <p:nvPr/>
        </p:nvSpPr>
        <p:spPr>
          <a:xfrm>
            <a:off x="5577593" y="2139743"/>
            <a:ext cx="2116019" cy="1101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AI dashboard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Routing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API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mobile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CAD9315C-1AEB-70A0-0C30-8820A3E520B7}"/>
              </a:ext>
            </a:extLst>
          </p:cNvPr>
          <p:cNvSpPr/>
          <p:nvPr/>
        </p:nvSpPr>
        <p:spPr>
          <a:xfrm>
            <a:off x="7171822" y="1120440"/>
            <a:ext cx="1533525" cy="1507958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24">
            <a:extLst>
              <a:ext uri="{FF2B5EF4-FFF2-40B4-BE49-F238E27FC236}">
                <a16:creationId xmlns:a16="http://schemas.microsoft.com/office/drawing/2014/main" id="{41CDAC83-68DD-DD31-CA08-D010B4CF061B}"/>
              </a:ext>
            </a:extLst>
          </p:cNvPr>
          <p:cNvSpPr/>
          <p:nvPr/>
        </p:nvSpPr>
        <p:spPr>
          <a:xfrm>
            <a:off x="7172243" y="1306747"/>
            <a:ext cx="1765804" cy="11112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57600" rIns="136080" bIns="576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BVLOS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Permits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Compliance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legal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setup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9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218940" y="131740"/>
            <a:ext cx="2792431" cy="2837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Financial Projections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352290" y="477760"/>
            <a:ext cx="5943935" cy="169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Clear Path to 100 Million BDT Revenue and Market Leadership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52933" y="1734828"/>
            <a:ext cx="6302019" cy="1305474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52932" y="1049027"/>
            <a:ext cx="6310184" cy="679898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3947" y="1734827"/>
            <a:ext cx="6291192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8040" tIns="57600" rIns="68040" bIns="57600" anchor="t">
            <a:spAutoFit/>
          </a:bodyPr>
          <a:lstStyle/>
          <a:p>
            <a:pPr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YEAR</a:t>
            </a:r>
            <a:r>
              <a:rPr lang="en-US" sz="1600" b="1">
                <a:solidFill>
                  <a:srgbClr val="1A1A1A"/>
                </a:solidFill>
                <a:latin typeface="Times New Roman"/>
                <a:cs typeface="Times New Roman"/>
              </a:rPr>
              <a:t> </a:t>
            </a: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    Focus Area        Revenue Target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61097" y="1984666"/>
            <a:ext cx="6293855" cy="369656"/>
          </a:xfrm>
          <a:prstGeom prst="rect">
            <a:avLst/>
          </a:prstGeom>
          <a:solidFill>
            <a:srgbClr val="E8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Year 1 </a:t>
            </a:r>
            <a:r>
              <a:rPr lang="en-US" sz="1600" b="1" err="1">
                <a:solidFill>
                  <a:srgbClr val="000000"/>
                </a:solidFill>
                <a:latin typeface="Times New Roman"/>
                <a:cs typeface="Times New Roman"/>
              </a:rPr>
              <a:t>R&amp;D,Pilot,Permissions</a:t>
            </a: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        0 BDT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97" name="Shape 16"/>
          <p:cNvSpPr/>
          <p:nvPr/>
        </p:nvSpPr>
        <p:spPr>
          <a:xfrm>
            <a:off x="52933" y="2349167"/>
            <a:ext cx="6302019" cy="385984"/>
          </a:xfrm>
          <a:prstGeom prst="rect">
            <a:avLst/>
          </a:prstGeom>
          <a:solidFill>
            <a:srgbClr val="FFE8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69262" y="2357332"/>
            <a:ext cx="6291192" cy="3663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8040" tIns="57600" rIns="68040" bIns="57600" anchor="t">
            <a:spAutoFit/>
          </a:bodyPr>
          <a:lstStyle/>
          <a:p>
            <a:pPr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Year 2</a:t>
            </a: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 </a:t>
            </a:r>
            <a:r>
              <a:rPr lang="en-US" sz="1600" b="1">
                <a:solidFill>
                  <a:srgbClr val="1A1A1A"/>
                </a:solidFill>
                <a:latin typeface="Times New Roman"/>
                <a:cs typeface="Times New Roman"/>
              </a:rPr>
              <a:t>Commercialization, 50 SME Contracts</a:t>
            </a: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 1Million BDT</a:t>
            </a:r>
          </a:p>
          <a:p>
            <a:pPr>
              <a:lnSpc>
                <a:spcPts val="901"/>
              </a:lnSpc>
              <a:tabLst>
                <a:tab pos="0" algn="l"/>
              </a:tabLst>
            </a:pPr>
            <a:endParaRPr lang="en-US" sz="1600" b="1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36605" y="2737800"/>
            <a:ext cx="6310183" cy="298465"/>
          </a:xfrm>
          <a:prstGeom prst="rect">
            <a:avLst/>
          </a:prstGeom>
          <a:solidFill>
            <a:srgbClr val="D6FF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69261" y="2737800"/>
            <a:ext cx="6348342" cy="3663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8040" tIns="57600" rIns="68040" bIns="57600" anchor="t">
            <a:spAutoFit/>
          </a:bodyPr>
          <a:lstStyle/>
          <a:p>
            <a:pPr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Year </a:t>
            </a:r>
            <a:r>
              <a:rPr lang="en-US" sz="1600" b="1">
                <a:solidFill>
                  <a:srgbClr val="1A1A1A"/>
                </a:solidFill>
                <a:latin typeface="Times New Roman"/>
                <a:cs typeface="Times New Roman"/>
              </a:rPr>
              <a:t>3 Scale-up, Multi-District Expansion</a:t>
            </a: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    100Million BDT   </a:t>
            </a:r>
          </a:p>
          <a:p>
            <a:pPr>
              <a:lnSpc>
                <a:spcPts val="901"/>
              </a:lnSpc>
              <a:tabLst>
                <a:tab pos="0" algn="l"/>
              </a:tabLst>
            </a:pP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  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6" name="Shape 25"/>
          <p:cNvSpPr/>
          <p:nvPr/>
        </p:nvSpPr>
        <p:spPr>
          <a:xfrm>
            <a:off x="485640" y="4002120"/>
            <a:ext cx="2647080" cy="10342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845153" y="4119480"/>
            <a:ext cx="1928413" cy="125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Return on Investment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8" name="Text 27"/>
          <p:cNvSpPr/>
          <p:nvPr/>
        </p:nvSpPr>
        <p:spPr>
          <a:xfrm>
            <a:off x="1451088" y="4293000"/>
            <a:ext cx="716543" cy="2436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2.5 YRS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09" name="Text 28"/>
          <p:cNvSpPr/>
          <p:nvPr/>
        </p:nvSpPr>
        <p:spPr>
          <a:xfrm>
            <a:off x="409620" y="4623120"/>
            <a:ext cx="2418480" cy="4007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Projected ROI based on initial investment and revenue growth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0" name="Shape 29"/>
          <p:cNvSpPr/>
          <p:nvPr/>
        </p:nvSpPr>
        <p:spPr>
          <a:xfrm>
            <a:off x="3247920" y="4005360"/>
            <a:ext cx="2647080" cy="99144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1" name="Text 30"/>
          <p:cNvSpPr/>
          <p:nvPr/>
        </p:nvSpPr>
        <p:spPr>
          <a:xfrm>
            <a:off x="3750100" y="4119480"/>
            <a:ext cx="1643079" cy="125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Profit Phase Entry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2" name="Text 31"/>
          <p:cNvSpPr/>
          <p:nvPr/>
        </p:nvSpPr>
        <p:spPr>
          <a:xfrm>
            <a:off x="4190125" y="4293000"/>
            <a:ext cx="763030" cy="2436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Q4 YR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3" name="Text 32"/>
          <p:cNvSpPr/>
          <p:nvPr/>
        </p:nvSpPr>
        <p:spPr>
          <a:xfrm>
            <a:off x="3218110" y="4559620"/>
            <a:ext cx="2719760" cy="272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>
                <a:solidFill>
                  <a:srgbClr val="E8E8E8"/>
                </a:solidFill>
                <a:latin typeface="Times New Roman"/>
                <a:cs typeface="Times New Roman"/>
              </a:rPr>
              <a:t>Revenue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 exceeds operational costs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4" name="Shape 33"/>
          <p:cNvSpPr/>
          <p:nvPr/>
        </p:nvSpPr>
        <p:spPr>
          <a:xfrm>
            <a:off x="6010200" y="4005360"/>
            <a:ext cx="2647080" cy="99144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5" name="Text 34"/>
          <p:cNvSpPr/>
          <p:nvPr/>
        </p:nvSpPr>
        <p:spPr>
          <a:xfrm>
            <a:off x="6547647" y="4119480"/>
            <a:ext cx="1572546" cy="125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Initial Investment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6" name="Text 35"/>
          <p:cNvSpPr/>
          <p:nvPr/>
        </p:nvSpPr>
        <p:spPr>
          <a:xfrm>
            <a:off x="6898705" y="4293000"/>
            <a:ext cx="870431" cy="2436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10M BDT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17" name="Text 36"/>
          <p:cNvSpPr/>
          <p:nvPr/>
        </p:nvSpPr>
        <p:spPr>
          <a:xfrm>
            <a:off x="5984292" y="4623120"/>
            <a:ext cx="2673856" cy="272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Capital required for pilot and market entry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pic>
        <p:nvPicPr>
          <p:cNvPr id="2" name="Picture 1" descr="A graph showing the growth of a business&#10;&#10;AI-generated content may be incorrect.">
            <a:extLst>
              <a:ext uri="{FF2B5EF4-FFF2-40B4-BE49-F238E27FC236}">
                <a16:creationId xmlns:a16="http://schemas.microsoft.com/office/drawing/2014/main" id="{4BEB4B1C-4587-3675-EF6A-B8E845A2B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858" y="1045029"/>
            <a:ext cx="2873829" cy="2808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485640" y="271440"/>
            <a:ext cx="347691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Go-to-Market Strategy: Phased Rollout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485640" y="655560"/>
            <a:ext cx="8114401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Strategic approach targeting high-density SME clusters with proof-of-concept and scalable growth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3" name="Shape 4"/>
          <p:cNvSpPr/>
          <p:nvPr/>
        </p:nvSpPr>
        <p:spPr>
          <a:xfrm>
            <a:off x="485640" y="122076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1468370" y="1315250"/>
            <a:ext cx="1134926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Pilot Launch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585720" y="1566980"/>
            <a:ext cx="384264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Deploy 8-10 drones across 50 SME partners in Pabna </a:t>
            </a:r>
            <a:r>
              <a:rPr lang="en-US" sz="1600" dirty="0">
                <a:solidFill>
                  <a:srgbClr val="1A1A1A"/>
                </a:solidFill>
                <a:latin typeface="Times New Roman"/>
                <a:cs typeface="Times New Roman"/>
              </a:rPr>
              <a:t>district. Validate operations, gather</a:t>
            </a:r>
            <a:r>
              <a:rPr lang="en-US" sz="1600" b="0" u="none" strike="noStrike" dirty="0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data, and build proof-of-concept.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7" name="Shape 8"/>
          <p:cNvSpPr/>
          <p:nvPr/>
        </p:nvSpPr>
        <p:spPr>
          <a:xfrm>
            <a:off x="585720" y="2333050"/>
            <a:ext cx="3842640" cy="47173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363470" y="2301300"/>
            <a:ext cx="3842640" cy="5956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50 SME PARTNERS | PABNA DISTRICT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4562885" y="1217635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5502320" y="1222190"/>
            <a:ext cx="1970091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Strategic Partnerships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4810170" y="1410420"/>
            <a:ext cx="3842640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Align with e-commerce platforms, local retailers, and business associations for distribution, credibility, and co-branded solutions.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3" name="Shape 14"/>
          <p:cNvSpPr/>
          <p:nvPr/>
        </p:nvSpPr>
        <p:spPr>
          <a:xfrm>
            <a:off x="4714920" y="2341590"/>
            <a:ext cx="3842640" cy="47173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4714920" y="2303490"/>
            <a:ext cx="3842640" cy="5956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PARTNERSHIPS WITH KEY STAKEHOLDERS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5" name="Shape 16"/>
          <p:cNvSpPr/>
          <p:nvPr/>
        </p:nvSpPr>
        <p:spPr>
          <a:xfrm>
            <a:off x="485640" y="2890150"/>
            <a:ext cx="4055500" cy="15995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1360420" y="2857640"/>
            <a:ext cx="1582164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Digital Marketing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8" name="Text 19"/>
          <p:cNvSpPr/>
          <p:nvPr/>
        </p:nvSpPr>
        <p:spPr>
          <a:xfrm>
            <a:off x="585720" y="3160170"/>
            <a:ext cx="3842640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Targeted campaigns, case studies, and influencer partnerships within SME networks. Build brand awareness and trust through social proof.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39" name="Shape 20"/>
          <p:cNvSpPr/>
          <p:nvPr/>
        </p:nvSpPr>
        <p:spPr>
          <a:xfrm>
            <a:off x="585720" y="4142140"/>
            <a:ext cx="3842640" cy="33203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0" name="Text 21"/>
          <p:cNvSpPr/>
          <p:nvPr/>
        </p:nvSpPr>
        <p:spPr>
          <a:xfrm>
            <a:off x="484120" y="4148490"/>
            <a:ext cx="3848990" cy="349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2240" tIns="51120" rIns="102240" bIns="5112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CASE STUDIES &amp; SOCIAL PROOF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1" name="Shape 22"/>
          <p:cNvSpPr/>
          <p:nvPr/>
        </p:nvSpPr>
        <p:spPr>
          <a:xfrm>
            <a:off x="4570390" y="2883800"/>
            <a:ext cx="4036450" cy="160593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3" name="Text 24"/>
          <p:cNvSpPr/>
          <p:nvPr/>
        </p:nvSpPr>
        <p:spPr>
          <a:xfrm>
            <a:off x="5502320" y="2936030"/>
            <a:ext cx="1580561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Referral Program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4" name="Text 25"/>
          <p:cNvSpPr/>
          <p:nvPr/>
        </p:nvSpPr>
        <p:spPr>
          <a:xfrm>
            <a:off x="4759370" y="3226220"/>
            <a:ext cx="384264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Incentivize early adopters to drive organic growth and peer adoption. Create network effects and sustainable customer acquisition.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5" name="Shape 26"/>
          <p:cNvSpPr/>
          <p:nvPr/>
        </p:nvSpPr>
        <p:spPr>
          <a:xfrm>
            <a:off x="4689520" y="4074480"/>
            <a:ext cx="3842640" cy="4145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6" name="Text 27"/>
          <p:cNvSpPr/>
          <p:nvPr/>
        </p:nvSpPr>
        <p:spPr>
          <a:xfrm>
            <a:off x="4714920" y="4074480"/>
            <a:ext cx="3842640" cy="349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INCENTIVIZED ORGANIC GROWTH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7" name="Shape 28"/>
          <p:cNvSpPr/>
          <p:nvPr/>
        </p:nvSpPr>
        <p:spPr>
          <a:xfrm>
            <a:off x="485146" y="4503710"/>
            <a:ext cx="8120674" cy="651571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48" name="Text 29"/>
          <p:cNvSpPr/>
          <p:nvPr/>
        </p:nvSpPr>
        <p:spPr>
          <a:xfrm>
            <a:off x="485640" y="4496040"/>
            <a:ext cx="8171640" cy="6640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TIMELINE: Pilot Launch (Q3 2026) → Strategic Partnerships (Q4 2026) → Digital Marketing (Q1 2027) → Referral Program (Ongoing)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485640" y="271440"/>
            <a:ext cx="3805529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Competitive Moat: Data-Driven Advantage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485640" y="655560"/>
            <a:ext cx="4889159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Self-learning data loop creates a defensible market position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628560" y="1169683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1130210" y="1167133"/>
            <a:ext cx="3760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Integrated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485685" y="1408727"/>
            <a:ext cx="8377678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Unlike traditional couriers or standalone analytics platforms, </a:t>
            </a:r>
            <a:r>
              <a:rPr lang="en-US" sz="1600" b="0" u="none" strike="noStrike" err="1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GreenLift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AI combines delivery logistics and AI business intelligence in one unified ecosystem.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625824" y="1978295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🌱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1129647" y="1946836"/>
            <a:ext cx="3760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Sustainability-First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482949" y="2227198"/>
            <a:ext cx="8370158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Green-fuel VTOL drones differentiate us in an increasingly eco-conscious market. Appeals to SMEs seeking carbon-neutral operations and brand enhancement.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628560" y="2806550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🌍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4" name="Text 14"/>
          <p:cNvSpPr/>
          <p:nvPr/>
        </p:nvSpPr>
        <p:spPr>
          <a:xfrm>
            <a:off x="1130210" y="2810350"/>
            <a:ext cx="3760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Local &amp; Inclusive Design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485685" y="3053282"/>
            <a:ext cx="8355119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Designed specifically for Bangladesh's SME ecosystem. Bangla interface, low-tech literacy support, and rural infrastructure compatibility create barriers for global competitors.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625824" y="3547346"/>
            <a:ext cx="275717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8" name="Text 18"/>
          <p:cNvSpPr/>
          <p:nvPr/>
        </p:nvSpPr>
        <p:spPr>
          <a:xfrm>
            <a:off x="1129647" y="3475807"/>
            <a:ext cx="3760560" cy="314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Proprietary AI Algorithms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69" name="Text 19"/>
          <p:cNvSpPr/>
          <p:nvPr/>
        </p:nvSpPr>
        <p:spPr>
          <a:xfrm>
            <a:off x="482950" y="3717542"/>
            <a:ext cx="8513033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Early regulatory alignment and proprietary machine learning models create high barriers to entry. Data improves with every delivery, strengthening competitive advantage.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57015" y="4325939"/>
            <a:ext cx="9031063" cy="819339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57015" y="4216820"/>
            <a:ext cx="9028890" cy="1005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136080" rIns="136080" bIns="13608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DEFENSIBLE POSITION: Every delivery generates data that improves our AI models. Early market entry, regulatory relationships, and local expertise create a self-reinforcing competitive moat that competitors cannot easily replicate.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4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485640" y="271440"/>
            <a:ext cx="4137351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Next Steps: Accelerating to Market Leadership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485640" y="655560"/>
            <a:ext cx="7607852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Clear roadmap for the next 12 months to secure BVLOS clearance and full pilot deployment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479290" y="1283270"/>
            <a:ext cx="1984550" cy="202349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600120" y="128309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600120" y="1283090"/>
            <a:ext cx="1749600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Q1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498520" y="1625510"/>
            <a:ext cx="2498900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Prototype Completion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600120" y="2041200"/>
            <a:ext cx="1749600" cy="1231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Hardware/software finalization, integration testing, and pre-flight validation.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2" name="Shape 9"/>
          <p:cNvSpPr/>
          <p:nvPr/>
        </p:nvSpPr>
        <p:spPr>
          <a:xfrm>
            <a:off x="2556590" y="1283270"/>
            <a:ext cx="1971850" cy="202349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2664720" y="12894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2664720" y="1238640"/>
            <a:ext cx="1749600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Q2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5" name="Text 12"/>
          <p:cNvSpPr/>
          <p:nvPr/>
        </p:nvSpPr>
        <p:spPr>
          <a:xfrm>
            <a:off x="2658370" y="1606460"/>
            <a:ext cx="2073450" cy="5440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Field Testing &amp; Validation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2658370" y="2066600"/>
            <a:ext cx="1914700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Real-world performance testing with regulatory bodies and select partners.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7" name="Shape 14"/>
          <p:cNvSpPr/>
          <p:nvPr/>
        </p:nvSpPr>
        <p:spPr>
          <a:xfrm>
            <a:off x="4621190" y="1283270"/>
            <a:ext cx="1971850" cy="202349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8" name="Shape 15"/>
          <p:cNvSpPr/>
          <p:nvPr/>
        </p:nvSpPr>
        <p:spPr>
          <a:xfrm>
            <a:off x="47293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89" name="Text 16"/>
          <p:cNvSpPr/>
          <p:nvPr/>
        </p:nvSpPr>
        <p:spPr>
          <a:xfrm>
            <a:off x="4729320" y="1391040"/>
            <a:ext cx="1749600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Q3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0" name="Text 17"/>
          <p:cNvSpPr/>
          <p:nvPr/>
        </p:nvSpPr>
        <p:spPr>
          <a:xfrm>
            <a:off x="4729320" y="1771560"/>
            <a:ext cx="1749600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Pilot Launch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1" name="Text 18"/>
          <p:cNvSpPr/>
          <p:nvPr/>
        </p:nvSpPr>
        <p:spPr>
          <a:xfrm>
            <a:off x="4729320" y="2041200"/>
            <a:ext cx="1749600" cy="1231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Full deployment in Pabna district with 50 SME partners and initial revenue generation.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6679440" y="1283270"/>
            <a:ext cx="1978200" cy="202349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6793560" y="14126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6793560" y="1412640"/>
            <a:ext cx="1749600" cy="383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Q4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5" name="Text 22"/>
          <p:cNvSpPr/>
          <p:nvPr/>
        </p:nvSpPr>
        <p:spPr>
          <a:xfrm>
            <a:off x="6711010" y="1762750"/>
            <a:ext cx="2105200" cy="29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5112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Revenue &amp; Expansion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6" name="Text 23"/>
          <p:cNvSpPr/>
          <p:nvPr/>
        </p:nvSpPr>
        <p:spPr>
          <a:xfrm>
            <a:off x="6793560" y="1956190"/>
            <a:ext cx="1749600" cy="1231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Initial revenue generation and planning for multi-district expansion in Year 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7" name="Shape 24"/>
          <p:cNvSpPr/>
          <p:nvPr/>
        </p:nvSpPr>
        <p:spPr>
          <a:xfrm>
            <a:off x="58184" y="3513050"/>
            <a:ext cx="9022540" cy="1174529"/>
          </a:xfrm>
          <a:prstGeom prst="rect">
            <a:avLst/>
          </a:prstGeom>
          <a:solidFill>
            <a:srgbClr val="FF5F1F"/>
          </a:solidFill>
          <a:ln w="27432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8" name="Text 25"/>
          <p:cNvSpPr/>
          <p:nvPr/>
        </p:nvSpPr>
        <p:spPr>
          <a:xfrm>
            <a:off x="4027429" y="3582810"/>
            <a:ext cx="758221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Our Ask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399" name="Text 26"/>
          <p:cNvSpPr/>
          <p:nvPr/>
        </p:nvSpPr>
        <p:spPr>
          <a:xfrm>
            <a:off x="3715583" y="3830360"/>
            <a:ext cx="139461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10,000,000 BDT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0" name="Text 27"/>
          <p:cNvSpPr/>
          <p:nvPr/>
        </p:nvSpPr>
        <p:spPr>
          <a:xfrm>
            <a:off x="603160" y="4077080"/>
            <a:ext cx="788616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effectLst/>
                <a:uFillTx/>
                <a:latin typeface="Times New Roman"/>
                <a:cs typeface="Times New Roman"/>
              </a:rPr>
              <a:t>Capital required to accelerate prototype completion, regulatory approval, and pilot execution. This investment directly funds our path to market leadership across Bangladesh.</a:t>
            </a:r>
          </a:p>
        </p:txBody>
      </p:sp>
      <p:sp>
        <p:nvSpPr>
          <p:cNvPr id="401" name="Shape 28"/>
          <p:cNvSpPr/>
          <p:nvPr/>
        </p:nvSpPr>
        <p:spPr>
          <a:xfrm>
            <a:off x="58184" y="4683550"/>
            <a:ext cx="9036409" cy="457119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2" name="Text 29"/>
          <p:cNvSpPr/>
          <p:nvPr/>
        </p:nvSpPr>
        <p:spPr>
          <a:xfrm>
            <a:off x="-48260" y="4569250"/>
            <a:ext cx="9134165" cy="672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36080" tIns="89280" rIns="136080" bIns="8928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INVESTMENT ALLOCATION: R&amp;D (3M) | Fleet Acquisition (4M) | Micro-Hub Setup (1M) | Software Development (1.5M) | Regulatory &amp; Legal (500K)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7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Shape 0"/>
          <p:cNvSpPr/>
          <p:nvPr/>
        </p:nvSpPr>
        <p:spPr>
          <a:xfrm>
            <a:off x="57240" y="57240"/>
            <a:ext cx="9029160" cy="95832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5" name="Shape 1"/>
          <p:cNvSpPr/>
          <p:nvPr/>
        </p:nvSpPr>
        <p:spPr>
          <a:xfrm>
            <a:off x="57240" y="98748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485640" y="271440"/>
            <a:ext cx="2064668" cy="259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Business Model Canvas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485640" y="655560"/>
            <a:ext cx="6202019" cy="1635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Times New Roman"/>
                <a:cs typeface="Times New Roman"/>
              </a:rPr>
              <a:t>Comprehensive strategic overview of GreenLift AI's sustainable ecosystem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53840" y="1017620"/>
            <a:ext cx="29312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09" name="Shape 5"/>
          <p:cNvSpPr/>
          <p:nvPr/>
        </p:nvSpPr>
        <p:spPr>
          <a:xfrm>
            <a:off x="60190" y="1017620"/>
            <a:ext cx="2924930" cy="25583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0" name="Shape 6"/>
          <p:cNvSpPr/>
          <p:nvPr/>
        </p:nvSpPr>
        <p:spPr>
          <a:xfrm>
            <a:off x="485640" y="12661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485640" y="1030320"/>
            <a:ext cx="249948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Key Partners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2" name="Text 8"/>
          <p:cNvSpPr/>
          <p:nvPr/>
        </p:nvSpPr>
        <p:spPr>
          <a:xfrm>
            <a:off x="571680" y="132336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SME Associations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571680" y="153180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E-commerce Platforms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4" name="Text 10"/>
          <p:cNvSpPr/>
          <p:nvPr/>
        </p:nvSpPr>
        <p:spPr>
          <a:xfrm>
            <a:off x="571680" y="174060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Local Retailers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5" name="Text 11"/>
          <p:cNvSpPr/>
          <p:nvPr/>
        </p:nvSpPr>
        <p:spPr>
          <a:xfrm>
            <a:off x="571680" y="194904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Regulatory Bodies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6" name="Shape 12"/>
          <p:cNvSpPr/>
          <p:nvPr/>
        </p:nvSpPr>
        <p:spPr>
          <a:xfrm>
            <a:off x="60190" y="2299910"/>
            <a:ext cx="292493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7" name="Shape 13"/>
          <p:cNvSpPr/>
          <p:nvPr/>
        </p:nvSpPr>
        <p:spPr>
          <a:xfrm>
            <a:off x="60190" y="2291746"/>
            <a:ext cx="2915858" cy="280322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8" name="Shape 14"/>
          <p:cNvSpPr/>
          <p:nvPr/>
        </p:nvSpPr>
        <p:spPr>
          <a:xfrm>
            <a:off x="3040" y="2535710"/>
            <a:ext cx="2982080" cy="39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19" name="Text 15"/>
          <p:cNvSpPr/>
          <p:nvPr/>
        </p:nvSpPr>
        <p:spPr>
          <a:xfrm>
            <a:off x="428490" y="2299910"/>
            <a:ext cx="292493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Key Activities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0" name="Text 16"/>
          <p:cNvSpPr/>
          <p:nvPr/>
        </p:nvSpPr>
        <p:spPr>
          <a:xfrm>
            <a:off x="571680" y="258624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Drone Operations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1" name="Text 17"/>
          <p:cNvSpPr/>
          <p:nvPr/>
        </p:nvSpPr>
        <p:spPr>
          <a:xfrm>
            <a:off x="571680" y="279504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AI Model Training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2" name="Text 18"/>
          <p:cNvSpPr/>
          <p:nvPr/>
        </p:nvSpPr>
        <p:spPr>
          <a:xfrm>
            <a:off x="571680" y="300348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Software Development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3" name="Text 19"/>
          <p:cNvSpPr/>
          <p:nvPr/>
        </p:nvSpPr>
        <p:spPr>
          <a:xfrm>
            <a:off x="571680" y="321228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Regulatory Compliance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4" name="Shape 20"/>
          <p:cNvSpPr/>
          <p:nvPr/>
        </p:nvSpPr>
        <p:spPr>
          <a:xfrm>
            <a:off x="53840" y="3556440"/>
            <a:ext cx="2931280" cy="170031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5" name="Shape 21"/>
          <p:cNvSpPr/>
          <p:nvPr/>
        </p:nvSpPr>
        <p:spPr>
          <a:xfrm>
            <a:off x="66540" y="3562790"/>
            <a:ext cx="2918580" cy="2367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6" name="Shape 22"/>
          <p:cNvSpPr/>
          <p:nvPr/>
        </p:nvSpPr>
        <p:spPr>
          <a:xfrm flipV="1">
            <a:off x="66540" y="3793220"/>
            <a:ext cx="2918580" cy="3077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7" name="Text 23"/>
          <p:cNvSpPr/>
          <p:nvPr/>
        </p:nvSpPr>
        <p:spPr>
          <a:xfrm>
            <a:off x="485640" y="3556440"/>
            <a:ext cx="249948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Key Resources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8" name="Text 24"/>
          <p:cNvSpPr/>
          <p:nvPr/>
        </p:nvSpPr>
        <p:spPr>
          <a:xfrm>
            <a:off x="571680" y="384948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VTOL Drone Fleet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29" name="Text 25"/>
          <p:cNvSpPr/>
          <p:nvPr/>
        </p:nvSpPr>
        <p:spPr>
          <a:xfrm>
            <a:off x="571680" y="405792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AI Analytics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0" name="Text 26"/>
          <p:cNvSpPr/>
          <p:nvPr/>
        </p:nvSpPr>
        <p:spPr>
          <a:xfrm>
            <a:off x="571680" y="426672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LoRa Network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1" name="Text 27"/>
          <p:cNvSpPr/>
          <p:nvPr/>
        </p:nvSpPr>
        <p:spPr>
          <a:xfrm>
            <a:off x="571680" y="447516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Technical Team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2" name="Shape 28"/>
          <p:cNvSpPr/>
          <p:nvPr/>
        </p:nvSpPr>
        <p:spPr>
          <a:xfrm>
            <a:off x="2982980" y="1011270"/>
            <a:ext cx="3190020" cy="15265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3" name="Text 29"/>
          <p:cNvSpPr/>
          <p:nvPr/>
        </p:nvSpPr>
        <p:spPr>
          <a:xfrm>
            <a:off x="3157560" y="1116360"/>
            <a:ext cx="2828160" cy="2033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Value Propositions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4" name="Text 30"/>
          <p:cNvSpPr/>
          <p:nvPr/>
        </p:nvSpPr>
        <p:spPr>
          <a:xfrm>
            <a:off x="3017860" y="1393300"/>
            <a:ext cx="2828160" cy="229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✓ Zero-Carbon Delivery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5" name="Text 31"/>
          <p:cNvSpPr/>
          <p:nvPr/>
        </p:nvSpPr>
        <p:spPr>
          <a:xfrm>
            <a:off x="3017860" y="1627140"/>
            <a:ext cx="2828160" cy="229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✓ Real-Time AI Insights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6" name="Text 32"/>
          <p:cNvSpPr/>
          <p:nvPr/>
        </p:nvSpPr>
        <p:spPr>
          <a:xfrm>
            <a:off x="3017860" y="1816890"/>
            <a:ext cx="3202810" cy="229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✓ Cost Reduction (No Wage Burden)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7" name="Text 33"/>
          <p:cNvSpPr/>
          <p:nvPr/>
        </p:nvSpPr>
        <p:spPr>
          <a:xfrm>
            <a:off x="3017860" y="2044380"/>
            <a:ext cx="2828160" cy="229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✓ Weather Resilience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8" name="Text 34"/>
          <p:cNvSpPr/>
          <p:nvPr/>
        </p:nvSpPr>
        <p:spPr>
          <a:xfrm>
            <a:off x="3017860" y="2271870"/>
            <a:ext cx="2828160" cy="229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✓ Integrated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39" name="Shape 35"/>
          <p:cNvSpPr/>
          <p:nvPr/>
        </p:nvSpPr>
        <p:spPr>
          <a:xfrm>
            <a:off x="2982980" y="2546540"/>
            <a:ext cx="3190020" cy="1287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0" name="Shape 36"/>
          <p:cNvSpPr/>
          <p:nvPr/>
        </p:nvSpPr>
        <p:spPr>
          <a:xfrm>
            <a:off x="2982980" y="2546540"/>
            <a:ext cx="3177320" cy="25583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1" name="Shape 37"/>
          <p:cNvSpPr/>
          <p:nvPr/>
        </p:nvSpPr>
        <p:spPr>
          <a:xfrm>
            <a:off x="2989330" y="2801390"/>
            <a:ext cx="3183670" cy="2003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2" name="Text 38"/>
          <p:cNvSpPr/>
          <p:nvPr/>
        </p:nvSpPr>
        <p:spPr>
          <a:xfrm>
            <a:off x="3071880" y="2559240"/>
            <a:ext cx="299952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Customer Relationships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3" name="Text 39"/>
          <p:cNvSpPr/>
          <p:nvPr/>
        </p:nvSpPr>
        <p:spPr>
          <a:xfrm>
            <a:off x="3157560" y="2852280"/>
            <a:ext cx="282816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Dedicated Account Management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4" name="Text 40"/>
          <p:cNvSpPr/>
          <p:nvPr/>
        </p:nvSpPr>
        <p:spPr>
          <a:xfrm>
            <a:off x="3157560" y="3060720"/>
            <a:ext cx="282816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Automated Support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5" name="Text 41"/>
          <p:cNvSpPr/>
          <p:nvPr/>
        </p:nvSpPr>
        <p:spPr>
          <a:xfrm>
            <a:off x="3157560" y="3269160"/>
            <a:ext cx="282816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Community Building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6" name="Text 42"/>
          <p:cNvSpPr/>
          <p:nvPr/>
        </p:nvSpPr>
        <p:spPr>
          <a:xfrm>
            <a:off x="3157560" y="3477960"/>
            <a:ext cx="282816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Training &amp; Onboarding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7" name="Shape 43"/>
          <p:cNvSpPr/>
          <p:nvPr/>
        </p:nvSpPr>
        <p:spPr>
          <a:xfrm>
            <a:off x="2989330" y="3834820"/>
            <a:ext cx="3170970" cy="143069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8" name="Shape 44"/>
          <p:cNvSpPr/>
          <p:nvPr/>
        </p:nvSpPr>
        <p:spPr>
          <a:xfrm>
            <a:off x="3014730" y="3834820"/>
            <a:ext cx="3145570" cy="2240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49" name="Shape 45"/>
          <p:cNvSpPr/>
          <p:nvPr/>
        </p:nvSpPr>
        <p:spPr>
          <a:xfrm>
            <a:off x="3014730" y="4019820"/>
            <a:ext cx="3164620" cy="39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0" name="Text 46"/>
          <p:cNvSpPr/>
          <p:nvPr/>
        </p:nvSpPr>
        <p:spPr>
          <a:xfrm>
            <a:off x="3071880" y="3822120"/>
            <a:ext cx="299952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Customer Segments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1" name="Text 47"/>
          <p:cNvSpPr/>
          <p:nvPr/>
        </p:nvSpPr>
        <p:spPr>
          <a:xfrm>
            <a:off x="3157560" y="4038960"/>
            <a:ext cx="2828160" cy="1231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SMEs in Bangladesh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e-commerce </a:t>
            </a: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retailers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agricultural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suppliers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>
                <a:solidFill>
                  <a:srgbClr val="1A1A1A"/>
                </a:solidFill>
                <a:latin typeface="Times New Roman"/>
                <a:cs typeface="Times New Roman"/>
              </a:rPr>
              <a:t>Pharmacies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914400"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and food distributors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2" name="Shape 48"/>
          <p:cNvSpPr/>
          <p:nvPr/>
        </p:nvSpPr>
        <p:spPr>
          <a:xfrm>
            <a:off x="6170500" y="1017620"/>
            <a:ext cx="2924930" cy="125581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3" name="Shape 49"/>
          <p:cNvSpPr/>
          <p:nvPr/>
        </p:nvSpPr>
        <p:spPr>
          <a:xfrm>
            <a:off x="6170500" y="1017620"/>
            <a:ext cx="2918580" cy="25583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4" name="Shape 50"/>
          <p:cNvSpPr/>
          <p:nvPr/>
        </p:nvSpPr>
        <p:spPr>
          <a:xfrm flipV="1">
            <a:off x="6176850" y="1279800"/>
            <a:ext cx="2918580" cy="3077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5" name="Text 51"/>
          <p:cNvSpPr/>
          <p:nvPr/>
        </p:nvSpPr>
        <p:spPr>
          <a:xfrm>
            <a:off x="6157800" y="1030320"/>
            <a:ext cx="249948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Channels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6" name="Text 52"/>
          <p:cNvSpPr/>
          <p:nvPr/>
        </p:nvSpPr>
        <p:spPr>
          <a:xfrm>
            <a:off x="6243480" y="132336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Direct Sales Team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7" name="Text 53"/>
          <p:cNvSpPr/>
          <p:nvPr/>
        </p:nvSpPr>
        <p:spPr>
          <a:xfrm>
            <a:off x="6243480" y="153180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Strategic Partnerships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8" name="Text 54"/>
          <p:cNvSpPr/>
          <p:nvPr/>
        </p:nvSpPr>
        <p:spPr>
          <a:xfrm>
            <a:off x="6243480" y="174060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Online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59" name="Text 55"/>
          <p:cNvSpPr/>
          <p:nvPr/>
        </p:nvSpPr>
        <p:spPr>
          <a:xfrm>
            <a:off x="6243480" y="194904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Referral Program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0" name="Shape 56"/>
          <p:cNvSpPr/>
          <p:nvPr/>
        </p:nvSpPr>
        <p:spPr>
          <a:xfrm>
            <a:off x="6170500" y="2280860"/>
            <a:ext cx="2918580" cy="128121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1" name="Shape 57"/>
          <p:cNvSpPr/>
          <p:nvPr/>
        </p:nvSpPr>
        <p:spPr>
          <a:xfrm>
            <a:off x="6170500" y="2281220"/>
            <a:ext cx="2918580" cy="25583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2" name="Shape 58"/>
          <p:cNvSpPr/>
          <p:nvPr/>
        </p:nvSpPr>
        <p:spPr>
          <a:xfrm flipV="1">
            <a:off x="6157800" y="2530700"/>
            <a:ext cx="2924930" cy="4347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3" name="Text 59"/>
          <p:cNvSpPr/>
          <p:nvPr/>
        </p:nvSpPr>
        <p:spPr>
          <a:xfrm>
            <a:off x="6157800" y="2293920"/>
            <a:ext cx="249948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Revenue Streams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4" name="Text 60"/>
          <p:cNvSpPr/>
          <p:nvPr/>
        </p:nvSpPr>
        <p:spPr>
          <a:xfrm>
            <a:off x="6230780" y="2587810"/>
            <a:ext cx="28488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Pay-Per-Delivery (15-30 BDT)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5" name="Text 61"/>
          <p:cNvSpPr/>
          <p:nvPr/>
        </p:nvSpPr>
        <p:spPr>
          <a:xfrm>
            <a:off x="6230780" y="2802600"/>
            <a:ext cx="2848820" cy="35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Dashboard Subscription (500-2,000 BDT/month)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6" name="Text 62"/>
          <p:cNvSpPr/>
          <p:nvPr/>
        </p:nvSpPr>
        <p:spPr>
          <a:xfrm>
            <a:off x="6230780" y="3093950"/>
            <a:ext cx="26456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Strategic Partnerships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7" name="Text 63"/>
          <p:cNvSpPr/>
          <p:nvPr/>
        </p:nvSpPr>
        <p:spPr>
          <a:xfrm>
            <a:off x="6243480" y="328334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Fleet Leasing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8" name="Shape 64"/>
          <p:cNvSpPr/>
          <p:nvPr/>
        </p:nvSpPr>
        <p:spPr>
          <a:xfrm>
            <a:off x="6176850" y="3564000"/>
            <a:ext cx="2905880" cy="169321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69" name="Shape 65"/>
          <p:cNvSpPr/>
          <p:nvPr/>
        </p:nvSpPr>
        <p:spPr>
          <a:xfrm>
            <a:off x="6157800" y="3553850"/>
            <a:ext cx="2918580" cy="24313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0" name="Shape 66"/>
          <p:cNvSpPr/>
          <p:nvPr/>
        </p:nvSpPr>
        <p:spPr>
          <a:xfrm>
            <a:off x="6170500" y="3789650"/>
            <a:ext cx="2905880" cy="3273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1" name="Text 67"/>
          <p:cNvSpPr/>
          <p:nvPr/>
        </p:nvSpPr>
        <p:spPr>
          <a:xfrm>
            <a:off x="6157800" y="3585600"/>
            <a:ext cx="2499480" cy="250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Cost Structure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2" name="Text 68"/>
          <p:cNvSpPr/>
          <p:nvPr/>
        </p:nvSpPr>
        <p:spPr>
          <a:xfrm>
            <a:off x="6243480" y="388548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R&amp;D &amp; Development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3" name="Text 69"/>
          <p:cNvSpPr/>
          <p:nvPr/>
        </p:nvSpPr>
        <p:spPr>
          <a:xfrm>
            <a:off x="6243480" y="409428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Fleet Maintenance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4" name="Text 70"/>
          <p:cNvSpPr/>
          <p:nvPr/>
        </p:nvSpPr>
        <p:spPr>
          <a:xfrm>
            <a:off x="6243480" y="430272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Software Licensing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5" name="Text 71"/>
          <p:cNvSpPr/>
          <p:nvPr/>
        </p:nvSpPr>
        <p:spPr>
          <a:xfrm>
            <a:off x="6243480" y="451152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Hub Operations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6" name="Text 72"/>
          <p:cNvSpPr/>
          <p:nvPr/>
        </p:nvSpPr>
        <p:spPr>
          <a:xfrm>
            <a:off x="6243480" y="4719960"/>
            <a:ext cx="2328120" cy="230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•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 Regulatory Fees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E51B103-C469-048F-F4F6-DB5D861588D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63" y="0"/>
            <a:ext cx="9143280" cy="53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DA3392-ECB5-CEFD-DF02-FCEA790A9284}"/>
              </a:ext>
            </a:extLst>
          </p:cNvPr>
          <p:cNvSpPr/>
          <p:nvPr/>
        </p:nvSpPr>
        <p:spPr>
          <a:xfrm>
            <a:off x="416423" y="4212365"/>
            <a:ext cx="8311161" cy="1445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478" name="Shape 0"/>
          <p:cNvSpPr/>
          <p:nvPr/>
        </p:nvSpPr>
        <p:spPr>
          <a:xfrm>
            <a:off x="57240" y="57240"/>
            <a:ext cx="9029160" cy="157824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79" name="Shape 1"/>
          <p:cNvSpPr/>
          <p:nvPr/>
        </p:nvSpPr>
        <p:spPr>
          <a:xfrm>
            <a:off x="57240" y="160776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3016165" y="276358"/>
            <a:ext cx="2418355" cy="551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43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Thank You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2287415" y="1132949"/>
            <a:ext cx="384410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dirty="0">
                <a:solidFill>
                  <a:srgbClr val="FF5F1F"/>
                </a:solidFill>
                <a:latin typeface="Calibri"/>
                <a:ea typeface="+mn-lt"/>
                <a:cs typeface="Calibri"/>
              </a:rPr>
              <a:t>Deliver</a:t>
            </a:r>
            <a:r>
              <a:rPr lang="en-US" sz="2000" b="1" dirty="0">
                <a:solidFill>
                  <a:srgbClr val="FF5F1F"/>
                </a:solidFill>
                <a:ea typeface="+mn-lt"/>
                <a:cs typeface="+mn-lt"/>
              </a:rPr>
              <a:t> smarter Grow cleaner</a:t>
            </a:r>
            <a:endParaRPr lang="en-US" sz="2000" b="1" dirty="0">
              <a:solidFill>
                <a:srgbClr val="FF5F1F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440992" y="1778875"/>
            <a:ext cx="4553280" cy="309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10224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</a:rPr>
              <a:t>Get in Touch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3" name="Text 5"/>
          <p:cNvSpPr/>
          <p:nvPr/>
        </p:nvSpPr>
        <p:spPr>
          <a:xfrm>
            <a:off x="657360" y="2169436"/>
            <a:ext cx="525785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Email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657360" y="2399843"/>
            <a:ext cx="2459006" cy="1635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</a:rPr>
              <a:t>armanislam527@gmail.com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657360" y="2689406"/>
            <a:ext cx="1776925" cy="1393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Phone</a:t>
            </a:r>
            <a:r>
              <a:rPr lang="en-US" sz="1600" b="1" dirty="0">
                <a:solidFill>
                  <a:srgbClr val="FF5F1F"/>
                </a:solidFill>
                <a:latin typeface="Times New Roman"/>
                <a:cs typeface="Times New Roman"/>
              </a:rPr>
              <a:t> &amp; </a:t>
            </a:r>
            <a:r>
              <a:rPr lang="en-US" sz="1600" b="1" err="1">
                <a:solidFill>
                  <a:srgbClr val="FF5F1F"/>
                </a:solidFill>
                <a:latin typeface="Times New Roman"/>
                <a:cs typeface="Times New Roman"/>
              </a:rPr>
              <a:t>Wha</a:t>
            </a:r>
            <a:r>
              <a:rPr lang="en-US" sz="1600" b="1" err="1">
                <a:solidFill>
                  <a:srgbClr val="FF5F1F"/>
                </a:solidFill>
                <a:latin typeface="Times New Roman"/>
                <a:ea typeface="+mn-lt"/>
                <a:cs typeface="+mn-lt"/>
              </a:rPr>
              <a:t>ts</a:t>
            </a:r>
            <a:r>
              <a:rPr lang="en-US" sz="1600" b="1" err="1">
                <a:solidFill>
                  <a:srgbClr val="FF5F1F"/>
                </a:solidFill>
                <a:latin typeface="Times New Roman"/>
                <a:ea typeface="+mn-lt"/>
                <a:cs typeface="Times New Roman"/>
              </a:rPr>
              <a:t>app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657360" y="2930875"/>
            <a:ext cx="1457130" cy="167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Times New Roman"/>
                <a:cs typeface="Times New Roman"/>
              </a:rPr>
              <a:t>+8801521751005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7" name="Text 9"/>
          <p:cNvSpPr/>
          <p:nvPr/>
        </p:nvSpPr>
        <p:spPr>
          <a:xfrm>
            <a:off x="657360" y="3234355"/>
            <a:ext cx="777457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Portfolio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8" name="Text 10"/>
          <p:cNvSpPr/>
          <p:nvPr/>
        </p:nvSpPr>
        <p:spPr>
          <a:xfrm>
            <a:off x="657360" y="3484353"/>
            <a:ext cx="2067746" cy="1635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  <a:hlinkClick r:id="rId4"/>
              </a:rPr>
              <a:t>cv-of-arman.netlify.app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89" name="Text 11"/>
          <p:cNvSpPr/>
          <p:nvPr/>
        </p:nvSpPr>
        <p:spPr>
          <a:xfrm>
            <a:off x="657360" y="3806052"/>
            <a:ext cx="674865" cy="134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GitHub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90" name="Text 12"/>
          <p:cNvSpPr/>
          <p:nvPr/>
        </p:nvSpPr>
        <p:spPr>
          <a:xfrm>
            <a:off x="657360" y="4047120"/>
            <a:ext cx="1404231" cy="1635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47AB"/>
                </a:solidFill>
                <a:effectLst/>
                <a:uFillTx/>
                <a:latin typeface="Times New Roman"/>
                <a:cs typeface="Times New Roman"/>
                <a:hlinkClick r:id="rId5"/>
              </a:rPr>
              <a:t>Armanislam527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3207569" y="1642348"/>
            <a:ext cx="3188880" cy="2569320"/>
          </a:xfrm>
          <a:prstGeom prst="rect">
            <a:avLst/>
          </a:prstGeom>
          <a:solidFill>
            <a:srgbClr val="1A1A1A"/>
          </a:solidFill>
          <a:ln w="27432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92" name="Text 14"/>
          <p:cNvSpPr/>
          <p:nvPr/>
        </p:nvSpPr>
        <p:spPr>
          <a:xfrm>
            <a:off x="3689710" y="1775380"/>
            <a:ext cx="1761701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Scan to Learn More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94" name="Text 15"/>
          <p:cNvSpPr/>
          <p:nvPr/>
        </p:nvSpPr>
        <p:spPr>
          <a:xfrm>
            <a:off x="3117200" y="3804760"/>
            <a:ext cx="2753280" cy="1682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199"/>
              </a:lnSpc>
              <a:tabLst>
                <a:tab pos="0" algn="l"/>
              </a:tabLst>
            </a:pPr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Project Portfolio</a:t>
            </a:r>
            <a:endParaRPr lang="en-US"/>
          </a:p>
        </p:txBody>
      </p:sp>
      <p:sp>
        <p:nvSpPr>
          <p:cNvPr id="495" name="Shape 16"/>
          <p:cNvSpPr/>
          <p:nvPr/>
        </p:nvSpPr>
        <p:spPr>
          <a:xfrm>
            <a:off x="20955" y="4759130"/>
            <a:ext cx="9101730" cy="602339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96" name="Shape 17"/>
          <p:cNvSpPr/>
          <p:nvPr/>
        </p:nvSpPr>
        <p:spPr>
          <a:xfrm>
            <a:off x="2811" y="477913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497" name="Text 18"/>
          <p:cNvSpPr/>
          <p:nvPr/>
        </p:nvSpPr>
        <p:spPr>
          <a:xfrm>
            <a:off x="-401371" y="4796245"/>
            <a:ext cx="6419813" cy="6342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510120" tIns="70200" rIns="510120" bIns="70200" anchor="t">
            <a:spAutoFit/>
          </a:bodyPr>
          <a:lstStyle/>
          <a:p>
            <a:pPr algn="ctr" defTabSz="914400"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cs typeface="Times New Roman"/>
              </a:rPr>
              <a:t>TEAM PHANTOM | PABNA UNIVERSITY OF SCIENCE AND TECHNOLOGY | GREENLIFT 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C208353-B2B8-0C89-89E4-5C3921563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640" y="1998149"/>
            <a:ext cx="1670668" cy="1658334"/>
          </a:xfrm>
          <a:prstGeom prst="rect">
            <a:avLst/>
          </a:prstGeom>
        </p:spPr>
      </p:pic>
      <p:sp>
        <p:nvSpPr>
          <p:cNvPr id="8" name="Text 9">
            <a:extLst>
              <a:ext uri="{FF2B5EF4-FFF2-40B4-BE49-F238E27FC236}">
                <a16:creationId xmlns:a16="http://schemas.microsoft.com/office/drawing/2014/main" id="{4CACE87B-643D-7652-07DC-C3BED185F002}"/>
              </a:ext>
            </a:extLst>
          </p:cNvPr>
          <p:cNvSpPr/>
          <p:nvPr/>
        </p:nvSpPr>
        <p:spPr>
          <a:xfrm>
            <a:off x="659126" y="4284334"/>
            <a:ext cx="397201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rgbClr val="FF5F1F"/>
                </a:solidFill>
                <a:latin typeface="Times New Roman"/>
                <a:cs typeface="Times New Roman"/>
              </a:rPr>
              <a:t>LinkedIn</a:t>
            </a:r>
            <a:r>
              <a:rPr lang="en-US" sz="1600" b="1" u="none" strike="noStrike" dirty="0">
                <a:solidFill>
                  <a:srgbClr val="FF5F1F"/>
                </a:solidFill>
                <a:effectLst/>
                <a:uFillTx/>
                <a:latin typeface="Times New Roman"/>
                <a:cs typeface="Times New Roman"/>
              </a:rPr>
              <a:t>: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  <a:p>
            <a:pPr defTabSz="914400">
              <a:tabLst>
                <a:tab pos="0" algn="l"/>
              </a:tabLst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armanislam527</a:t>
            </a:r>
            <a:endParaRPr lang="en-US" sz="1600" b="1" u="none" strike="noStrike" dirty="0">
              <a:solidFill>
                <a:schemeClr val="accent1">
                  <a:lumMod val="76000"/>
                </a:schemeClr>
              </a:solidFill>
              <a:effectLst/>
              <a:uFillTx/>
              <a:latin typeface="Times New Roman"/>
              <a:cs typeface="Times New Roman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EE6B13-6D48-491D-AEFE-EF48C012E091}"/>
              </a:ext>
            </a:extLst>
          </p:cNvPr>
          <p:cNvSpPr/>
          <p:nvPr/>
        </p:nvSpPr>
        <p:spPr>
          <a:xfrm>
            <a:off x="5748291" y="1617059"/>
            <a:ext cx="3359995" cy="3760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CE09E898-24CC-5B13-5EE2-2F87E328D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6415" y="1619250"/>
            <a:ext cx="1905000" cy="1905000"/>
          </a:xfrm>
          <a:prstGeom prst="rect">
            <a:avLst/>
          </a:prstGeom>
        </p:spPr>
      </p:pic>
      <p:pic>
        <p:nvPicPr>
          <p:cNvPr id="6" name="Picture 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4441AA0-64FE-06E0-4B31-577FB8675B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6414" y="3469105"/>
            <a:ext cx="1905000" cy="190500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3F086431-4749-6530-D129-59AFB818DD3F}"/>
              </a:ext>
            </a:extLst>
          </p:cNvPr>
          <p:cNvSpPr/>
          <p:nvPr/>
        </p:nvSpPr>
        <p:spPr>
          <a:xfrm>
            <a:off x="5748221" y="3445086"/>
            <a:ext cx="1430841" cy="1682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600" b="1">
                <a:latin typeface="Times New Roman"/>
                <a:cs typeface="Times New Roman"/>
              </a:rPr>
              <a:t>Relevant Work&gt;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0" name="Picture 9" descr="A logo of a drone&#10;&#10;AI-generated content may be incorrect.">
            <a:extLst>
              <a:ext uri="{FF2B5EF4-FFF2-40B4-BE49-F238E27FC236}">
                <a16:creationId xmlns:a16="http://schemas.microsoft.com/office/drawing/2014/main" id="{D797A3FC-8C71-C4C6-1CDD-37C2D29B36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57674" y="-73742"/>
            <a:ext cx="3198556" cy="180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17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revision>348</cp:revision>
  <dcterms:created xsi:type="dcterms:W3CDTF">2025-12-03T01:23:38Z</dcterms:created>
  <dcterms:modified xsi:type="dcterms:W3CDTF">2025-12-29T11:22:49Z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