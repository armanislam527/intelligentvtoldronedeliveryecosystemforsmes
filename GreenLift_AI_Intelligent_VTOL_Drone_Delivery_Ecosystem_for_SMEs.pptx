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13.png" ContentType="image/png"/>
  <Override PartName="/ppt/media/image18.png" ContentType="image/png"/>
  <Override PartName="/ppt/media/image12.png" ContentType="image/png"/>
  <Override PartName="/ppt/media/image4.png" ContentType="image/png"/>
  <Override PartName="/ppt/media/image19.png" ContentType="image/png"/>
  <Override PartName="/ppt/media/image14.png" ContentType="image/png"/>
  <Override PartName="/ppt/media/image5.png" ContentType="image/png"/>
  <Override PartName="/ppt/media/image15.png" ContentType="image/png"/>
  <Override PartName="/ppt/media/image17.png" ContentType="image/png"/>
  <Override PartName="/ppt/media/image9.png" ContentType="image/png"/>
  <Override PartName="/ppt/media/image6.png" ContentType="image/png"/>
  <Override PartName="/ppt/media/image1.png" ContentType="image/png"/>
  <Override PartName="/ppt/media/image10.png" ContentType="image/png"/>
  <Override PartName="/ppt/media/image16.png" ContentType="image/png"/>
  <Override PartName="/ppt/media/image3.png" ContentType="image/png"/>
  <Override PartName="/ppt/media/image2.png" ContentType="image/png"/>
  <Override PartName="/ppt/media/image11.png" ContentType="image/png"/>
  <Override PartName="/ppt/media/image7.png" ContentType="image/png"/>
  <Override PartName="/ppt/media/image8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12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ve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the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slid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ck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tes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130BA61-3A63-4B94-987A-812D73553D09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C75166-7BFF-42E4-B2D3-FA17B214F5C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2FE6AF6-2F9B-4B70-A626-5042E7D84D8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11981BF-AD72-4F8B-B558-7D2E127791D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E2EE384-93EA-452B-AD1C-1B0C38709B3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0F4160-1DFB-43F8-9E31-268ACA975BA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AFF189D-B017-4ABF-B38A-2B1F78B3EFE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06CE68-1A47-4BF5-A1E9-F3BCE489B09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39AB819-052D-4D76-B7F1-BC9104596C7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1B43F5-EC6E-4E0C-B776-951D997DB80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86FC0AF-E7E8-4E15-9FF0-3F4C6C4C872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14C77F-DCB3-4614-B4F4-3224FE999D8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E260959-4FBA-41B6-90CA-4C905C66921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Shape 0"/>
          <p:cNvSpPr/>
          <p:nvPr/>
        </p:nvSpPr>
        <p:spPr>
          <a:xfrm>
            <a:off x="0" y="0"/>
            <a:ext cx="3485880" cy="5143320"/>
          </a:xfrm>
          <a:prstGeom prst="rect">
            <a:avLst/>
          </a:prstGeom>
          <a:solidFill>
            <a:srgbClr val="1a2e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" name="Image 1" descr="preencoded.png"/>
          <p:cNvPicPr/>
          <p:nvPr/>
        </p:nvPicPr>
        <p:blipFill>
          <a:blip r:embed="rId2"/>
          <a:stretch/>
        </p:blipFill>
        <p:spPr>
          <a:xfrm>
            <a:off x="142920" y="228600"/>
            <a:ext cx="749880" cy="49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Text 1"/>
          <p:cNvSpPr/>
          <p:nvPr/>
        </p:nvSpPr>
        <p:spPr>
          <a:xfrm>
            <a:off x="1035720" y="303480"/>
            <a:ext cx="154980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81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GreenLift AI</a:t>
            </a:r>
            <a:endParaRPr b="0" lang="en-US" sz="18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" name="Image 2" descr="preencoded.png"/>
          <p:cNvPicPr/>
          <p:nvPr/>
        </p:nvPicPr>
        <p:blipFill>
          <a:blip r:embed="rId3"/>
          <a:stretch/>
        </p:blipFill>
        <p:spPr>
          <a:xfrm>
            <a:off x="385920" y="900000"/>
            <a:ext cx="2714400" cy="2571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" name="Image 3" descr="preencoded.png"/>
          <p:cNvPicPr/>
          <p:nvPr/>
        </p:nvPicPr>
        <p:blipFill>
          <a:blip r:embed="rId4"/>
          <a:stretch/>
        </p:blipFill>
        <p:spPr>
          <a:xfrm>
            <a:off x="1812600" y="3446280"/>
            <a:ext cx="1856880" cy="185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Image 4" descr="preencoded.png"/>
          <p:cNvPicPr/>
          <p:nvPr/>
        </p:nvPicPr>
        <p:blipFill>
          <a:blip r:embed="rId5"/>
          <a:stretch/>
        </p:blipFill>
        <p:spPr>
          <a:xfrm>
            <a:off x="45000" y="3525840"/>
            <a:ext cx="1665000" cy="1639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Image 5" descr="preencoded.png"/>
          <p:cNvPicPr/>
          <p:nvPr/>
        </p:nvPicPr>
        <p:blipFill>
          <a:blip r:embed="rId6"/>
          <a:stretch/>
        </p:blipFill>
        <p:spPr>
          <a:xfrm>
            <a:off x="8560440" y="285840"/>
            <a:ext cx="297360" cy="35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 2"/>
          <p:cNvSpPr/>
          <p:nvPr/>
        </p:nvSpPr>
        <p:spPr>
          <a:xfrm>
            <a:off x="3914640" y="518760"/>
            <a:ext cx="480024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000"/>
              </a:lnSpc>
              <a:tabLst>
                <a:tab algn="l" pos="0"/>
              </a:tabLst>
            </a:pPr>
            <a:r>
              <a:rPr b="1" lang="en-US" sz="32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GreenLift AI: Intelligent VTOL Drone Delivery Ecosystem for SMEs</a:t>
            </a:r>
            <a:endParaRPr b="0" lang="en-US" sz="32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3"/>
          <p:cNvSpPr/>
          <p:nvPr/>
        </p:nvSpPr>
        <p:spPr>
          <a:xfrm>
            <a:off x="3914640" y="2863080"/>
            <a:ext cx="4800240" cy="62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Transforming Last-Mile Logistics with Sustainable AI in Bangladesh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4"/>
          <p:cNvSpPr/>
          <p:nvPr/>
        </p:nvSpPr>
        <p:spPr>
          <a:xfrm>
            <a:off x="3914640" y="3859560"/>
            <a:ext cx="48002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701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Team:</a:t>
            </a:r>
            <a:r>
              <a:rPr b="0" lang="en-US" sz="105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 Team Phantom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5"/>
          <p:cNvSpPr/>
          <p:nvPr/>
        </p:nvSpPr>
        <p:spPr>
          <a:xfrm>
            <a:off x="3914640" y="4225680"/>
            <a:ext cx="248508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701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Email : armanislam527@gmail.com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6"/>
          <p:cNvSpPr/>
          <p:nvPr/>
        </p:nvSpPr>
        <p:spPr>
          <a:xfrm>
            <a:off x="3914640" y="4573800"/>
            <a:ext cx="48002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701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Website:</a:t>
            </a:r>
            <a:r>
              <a:rPr b="0" lang="en-US" sz="105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 [Please follow the QR code]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Shape 0"/>
          <p:cNvSpPr/>
          <p:nvPr/>
        </p:nvSpPr>
        <p:spPr>
          <a:xfrm>
            <a:off x="428760" y="285840"/>
            <a:ext cx="8286480" cy="98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"/>
          <p:cNvSpPr/>
          <p:nvPr/>
        </p:nvSpPr>
        <p:spPr>
          <a:xfrm>
            <a:off x="428760" y="1240560"/>
            <a:ext cx="8286480" cy="280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6560" bIns="-165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2"/>
          <p:cNvSpPr/>
          <p:nvPr/>
        </p:nvSpPr>
        <p:spPr>
          <a:xfrm>
            <a:off x="428760" y="438840"/>
            <a:ext cx="828648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The Founder: Arman Islam - Technical Visionary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3"/>
          <p:cNvSpPr/>
          <p:nvPr/>
        </p:nvSpPr>
        <p:spPr>
          <a:xfrm>
            <a:off x="428760" y="870120"/>
            <a:ext cx="828648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Driving intelligent logistics transformation with expertise in autonomous systems and technical problem-solving.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Image 1" descr="preencoded.png"/>
          <p:cNvPicPr/>
          <p:nvPr/>
        </p:nvPicPr>
        <p:blipFill>
          <a:blip r:embed="rId2"/>
          <a:stretch/>
        </p:blipFill>
        <p:spPr>
          <a:xfrm>
            <a:off x="428760" y="2484720"/>
            <a:ext cx="1485720" cy="148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4"/>
          <p:cNvSpPr/>
          <p:nvPr/>
        </p:nvSpPr>
        <p:spPr>
          <a:xfrm>
            <a:off x="2271600" y="1844280"/>
            <a:ext cx="644328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81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Arman Islam</a:t>
            </a:r>
            <a:endParaRPr b="0" lang="en-US" sz="18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5"/>
          <p:cNvSpPr/>
          <p:nvPr/>
        </p:nvSpPr>
        <p:spPr>
          <a:xfrm>
            <a:off x="2271600" y="2251440"/>
            <a:ext cx="644328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5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Founder &amp; Technical Lead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6"/>
          <p:cNvSpPr/>
          <p:nvPr/>
        </p:nvSpPr>
        <p:spPr>
          <a:xfrm>
            <a:off x="2271600" y="2742480"/>
            <a:ext cx="64432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Background:</a:t>
            </a:r>
            <a:r>
              <a:rPr b="0" lang="en-US" sz="839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 WRO 2025 participant with strong expertise in autonomous systems, embedded systems, and robotics.</a:t>
            </a:r>
            <a:endParaRPr b="0" lang="en-US" sz="83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7"/>
          <p:cNvSpPr/>
          <p:nvPr/>
        </p:nvSpPr>
        <p:spPr>
          <a:xfrm>
            <a:off x="2271600" y="3146760"/>
            <a:ext cx="6443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Expertise:</a:t>
            </a:r>
            <a:r>
              <a:rPr b="0" lang="en-US" sz="839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 Technical problem-solving, implementation strategies, autonomous systems design, and embedded systems development.</a:t>
            </a:r>
            <a:endParaRPr b="0" lang="en-US" sz="83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8"/>
          <p:cNvSpPr/>
          <p:nvPr/>
        </p:nvSpPr>
        <p:spPr>
          <a:xfrm>
            <a:off x="2271600" y="3733920"/>
            <a:ext cx="6443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Vision:</a:t>
            </a:r>
            <a:r>
              <a:rPr b="0" lang="en-US" sz="839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 To build a scalable, green logistics network that transforms last-mile delivery and business intelligence for millions of SMEs across South Asia.</a:t>
            </a:r>
            <a:endParaRPr b="0" lang="en-US" sz="83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9"/>
          <p:cNvSpPr/>
          <p:nvPr/>
        </p:nvSpPr>
        <p:spPr>
          <a:xfrm>
            <a:off x="2271600" y="4321080"/>
            <a:ext cx="64432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Portfolio:</a:t>
            </a:r>
            <a:r>
              <a:rPr b="1" lang="en-US" sz="79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cv-of-arman.netlify.app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Shape 0"/>
          <p:cNvSpPr/>
          <p:nvPr/>
        </p:nvSpPr>
        <p:spPr>
          <a:xfrm>
            <a:off x="428760" y="285840"/>
            <a:ext cx="8286480" cy="98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"/>
          <p:cNvSpPr/>
          <p:nvPr/>
        </p:nvSpPr>
        <p:spPr>
          <a:xfrm>
            <a:off x="428760" y="1240560"/>
            <a:ext cx="8286480" cy="280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6560" bIns="-165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"/>
          <p:cNvSpPr/>
          <p:nvPr/>
        </p:nvSpPr>
        <p:spPr>
          <a:xfrm>
            <a:off x="428760" y="438840"/>
            <a:ext cx="828648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The $10 Billion Logistics Barrier for Bangladesh's SMEs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3"/>
          <p:cNvSpPr/>
          <p:nvPr/>
        </p:nvSpPr>
        <p:spPr>
          <a:xfrm>
            <a:off x="428760" y="870120"/>
            <a:ext cx="828648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Inefficient, costly, and unsustainable logistics are crippling the growth of 10.4 million SMEs.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4"/>
          <p:cNvSpPr/>
          <p:nvPr/>
        </p:nvSpPr>
        <p:spPr>
          <a:xfrm>
            <a:off x="428760" y="1454760"/>
            <a:ext cx="4053600" cy="168336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5"/>
          <p:cNvSpPr/>
          <p:nvPr/>
        </p:nvSpPr>
        <p:spPr>
          <a:xfrm>
            <a:off x="428760" y="1454760"/>
            <a:ext cx="42480" cy="168336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6"/>
          <p:cNvSpPr/>
          <p:nvPr/>
        </p:nvSpPr>
        <p:spPr>
          <a:xfrm>
            <a:off x="607320" y="1643760"/>
            <a:ext cx="369648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3200"/>
              </a:lnSpc>
              <a:tabLst>
                <a:tab algn="l" pos="0"/>
              </a:tabLst>
            </a:pPr>
            <a:r>
              <a:rPr b="1" lang="en-US" sz="243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18-25%</a:t>
            </a:r>
            <a:endParaRPr b="0" lang="en-US" sz="24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7"/>
          <p:cNvSpPr/>
          <p:nvPr/>
        </p:nvSpPr>
        <p:spPr>
          <a:xfrm>
            <a:off x="607320" y="2181240"/>
            <a:ext cx="369648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1" lang="en-US" sz="8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High Cost Burden</a:t>
            </a:r>
            <a:endParaRPr b="0" lang="en-US" sz="8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8"/>
          <p:cNvSpPr/>
          <p:nvPr/>
        </p:nvSpPr>
        <p:spPr>
          <a:xfrm>
            <a:off x="607320" y="2520720"/>
            <a:ext cx="3696480" cy="3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Logistics consume 18-25% of SME budgets, severely limiting resources for growth and innovation.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9"/>
          <p:cNvSpPr/>
          <p:nvPr/>
        </p:nvSpPr>
        <p:spPr>
          <a:xfrm>
            <a:off x="4661280" y="1454760"/>
            <a:ext cx="4053600" cy="168336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0"/>
          <p:cNvSpPr/>
          <p:nvPr/>
        </p:nvSpPr>
        <p:spPr>
          <a:xfrm>
            <a:off x="4661280" y="1454760"/>
            <a:ext cx="42480" cy="168336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1"/>
          <p:cNvSpPr/>
          <p:nvPr/>
        </p:nvSpPr>
        <p:spPr>
          <a:xfrm>
            <a:off x="4839840" y="1643760"/>
            <a:ext cx="369648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3200"/>
              </a:lnSpc>
              <a:tabLst>
                <a:tab algn="l" pos="0"/>
              </a:tabLst>
            </a:pPr>
            <a:r>
              <a:rPr b="1" lang="en-US" sz="243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89%</a:t>
            </a:r>
            <a:endParaRPr b="0" lang="en-US" sz="24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2"/>
          <p:cNvSpPr/>
          <p:nvPr/>
        </p:nvSpPr>
        <p:spPr>
          <a:xfrm>
            <a:off x="4839840" y="2181240"/>
            <a:ext cx="369648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1" lang="en-US" sz="8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Unreliable Last-Mile</a:t>
            </a:r>
            <a:endParaRPr b="0" lang="en-US" sz="8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3"/>
          <p:cNvSpPr/>
          <p:nvPr/>
        </p:nvSpPr>
        <p:spPr>
          <a:xfrm>
            <a:off x="4839840" y="2520720"/>
            <a:ext cx="3696480" cy="3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89% of SMEs struggle with costly, unreliable final-delivery logistics that drain operational budgets.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4"/>
          <p:cNvSpPr/>
          <p:nvPr/>
        </p:nvSpPr>
        <p:spPr>
          <a:xfrm>
            <a:off x="428760" y="3317040"/>
            <a:ext cx="4053600" cy="168336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5"/>
          <p:cNvSpPr/>
          <p:nvPr/>
        </p:nvSpPr>
        <p:spPr>
          <a:xfrm>
            <a:off x="428760" y="3317040"/>
            <a:ext cx="42480" cy="168336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6"/>
          <p:cNvSpPr/>
          <p:nvPr/>
        </p:nvSpPr>
        <p:spPr>
          <a:xfrm>
            <a:off x="607320" y="3506040"/>
            <a:ext cx="369648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3200"/>
              </a:lnSpc>
              <a:tabLst>
                <a:tab algn="l" pos="0"/>
              </a:tabLst>
            </a:pPr>
            <a:r>
              <a:rPr b="1" lang="en-US" sz="243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91%</a:t>
            </a:r>
            <a:endParaRPr b="0" lang="en-US" sz="24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7"/>
          <p:cNvSpPr/>
          <p:nvPr/>
        </p:nvSpPr>
        <p:spPr>
          <a:xfrm>
            <a:off x="607320" y="4043520"/>
            <a:ext cx="369648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1" lang="en-US" sz="8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Monsoon Vulnerability</a:t>
            </a:r>
            <a:endParaRPr b="0" lang="en-US" sz="8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8"/>
          <p:cNvSpPr/>
          <p:nvPr/>
        </p:nvSpPr>
        <p:spPr>
          <a:xfrm>
            <a:off x="607320" y="4383000"/>
            <a:ext cx="3696480" cy="3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91% report severe delivery delays during rainy seasons, creating supply chain chaos and customer dissatisfaction.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9"/>
          <p:cNvSpPr/>
          <p:nvPr/>
        </p:nvSpPr>
        <p:spPr>
          <a:xfrm>
            <a:off x="4661280" y="3317040"/>
            <a:ext cx="4053600" cy="168336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20"/>
          <p:cNvSpPr/>
          <p:nvPr/>
        </p:nvSpPr>
        <p:spPr>
          <a:xfrm>
            <a:off x="4661280" y="3317040"/>
            <a:ext cx="42480" cy="168336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1"/>
          <p:cNvSpPr/>
          <p:nvPr/>
        </p:nvSpPr>
        <p:spPr>
          <a:xfrm>
            <a:off x="4839840" y="3506040"/>
            <a:ext cx="369648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3200"/>
              </a:lnSpc>
              <a:tabLst>
                <a:tab algn="l" pos="0"/>
              </a:tabLst>
            </a:pPr>
            <a:r>
              <a:rPr b="1" lang="en-US" sz="243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73%</a:t>
            </a:r>
            <a:endParaRPr b="0" lang="en-US" sz="24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22"/>
          <p:cNvSpPr/>
          <p:nvPr/>
        </p:nvSpPr>
        <p:spPr>
          <a:xfrm>
            <a:off x="4839840" y="4043520"/>
            <a:ext cx="369648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1" lang="en-US" sz="8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Data Blindness</a:t>
            </a:r>
            <a:endParaRPr b="0" lang="en-US" sz="8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3"/>
          <p:cNvSpPr/>
          <p:nvPr/>
        </p:nvSpPr>
        <p:spPr>
          <a:xfrm>
            <a:off x="4839840" y="4383000"/>
            <a:ext cx="3696480" cy="3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73% lack business intelligence tools, missing critical insights on demand patterns and inventory optimization.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Shape 0"/>
          <p:cNvSpPr/>
          <p:nvPr/>
        </p:nvSpPr>
        <p:spPr>
          <a:xfrm>
            <a:off x="428760" y="285840"/>
            <a:ext cx="8286480" cy="98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1"/>
          <p:cNvSpPr/>
          <p:nvPr/>
        </p:nvSpPr>
        <p:spPr>
          <a:xfrm>
            <a:off x="428760" y="1240560"/>
            <a:ext cx="8286480" cy="280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6560" bIns="-165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"/>
          <p:cNvSpPr/>
          <p:nvPr/>
        </p:nvSpPr>
        <p:spPr>
          <a:xfrm>
            <a:off x="428760" y="438840"/>
            <a:ext cx="828648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GreenLift AI: The Integrated, Sustainable Logistics Ecosystem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3"/>
          <p:cNvSpPr/>
          <p:nvPr/>
        </p:nvSpPr>
        <p:spPr>
          <a:xfrm>
            <a:off x="428760" y="870120"/>
            <a:ext cx="828648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A comprehensive hardware-software platform for zero-carbon, AI-powered delivery.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Image 1" descr="preencoded.png"/>
          <p:cNvPicPr/>
          <p:nvPr/>
        </p:nvPicPr>
        <p:blipFill>
          <a:blip r:embed="rId2"/>
          <a:stretch/>
        </p:blipFill>
        <p:spPr>
          <a:xfrm>
            <a:off x="428760" y="1454760"/>
            <a:ext cx="1999800" cy="157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Text 4"/>
          <p:cNvSpPr/>
          <p:nvPr/>
        </p:nvSpPr>
        <p:spPr>
          <a:xfrm>
            <a:off x="428760" y="3169080"/>
            <a:ext cx="40003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Green-Fuel VTOL Drones</a:t>
            </a:r>
            <a:endParaRPr b="0" lang="en-US" sz="10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5"/>
          <p:cNvSpPr/>
          <p:nvPr/>
        </p:nvSpPr>
        <p:spPr>
          <a:xfrm>
            <a:off x="428760" y="3469320"/>
            <a:ext cx="4000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6992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Autonomous, </a:t>
            </a:r>
            <a:r>
              <a:rPr b="1" lang="en-US" sz="73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hydrogen-electric hybrid</a:t>
            </a: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 drones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6"/>
          <p:cNvSpPr/>
          <p:nvPr/>
        </p:nvSpPr>
        <p:spPr>
          <a:xfrm>
            <a:off x="428760" y="3701520"/>
            <a:ext cx="4000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6992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1" lang="en-US" sz="73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1-20 kg payload</a:t>
            </a: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 capacity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7"/>
          <p:cNvSpPr/>
          <p:nvPr/>
        </p:nvSpPr>
        <p:spPr>
          <a:xfrm>
            <a:off x="428760" y="3933720"/>
            <a:ext cx="4000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6992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1" lang="en-US" sz="73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20-50 km range</a:t>
            </a: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 delivery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8"/>
          <p:cNvSpPr/>
          <p:nvPr/>
        </p:nvSpPr>
        <p:spPr>
          <a:xfrm>
            <a:off x="428760" y="4165920"/>
            <a:ext cx="4000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6992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1" lang="en-US" sz="73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Zero carbon emissions</a:t>
            </a: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 operations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9"/>
          <p:cNvSpPr/>
          <p:nvPr/>
        </p:nvSpPr>
        <p:spPr>
          <a:xfrm>
            <a:off x="428760" y="4397760"/>
            <a:ext cx="4000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6992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Fast, reliable delivery in urban and rural areas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0"/>
          <p:cNvSpPr/>
          <p:nvPr/>
        </p:nvSpPr>
        <p:spPr>
          <a:xfrm>
            <a:off x="428760" y="3469320"/>
            <a:ext cx="40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1" lang="en-US" sz="7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•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1"/>
          <p:cNvSpPr/>
          <p:nvPr/>
        </p:nvSpPr>
        <p:spPr>
          <a:xfrm>
            <a:off x="428760" y="3701520"/>
            <a:ext cx="40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1" lang="en-US" sz="7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•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2"/>
          <p:cNvSpPr/>
          <p:nvPr/>
        </p:nvSpPr>
        <p:spPr>
          <a:xfrm>
            <a:off x="428760" y="3933720"/>
            <a:ext cx="40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1" lang="en-US" sz="7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•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3"/>
          <p:cNvSpPr/>
          <p:nvPr/>
        </p:nvSpPr>
        <p:spPr>
          <a:xfrm>
            <a:off x="428760" y="4165920"/>
            <a:ext cx="40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1" lang="en-US" sz="7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•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4"/>
          <p:cNvSpPr/>
          <p:nvPr/>
        </p:nvSpPr>
        <p:spPr>
          <a:xfrm>
            <a:off x="428760" y="4397760"/>
            <a:ext cx="40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1" lang="en-US" sz="7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•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15"/>
          <p:cNvSpPr/>
          <p:nvPr/>
        </p:nvSpPr>
        <p:spPr>
          <a:xfrm>
            <a:off x="4714920" y="1454760"/>
            <a:ext cx="4028760" cy="1599840"/>
          </a:xfrm>
          <a:prstGeom prst="rect">
            <a:avLst/>
          </a:prstGeom>
          <a:solidFill>
            <a:srgbClr val="00c853"/>
          </a:solidFill>
          <a:ln w="18288">
            <a:solidFill>
              <a:srgbClr val="1a2e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6"/>
          <p:cNvSpPr/>
          <p:nvPr/>
        </p:nvSpPr>
        <p:spPr>
          <a:xfrm>
            <a:off x="6500880" y="2007360"/>
            <a:ext cx="42840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3200"/>
              </a:lnSpc>
              <a:tabLst>
                <a:tab algn="l" pos="0"/>
              </a:tabLst>
            </a:pPr>
            <a:r>
              <a:rPr b="1" lang="en-US" sz="243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📊</a:t>
            </a:r>
            <a:endParaRPr b="0" lang="en-US" sz="24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7"/>
          <p:cNvSpPr/>
          <p:nvPr/>
        </p:nvSpPr>
        <p:spPr>
          <a:xfrm>
            <a:off x="4714920" y="3169080"/>
            <a:ext cx="40003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500"/>
              </a:lnSpc>
              <a:tabLst>
                <a:tab algn="l" pos="0"/>
              </a:tabLst>
            </a:pPr>
            <a:r>
              <a:rPr b="1" lang="en-US" sz="10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AI-Powered SME Dashboard</a:t>
            </a:r>
            <a:endParaRPr b="0" lang="en-US" sz="10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8"/>
          <p:cNvSpPr/>
          <p:nvPr/>
        </p:nvSpPr>
        <p:spPr>
          <a:xfrm>
            <a:off x="4714920" y="3469320"/>
            <a:ext cx="4000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6992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1" lang="en-US" sz="73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Demand forecasting</a:t>
            </a: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 with predictive analytics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9"/>
          <p:cNvSpPr/>
          <p:nvPr/>
        </p:nvSpPr>
        <p:spPr>
          <a:xfrm>
            <a:off x="4714920" y="3701520"/>
            <a:ext cx="4000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6992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1" lang="en-US" sz="73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Inventory management</a:t>
            </a: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 optimization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0"/>
          <p:cNvSpPr/>
          <p:nvPr/>
        </p:nvSpPr>
        <p:spPr>
          <a:xfrm>
            <a:off x="4714920" y="3933720"/>
            <a:ext cx="4000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6992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1" lang="en-US" sz="73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Cash flow predictions</a:t>
            </a: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 and insights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1"/>
          <p:cNvSpPr/>
          <p:nvPr/>
        </p:nvSpPr>
        <p:spPr>
          <a:xfrm>
            <a:off x="4714920" y="4165920"/>
            <a:ext cx="4000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6992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1" lang="en-US" sz="73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Customer segmentation</a:t>
            </a: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 and retention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2"/>
          <p:cNvSpPr/>
          <p:nvPr/>
        </p:nvSpPr>
        <p:spPr>
          <a:xfrm>
            <a:off x="4714920" y="4397760"/>
            <a:ext cx="4000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6992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Bangla interface with voice alerts and offline capability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3"/>
          <p:cNvSpPr/>
          <p:nvPr/>
        </p:nvSpPr>
        <p:spPr>
          <a:xfrm>
            <a:off x="4714920" y="3469320"/>
            <a:ext cx="40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1" lang="en-US" sz="7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•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4"/>
          <p:cNvSpPr/>
          <p:nvPr/>
        </p:nvSpPr>
        <p:spPr>
          <a:xfrm>
            <a:off x="4714920" y="3701520"/>
            <a:ext cx="40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1" lang="en-US" sz="7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•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5"/>
          <p:cNvSpPr/>
          <p:nvPr/>
        </p:nvSpPr>
        <p:spPr>
          <a:xfrm>
            <a:off x="4714920" y="3933720"/>
            <a:ext cx="40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1" lang="en-US" sz="7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•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6"/>
          <p:cNvSpPr/>
          <p:nvPr/>
        </p:nvSpPr>
        <p:spPr>
          <a:xfrm>
            <a:off x="4714920" y="4165920"/>
            <a:ext cx="40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1" lang="en-US" sz="7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•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7"/>
          <p:cNvSpPr/>
          <p:nvPr/>
        </p:nvSpPr>
        <p:spPr>
          <a:xfrm>
            <a:off x="4714920" y="4397760"/>
            <a:ext cx="4068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1" lang="en-US" sz="7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•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Shape 0"/>
          <p:cNvSpPr/>
          <p:nvPr/>
        </p:nvSpPr>
        <p:spPr>
          <a:xfrm>
            <a:off x="428760" y="285840"/>
            <a:ext cx="8286480" cy="98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"/>
          <p:cNvSpPr/>
          <p:nvPr/>
        </p:nvSpPr>
        <p:spPr>
          <a:xfrm>
            <a:off x="428760" y="1240560"/>
            <a:ext cx="8286480" cy="280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6560" bIns="-165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"/>
          <p:cNvSpPr/>
          <p:nvPr/>
        </p:nvSpPr>
        <p:spPr>
          <a:xfrm>
            <a:off x="428760" y="438840"/>
            <a:ext cx="424296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Tapping into the Under-served $10+ Billion Market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"/>
          <p:cNvSpPr/>
          <p:nvPr/>
        </p:nvSpPr>
        <p:spPr>
          <a:xfrm>
            <a:off x="428760" y="870120"/>
            <a:ext cx="828648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Targeting the 78% of SMEs in Bangladesh with inadequate logistics infrastructure.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4"/>
          <p:cNvSpPr/>
          <p:nvPr/>
        </p:nvSpPr>
        <p:spPr>
          <a:xfrm>
            <a:off x="428760" y="1454760"/>
            <a:ext cx="2642760" cy="249552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5"/>
          <p:cNvSpPr/>
          <p:nvPr/>
        </p:nvSpPr>
        <p:spPr>
          <a:xfrm>
            <a:off x="428760" y="1454760"/>
            <a:ext cx="2642760" cy="424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6"/>
          <p:cNvSpPr/>
          <p:nvPr/>
        </p:nvSpPr>
        <p:spPr>
          <a:xfrm>
            <a:off x="1197720" y="1935360"/>
            <a:ext cx="110484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ts val="3501"/>
              </a:lnSpc>
              <a:tabLst>
                <a:tab algn="l" pos="0"/>
              </a:tabLst>
            </a:pPr>
            <a:r>
              <a:rPr b="1" lang="en-US" sz="265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10.4M</a:t>
            </a:r>
            <a:endParaRPr b="0" lang="en-US" sz="26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7"/>
          <p:cNvSpPr/>
          <p:nvPr/>
        </p:nvSpPr>
        <p:spPr>
          <a:xfrm>
            <a:off x="1311120" y="2526840"/>
            <a:ext cx="8780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ts val="1199"/>
              </a:lnSpc>
              <a:tabLst>
                <a:tab algn="l" pos="0"/>
              </a:tabLst>
            </a:pPr>
            <a:r>
              <a:rPr b="1" lang="en-US" sz="8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Massive Scale</a:t>
            </a:r>
            <a:endParaRPr b="0" lang="en-US" sz="8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8"/>
          <p:cNvSpPr/>
          <p:nvPr/>
        </p:nvSpPr>
        <p:spPr>
          <a:xfrm>
            <a:off x="607320" y="2880360"/>
            <a:ext cx="2285640" cy="48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SMEs form the economic backbone of Bangladesh, representing an enormous addressable market.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9"/>
          <p:cNvSpPr/>
          <p:nvPr/>
        </p:nvSpPr>
        <p:spPr>
          <a:xfrm>
            <a:off x="3250440" y="1454760"/>
            <a:ext cx="2642760" cy="249552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0"/>
          <p:cNvSpPr/>
          <p:nvPr/>
        </p:nvSpPr>
        <p:spPr>
          <a:xfrm>
            <a:off x="3250440" y="1454760"/>
            <a:ext cx="2642760" cy="424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1"/>
          <p:cNvSpPr/>
          <p:nvPr/>
        </p:nvSpPr>
        <p:spPr>
          <a:xfrm>
            <a:off x="4185720" y="1935360"/>
            <a:ext cx="77184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ts val="3501"/>
              </a:lnSpc>
              <a:tabLst>
                <a:tab algn="l" pos="0"/>
              </a:tabLst>
            </a:pPr>
            <a:r>
              <a:rPr b="1" lang="en-US" sz="265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78%</a:t>
            </a:r>
            <a:endParaRPr b="0" lang="en-US" sz="26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2"/>
          <p:cNvSpPr/>
          <p:nvPr/>
        </p:nvSpPr>
        <p:spPr>
          <a:xfrm>
            <a:off x="4158720" y="2526840"/>
            <a:ext cx="8258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ts val="1199"/>
              </a:lnSpc>
              <a:tabLst>
                <a:tab algn="l" pos="0"/>
              </a:tabLst>
            </a:pPr>
            <a:r>
              <a:rPr b="1" lang="en-US" sz="8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Underserved</a:t>
            </a:r>
            <a:endParaRPr b="0" lang="en-US" sz="8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3"/>
          <p:cNvSpPr/>
          <p:nvPr/>
        </p:nvSpPr>
        <p:spPr>
          <a:xfrm>
            <a:off x="3429000" y="2880360"/>
            <a:ext cx="2285640" cy="48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Located in areas with poor logistics infrastructure, representing a massive greenfield opportunity.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14"/>
          <p:cNvSpPr/>
          <p:nvPr/>
        </p:nvSpPr>
        <p:spPr>
          <a:xfrm>
            <a:off x="6072120" y="1454760"/>
            <a:ext cx="2642760" cy="249552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5"/>
          <p:cNvSpPr/>
          <p:nvPr/>
        </p:nvSpPr>
        <p:spPr>
          <a:xfrm>
            <a:off x="6072120" y="1454760"/>
            <a:ext cx="2642760" cy="424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6"/>
          <p:cNvSpPr/>
          <p:nvPr/>
        </p:nvSpPr>
        <p:spPr>
          <a:xfrm>
            <a:off x="6840000" y="1935360"/>
            <a:ext cx="1107000" cy="50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ts val="3501"/>
              </a:lnSpc>
              <a:tabLst>
                <a:tab algn="l" pos="0"/>
              </a:tabLst>
            </a:pPr>
            <a:r>
              <a:rPr b="1" lang="en-US" sz="265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$10B+</a:t>
            </a:r>
            <a:endParaRPr b="0" lang="en-US" sz="26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7"/>
          <p:cNvSpPr/>
          <p:nvPr/>
        </p:nvSpPr>
        <p:spPr>
          <a:xfrm>
            <a:off x="6744600" y="2526840"/>
            <a:ext cx="129816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ts val="1199"/>
              </a:lnSpc>
              <a:tabLst>
                <a:tab algn="l" pos="0"/>
              </a:tabLst>
            </a:pPr>
            <a:r>
              <a:rPr b="1" lang="en-US" sz="8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Market Opportunity</a:t>
            </a:r>
            <a:endParaRPr b="0" lang="en-US" sz="8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8"/>
          <p:cNvSpPr/>
          <p:nvPr/>
        </p:nvSpPr>
        <p:spPr>
          <a:xfrm>
            <a:off x="6250680" y="2880360"/>
            <a:ext cx="2285640" cy="48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Rapidly expanding e-commerce sector demands reliable, scalable, and fast delivery solutions.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9"/>
          <p:cNvSpPr/>
          <p:nvPr/>
        </p:nvSpPr>
        <p:spPr>
          <a:xfrm>
            <a:off x="428760" y="4164840"/>
            <a:ext cx="8286480" cy="835560"/>
          </a:xfrm>
          <a:prstGeom prst="rect">
            <a:avLst/>
          </a:prstGeom>
          <a:solidFill>
            <a:srgbClr val="f0f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0"/>
          <p:cNvSpPr/>
          <p:nvPr/>
        </p:nvSpPr>
        <p:spPr>
          <a:xfrm>
            <a:off x="428760" y="4164840"/>
            <a:ext cx="42480" cy="83556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1"/>
          <p:cNvSpPr/>
          <p:nvPr/>
        </p:nvSpPr>
        <p:spPr>
          <a:xfrm>
            <a:off x="571680" y="4307760"/>
            <a:ext cx="80006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1" lang="en-US" sz="8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Sustainability Imperative</a:t>
            </a:r>
            <a:endParaRPr b="0" lang="en-US" sz="8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2"/>
          <p:cNvSpPr/>
          <p:nvPr/>
        </p:nvSpPr>
        <p:spPr>
          <a:xfrm>
            <a:off x="571680" y="4590000"/>
            <a:ext cx="80006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First-mover advantage in offering a sustainability-first approach with hydrogen-electric drones to reduce carbon footprint and align with global climate goals.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387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Shape 0"/>
          <p:cNvSpPr/>
          <p:nvPr/>
        </p:nvSpPr>
        <p:spPr>
          <a:xfrm>
            <a:off x="428760" y="285840"/>
            <a:ext cx="8286480" cy="98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"/>
          <p:cNvSpPr/>
          <p:nvPr/>
        </p:nvSpPr>
        <p:spPr>
          <a:xfrm>
            <a:off x="428760" y="1240560"/>
            <a:ext cx="8286480" cy="280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6560" bIns="-165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"/>
          <p:cNvSpPr/>
          <p:nvPr/>
        </p:nvSpPr>
        <p:spPr>
          <a:xfrm>
            <a:off x="428760" y="438840"/>
            <a:ext cx="828648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AI-Driven Efficiency: Our Unfair Advantage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3"/>
          <p:cNvSpPr/>
          <p:nvPr/>
        </p:nvSpPr>
        <p:spPr>
          <a:xfrm>
            <a:off x="428760" y="870120"/>
            <a:ext cx="828648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Machine learning powers every stage of the delivery process, maximizing speed and minimizing cost.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4"/>
          <p:cNvSpPr/>
          <p:nvPr/>
        </p:nvSpPr>
        <p:spPr>
          <a:xfrm>
            <a:off x="428760" y="1454760"/>
            <a:ext cx="4089600" cy="186228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5"/>
          <p:cNvSpPr/>
          <p:nvPr/>
        </p:nvSpPr>
        <p:spPr>
          <a:xfrm>
            <a:off x="428760" y="1454760"/>
            <a:ext cx="4089600" cy="424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6"/>
          <p:cNvSpPr/>
          <p:nvPr/>
        </p:nvSpPr>
        <p:spPr>
          <a:xfrm>
            <a:off x="557280" y="1583280"/>
            <a:ext cx="3832200" cy="3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0" lang="en-US" sz="215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📊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7"/>
          <p:cNvSpPr/>
          <p:nvPr/>
        </p:nvSpPr>
        <p:spPr>
          <a:xfrm>
            <a:off x="557280" y="2058480"/>
            <a:ext cx="383220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Demand Forecasting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8"/>
          <p:cNvSpPr/>
          <p:nvPr/>
        </p:nvSpPr>
        <p:spPr>
          <a:xfrm>
            <a:off x="557280" y="2417400"/>
            <a:ext cx="3832200" cy="3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Predictive analytics to anticipate customer needs and optimize inventory levels proactively.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9"/>
          <p:cNvSpPr/>
          <p:nvPr/>
        </p:nvSpPr>
        <p:spPr>
          <a:xfrm>
            <a:off x="557280" y="2910240"/>
            <a:ext cx="383220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901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TensorFlow • PyTorch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0"/>
          <p:cNvSpPr/>
          <p:nvPr/>
        </p:nvSpPr>
        <p:spPr>
          <a:xfrm>
            <a:off x="4625640" y="1454760"/>
            <a:ext cx="4089600" cy="181944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1"/>
          <p:cNvSpPr/>
          <p:nvPr/>
        </p:nvSpPr>
        <p:spPr>
          <a:xfrm>
            <a:off x="4625640" y="1454760"/>
            <a:ext cx="4089600" cy="424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2"/>
          <p:cNvSpPr/>
          <p:nvPr/>
        </p:nvSpPr>
        <p:spPr>
          <a:xfrm>
            <a:off x="4754160" y="1583280"/>
            <a:ext cx="3832200" cy="3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0" lang="en-US" sz="215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🗺️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3"/>
          <p:cNvSpPr/>
          <p:nvPr/>
        </p:nvSpPr>
        <p:spPr>
          <a:xfrm>
            <a:off x="4754160" y="2058480"/>
            <a:ext cx="383220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Route Optimization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4"/>
          <p:cNvSpPr/>
          <p:nvPr/>
        </p:nvSpPr>
        <p:spPr>
          <a:xfrm>
            <a:off x="4754160" y="2417400"/>
            <a:ext cx="383220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Real-time calculation of the fastest, most energy-efficient delivery paths.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5"/>
          <p:cNvSpPr/>
          <p:nvPr/>
        </p:nvSpPr>
        <p:spPr>
          <a:xfrm>
            <a:off x="4754160" y="2749680"/>
            <a:ext cx="383220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901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ROS • PX4 Autopilot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6"/>
          <p:cNvSpPr/>
          <p:nvPr/>
        </p:nvSpPr>
        <p:spPr>
          <a:xfrm>
            <a:off x="428760" y="3381840"/>
            <a:ext cx="4089600" cy="186228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7"/>
          <p:cNvSpPr/>
          <p:nvPr/>
        </p:nvSpPr>
        <p:spPr>
          <a:xfrm>
            <a:off x="428760" y="3381840"/>
            <a:ext cx="4089600" cy="424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8"/>
          <p:cNvSpPr/>
          <p:nvPr/>
        </p:nvSpPr>
        <p:spPr>
          <a:xfrm>
            <a:off x="557280" y="3510360"/>
            <a:ext cx="3832200" cy="3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0" lang="en-US" sz="215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🤖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9"/>
          <p:cNvSpPr/>
          <p:nvPr/>
        </p:nvSpPr>
        <p:spPr>
          <a:xfrm>
            <a:off x="557280" y="3985200"/>
            <a:ext cx="383220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Autonomous Operations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0"/>
          <p:cNvSpPr/>
          <p:nvPr/>
        </p:nvSpPr>
        <p:spPr>
          <a:xfrm>
            <a:off x="557280" y="4344480"/>
            <a:ext cx="3832200" cy="3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Automated decision-making for flight control, safety, and compliance standards.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1"/>
          <p:cNvSpPr/>
          <p:nvPr/>
        </p:nvSpPr>
        <p:spPr>
          <a:xfrm>
            <a:off x="557280" y="4837320"/>
            <a:ext cx="383220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901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AI Path Planning • Safety Protocols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22"/>
          <p:cNvSpPr/>
          <p:nvPr/>
        </p:nvSpPr>
        <p:spPr>
          <a:xfrm>
            <a:off x="4625640" y="3381840"/>
            <a:ext cx="4089600" cy="186228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3"/>
          <p:cNvSpPr/>
          <p:nvPr/>
        </p:nvSpPr>
        <p:spPr>
          <a:xfrm>
            <a:off x="4625640" y="3381840"/>
            <a:ext cx="4089600" cy="424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4"/>
          <p:cNvSpPr/>
          <p:nvPr/>
        </p:nvSpPr>
        <p:spPr>
          <a:xfrm>
            <a:off x="4754160" y="3510360"/>
            <a:ext cx="3832200" cy="3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701"/>
              </a:lnSpc>
              <a:tabLst>
                <a:tab algn="l" pos="0"/>
              </a:tabLst>
            </a:pPr>
            <a:r>
              <a:rPr b="0" lang="en-US" sz="215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♻️</a:t>
            </a:r>
            <a:endParaRPr b="0" lang="en-US" sz="2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5"/>
          <p:cNvSpPr/>
          <p:nvPr/>
        </p:nvSpPr>
        <p:spPr>
          <a:xfrm>
            <a:off x="4754160" y="3985200"/>
            <a:ext cx="383220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Zero-Carbon Operations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6"/>
          <p:cNvSpPr/>
          <p:nvPr/>
        </p:nvSpPr>
        <p:spPr>
          <a:xfrm>
            <a:off x="4754160" y="4344480"/>
            <a:ext cx="3832200" cy="3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Solar-powered fleet eliminates fuel costs and carbon emissions, a critical differentiator.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7"/>
          <p:cNvSpPr/>
          <p:nvPr/>
        </p:nvSpPr>
        <p:spPr>
          <a:xfrm>
            <a:off x="4754160" y="4837320"/>
            <a:ext cx="383220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901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Hydrogen-Electric Hybrid • Solar Integration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25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Shape 0"/>
          <p:cNvSpPr/>
          <p:nvPr/>
        </p:nvSpPr>
        <p:spPr>
          <a:xfrm>
            <a:off x="428760" y="285840"/>
            <a:ext cx="8286480" cy="98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"/>
          <p:cNvSpPr/>
          <p:nvPr/>
        </p:nvSpPr>
        <p:spPr>
          <a:xfrm>
            <a:off x="428760" y="1240560"/>
            <a:ext cx="8286480" cy="280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6560" bIns="-165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"/>
          <p:cNvSpPr/>
          <p:nvPr/>
        </p:nvSpPr>
        <p:spPr>
          <a:xfrm>
            <a:off x="428760" y="438840"/>
            <a:ext cx="828648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Bringing Intelligent Delivery to Life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3"/>
          <p:cNvSpPr/>
          <p:nvPr/>
        </p:nvSpPr>
        <p:spPr>
          <a:xfrm>
            <a:off x="428760" y="870120"/>
            <a:ext cx="828648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A look at the intuitive, end-to-end GreenLift AI platform.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4"/>
          <p:cNvSpPr/>
          <p:nvPr/>
        </p:nvSpPr>
        <p:spPr>
          <a:xfrm>
            <a:off x="428760" y="1383120"/>
            <a:ext cx="5857560" cy="66636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5"/>
          <p:cNvSpPr/>
          <p:nvPr/>
        </p:nvSpPr>
        <p:spPr>
          <a:xfrm>
            <a:off x="428760" y="1383120"/>
            <a:ext cx="28080" cy="66636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6"/>
          <p:cNvSpPr/>
          <p:nvPr/>
        </p:nvSpPr>
        <p:spPr>
          <a:xfrm>
            <a:off x="500040" y="1454760"/>
            <a:ext cx="21384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ts val="15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📊</a:t>
            </a:r>
            <a:endParaRPr b="0" lang="en-US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7"/>
          <p:cNvSpPr/>
          <p:nvPr/>
        </p:nvSpPr>
        <p:spPr>
          <a:xfrm>
            <a:off x="821520" y="1454760"/>
            <a:ext cx="427212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SME Dashboard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8"/>
          <p:cNvSpPr/>
          <p:nvPr/>
        </p:nvSpPr>
        <p:spPr>
          <a:xfrm>
            <a:off x="821520" y="1738800"/>
            <a:ext cx="427212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Intuitive control center for scheduling, dispatching, and real-time performance monitoring.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9"/>
          <p:cNvSpPr/>
          <p:nvPr/>
        </p:nvSpPr>
        <p:spPr>
          <a:xfrm>
            <a:off x="428760" y="2143080"/>
            <a:ext cx="5857560" cy="66636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10"/>
          <p:cNvSpPr/>
          <p:nvPr/>
        </p:nvSpPr>
        <p:spPr>
          <a:xfrm>
            <a:off x="428760" y="2143080"/>
            <a:ext cx="28080" cy="66636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1"/>
          <p:cNvSpPr/>
          <p:nvPr/>
        </p:nvSpPr>
        <p:spPr>
          <a:xfrm>
            <a:off x="500040" y="2214360"/>
            <a:ext cx="21384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ts val="15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📍</a:t>
            </a:r>
            <a:endParaRPr b="0" lang="en-US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2"/>
          <p:cNvSpPr/>
          <p:nvPr/>
        </p:nvSpPr>
        <p:spPr>
          <a:xfrm>
            <a:off x="821520" y="2214360"/>
            <a:ext cx="319320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Real-Time Tracking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3"/>
          <p:cNvSpPr/>
          <p:nvPr/>
        </p:nvSpPr>
        <p:spPr>
          <a:xfrm>
            <a:off x="821520" y="2498400"/>
            <a:ext cx="319320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Live GPS positioning and predictive arrival estimates for every flight.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4"/>
          <p:cNvSpPr/>
          <p:nvPr/>
        </p:nvSpPr>
        <p:spPr>
          <a:xfrm>
            <a:off x="428760" y="2902680"/>
            <a:ext cx="5857560" cy="66636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5"/>
          <p:cNvSpPr/>
          <p:nvPr/>
        </p:nvSpPr>
        <p:spPr>
          <a:xfrm>
            <a:off x="428760" y="2902680"/>
            <a:ext cx="28080" cy="66636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6"/>
          <p:cNvSpPr/>
          <p:nvPr/>
        </p:nvSpPr>
        <p:spPr>
          <a:xfrm>
            <a:off x="500040" y="2974320"/>
            <a:ext cx="21384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ts val="15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⚙️</a:t>
            </a:r>
            <a:endParaRPr b="0" lang="en-US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7"/>
          <p:cNvSpPr/>
          <p:nvPr/>
        </p:nvSpPr>
        <p:spPr>
          <a:xfrm>
            <a:off x="821520" y="2974320"/>
            <a:ext cx="335520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Automated Scheduling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8"/>
          <p:cNvSpPr/>
          <p:nvPr/>
        </p:nvSpPr>
        <p:spPr>
          <a:xfrm>
            <a:off x="821520" y="3258000"/>
            <a:ext cx="335520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AI-optimized delivery routes reduce delays and maximize daily capacity.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9"/>
          <p:cNvSpPr/>
          <p:nvPr/>
        </p:nvSpPr>
        <p:spPr>
          <a:xfrm>
            <a:off x="428760" y="3662280"/>
            <a:ext cx="5857560" cy="66636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20"/>
          <p:cNvSpPr/>
          <p:nvPr/>
        </p:nvSpPr>
        <p:spPr>
          <a:xfrm>
            <a:off x="428760" y="3662280"/>
            <a:ext cx="28080" cy="66636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21"/>
          <p:cNvSpPr/>
          <p:nvPr/>
        </p:nvSpPr>
        <p:spPr>
          <a:xfrm>
            <a:off x="500040" y="3733920"/>
            <a:ext cx="21384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ts val="15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📈</a:t>
            </a:r>
            <a:endParaRPr b="0" lang="en-US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2"/>
          <p:cNvSpPr/>
          <p:nvPr/>
        </p:nvSpPr>
        <p:spPr>
          <a:xfrm>
            <a:off x="821520" y="3733920"/>
            <a:ext cx="359820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Business Analytics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3"/>
          <p:cNvSpPr/>
          <p:nvPr/>
        </p:nvSpPr>
        <p:spPr>
          <a:xfrm>
            <a:off x="821520" y="4017960"/>
            <a:ext cx="359820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Comprehensive reports on efficiency, profitability, and customer satisfaction.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24"/>
          <p:cNvSpPr/>
          <p:nvPr/>
        </p:nvSpPr>
        <p:spPr>
          <a:xfrm>
            <a:off x="428760" y="4422240"/>
            <a:ext cx="5857560" cy="66636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25"/>
          <p:cNvSpPr/>
          <p:nvPr/>
        </p:nvSpPr>
        <p:spPr>
          <a:xfrm>
            <a:off x="428760" y="4422240"/>
            <a:ext cx="28080" cy="66636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6"/>
          <p:cNvSpPr/>
          <p:nvPr/>
        </p:nvSpPr>
        <p:spPr>
          <a:xfrm>
            <a:off x="500040" y="4493520"/>
            <a:ext cx="21384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ts val="1599"/>
              </a:lnSpc>
              <a:tabLst>
                <a:tab algn="l" pos="0"/>
              </a:tabLst>
            </a:pPr>
            <a:r>
              <a:rPr b="0" lang="en-US" sz="127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🚁</a:t>
            </a:r>
            <a:endParaRPr b="0" lang="en-US" sz="12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7"/>
          <p:cNvSpPr/>
          <p:nvPr/>
        </p:nvSpPr>
        <p:spPr>
          <a:xfrm>
            <a:off x="821520" y="4493520"/>
            <a:ext cx="373716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Hybrid VTOL Hardware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8"/>
          <p:cNvSpPr/>
          <p:nvPr/>
        </p:nvSpPr>
        <p:spPr>
          <a:xfrm>
            <a:off x="821520" y="4777560"/>
            <a:ext cx="373716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Vertical take-off/landing in tight spaces with efficient horizontal flight capability.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3" name="Image 1" descr="preencoded.png"/>
          <p:cNvPicPr/>
          <p:nvPr/>
        </p:nvPicPr>
        <p:blipFill>
          <a:blip r:embed="rId2"/>
          <a:stretch/>
        </p:blipFill>
        <p:spPr>
          <a:xfrm>
            <a:off x="6572160" y="1383120"/>
            <a:ext cx="2142720" cy="214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31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Shape 0"/>
          <p:cNvSpPr/>
          <p:nvPr/>
        </p:nvSpPr>
        <p:spPr>
          <a:xfrm>
            <a:off x="428760" y="285840"/>
            <a:ext cx="8286480" cy="98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"/>
          <p:cNvSpPr/>
          <p:nvPr/>
        </p:nvSpPr>
        <p:spPr>
          <a:xfrm>
            <a:off x="428760" y="1240560"/>
            <a:ext cx="8286480" cy="280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6560" bIns="-165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"/>
          <p:cNvSpPr/>
          <p:nvPr/>
        </p:nvSpPr>
        <p:spPr>
          <a:xfrm>
            <a:off x="428760" y="438840"/>
            <a:ext cx="828648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A Flexible and Scalable Revenue Strategy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428760" y="870120"/>
            <a:ext cx="828648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Multiple revenue streams designed for low entry barrier and high customer lifetime value.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4"/>
          <p:cNvSpPr/>
          <p:nvPr/>
        </p:nvSpPr>
        <p:spPr>
          <a:xfrm>
            <a:off x="428760" y="1383120"/>
            <a:ext cx="4089600" cy="182844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5"/>
          <p:cNvSpPr/>
          <p:nvPr/>
        </p:nvSpPr>
        <p:spPr>
          <a:xfrm>
            <a:off x="428760" y="1383120"/>
            <a:ext cx="4089600" cy="424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6"/>
          <p:cNvSpPr/>
          <p:nvPr/>
        </p:nvSpPr>
        <p:spPr>
          <a:xfrm>
            <a:off x="571680" y="1526040"/>
            <a:ext cx="380376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92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📦</a:t>
            </a:r>
            <a:endParaRPr b="0" lang="en-US" sz="19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7"/>
          <p:cNvSpPr/>
          <p:nvPr/>
        </p:nvSpPr>
        <p:spPr>
          <a:xfrm>
            <a:off x="571680" y="1947600"/>
            <a:ext cx="380376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Pay-Per-Delivery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8"/>
          <p:cNvSpPr/>
          <p:nvPr/>
        </p:nvSpPr>
        <p:spPr>
          <a:xfrm>
            <a:off x="571680" y="2185200"/>
            <a:ext cx="380376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5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15–30 BDT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9"/>
          <p:cNvSpPr/>
          <p:nvPr/>
        </p:nvSpPr>
        <p:spPr>
          <a:xfrm>
            <a:off x="571680" y="2597760"/>
            <a:ext cx="3803760" cy="3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Variable revenue scales directly with transaction volume, aligned with customer success and operational efficiency.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0"/>
          <p:cNvSpPr/>
          <p:nvPr/>
        </p:nvSpPr>
        <p:spPr>
          <a:xfrm>
            <a:off x="4625640" y="1383120"/>
            <a:ext cx="4089600" cy="182844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1"/>
          <p:cNvSpPr/>
          <p:nvPr/>
        </p:nvSpPr>
        <p:spPr>
          <a:xfrm>
            <a:off x="4625640" y="1383120"/>
            <a:ext cx="4089600" cy="424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2"/>
          <p:cNvSpPr/>
          <p:nvPr/>
        </p:nvSpPr>
        <p:spPr>
          <a:xfrm>
            <a:off x="4768560" y="1526040"/>
            <a:ext cx="380376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92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📊</a:t>
            </a:r>
            <a:endParaRPr b="0" lang="en-US" sz="19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3"/>
          <p:cNvSpPr/>
          <p:nvPr/>
        </p:nvSpPr>
        <p:spPr>
          <a:xfrm>
            <a:off x="4768560" y="1947600"/>
            <a:ext cx="380376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AI Dashboard Subscription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4"/>
          <p:cNvSpPr/>
          <p:nvPr/>
        </p:nvSpPr>
        <p:spPr>
          <a:xfrm>
            <a:off x="4768560" y="2185200"/>
            <a:ext cx="380376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5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500–2,000 BDT/mo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5"/>
          <p:cNvSpPr/>
          <p:nvPr/>
        </p:nvSpPr>
        <p:spPr>
          <a:xfrm>
            <a:off x="4768560" y="2597760"/>
            <a:ext cx="3803760" cy="3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Recurring revenue for analytics, scheduling, and premium features that drive customer retention.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16"/>
          <p:cNvSpPr/>
          <p:nvPr/>
        </p:nvSpPr>
        <p:spPr>
          <a:xfrm>
            <a:off x="428760" y="3276360"/>
            <a:ext cx="4089600" cy="182844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7"/>
          <p:cNvSpPr/>
          <p:nvPr/>
        </p:nvSpPr>
        <p:spPr>
          <a:xfrm>
            <a:off x="428760" y="3276360"/>
            <a:ext cx="4089600" cy="424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8"/>
          <p:cNvSpPr/>
          <p:nvPr/>
        </p:nvSpPr>
        <p:spPr>
          <a:xfrm>
            <a:off x="571680" y="3419280"/>
            <a:ext cx="380376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92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🚁</a:t>
            </a:r>
            <a:endParaRPr b="0" lang="en-US" sz="19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9"/>
          <p:cNvSpPr/>
          <p:nvPr/>
        </p:nvSpPr>
        <p:spPr>
          <a:xfrm>
            <a:off x="571680" y="3840840"/>
            <a:ext cx="380376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Fleet Leasing (EaaS)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20"/>
          <p:cNvSpPr/>
          <p:nvPr/>
        </p:nvSpPr>
        <p:spPr>
          <a:xfrm>
            <a:off x="571680" y="4078080"/>
            <a:ext cx="380376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5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Equipment-as-Service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1"/>
          <p:cNvSpPr/>
          <p:nvPr/>
        </p:nvSpPr>
        <p:spPr>
          <a:xfrm>
            <a:off x="571680" y="4490640"/>
            <a:ext cx="3803760" cy="3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Lowers customer capital requirements with maintenance and support included, expanding addressable market.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22"/>
          <p:cNvSpPr/>
          <p:nvPr/>
        </p:nvSpPr>
        <p:spPr>
          <a:xfrm>
            <a:off x="4625640" y="3276360"/>
            <a:ext cx="4089600" cy="182844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23"/>
          <p:cNvSpPr/>
          <p:nvPr/>
        </p:nvSpPr>
        <p:spPr>
          <a:xfrm>
            <a:off x="4625640" y="3276360"/>
            <a:ext cx="4089600" cy="424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4"/>
          <p:cNvSpPr/>
          <p:nvPr/>
        </p:nvSpPr>
        <p:spPr>
          <a:xfrm>
            <a:off x="4768560" y="3419280"/>
            <a:ext cx="380376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0" lang="en-US" sz="192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🤝</a:t>
            </a:r>
            <a:endParaRPr b="0" lang="en-US" sz="192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25"/>
          <p:cNvSpPr/>
          <p:nvPr/>
        </p:nvSpPr>
        <p:spPr>
          <a:xfrm>
            <a:off x="4768560" y="3840840"/>
            <a:ext cx="380376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Strategic Partnerships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26"/>
          <p:cNvSpPr/>
          <p:nvPr/>
        </p:nvSpPr>
        <p:spPr>
          <a:xfrm>
            <a:off x="4768560" y="4078080"/>
            <a:ext cx="3803760" cy="2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599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Revenue Sharing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27"/>
          <p:cNvSpPr/>
          <p:nvPr/>
        </p:nvSpPr>
        <p:spPr>
          <a:xfrm>
            <a:off x="4768560" y="4490640"/>
            <a:ext cx="3803760" cy="3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301"/>
              </a:lnSpc>
              <a:tabLst>
                <a:tab algn="l" pos="0"/>
              </a:tabLst>
            </a:pPr>
            <a:r>
              <a:rPr b="0" lang="en-US" sz="7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Co-branded solutions with e-commerce and logistics platforms expand reach and market credibility.</a:t>
            </a:r>
            <a:endParaRPr b="0" lang="en-US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Shape 0"/>
          <p:cNvSpPr/>
          <p:nvPr/>
        </p:nvSpPr>
        <p:spPr>
          <a:xfrm>
            <a:off x="428760" y="285840"/>
            <a:ext cx="8286480" cy="98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"/>
          <p:cNvSpPr/>
          <p:nvPr/>
        </p:nvSpPr>
        <p:spPr>
          <a:xfrm>
            <a:off x="428760" y="1240560"/>
            <a:ext cx="8286480" cy="280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6560" bIns="-165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2"/>
          <p:cNvSpPr/>
          <p:nvPr/>
        </p:nvSpPr>
        <p:spPr>
          <a:xfrm>
            <a:off x="428760" y="438840"/>
            <a:ext cx="828648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Phased Rollout: From Pilot to National Scale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3"/>
          <p:cNvSpPr/>
          <p:nvPr/>
        </p:nvSpPr>
        <p:spPr>
          <a:xfrm>
            <a:off x="428760" y="870120"/>
            <a:ext cx="828648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Targeting high-density SME clusters for rapid proof-of-concept and scaling.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4"/>
          <p:cNvSpPr/>
          <p:nvPr/>
        </p:nvSpPr>
        <p:spPr>
          <a:xfrm>
            <a:off x="428760" y="1383120"/>
            <a:ext cx="2666520" cy="275004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5"/>
          <p:cNvSpPr/>
          <p:nvPr/>
        </p:nvSpPr>
        <p:spPr>
          <a:xfrm>
            <a:off x="428760" y="1383120"/>
            <a:ext cx="2666520" cy="4248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6"/>
          <p:cNvSpPr/>
          <p:nvPr/>
        </p:nvSpPr>
        <p:spPr>
          <a:xfrm>
            <a:off x="571680" y="1526040"/>
            <a:ext cx="238104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81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1</a:t>
            </a:r>
            <a:endParaRPr b="0" lang="en-US" sz="18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7"/>
          <p:cNvSpPr/>
          <p:nvPr/>
        </p:nvSpPr>
        <p:spPr>
          <a:xfrm>
            <a:off x="571680" y="1933200"/>
            <a:ext cx="23810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1" lang="en-US" sz="8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Pilot Launch</a:t>
            </a:r>
            <a:endParaRPr b="0" lang="en-US" sz="8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8"/>
          <p:cNvSpPr/>
          <p:nvPr/>
        </p:nvSpPr>
        <p:spPr>
          <a:xfrm>
            <a:off x="571680" y="2151360"/>
            <a:ext cx="23810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901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Q4 2024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9"/>
          <p:cNvSpPr/>
          <p:nvPr/>
        </p:nvSpPr>
        <p:spPr>
          <a:xfrm>
            <a:off x="571680" y="2358360"/>
            <a:ext cx="238104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Deploy 10–15 drones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0"/>
          <p:cNvSpPr/>
          <p:nvPr/>
        </p:nvSpPr>
        <p:spPr>
          <a:xfrm>
            <a:off x="571680" y="2541240"/>
            <a:ext cx="238104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50 SME partners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1"/>
          <p:cNvSpPr/>
          <p:nvPr/>
        </p:nvSpPr>
        <p:spPr>
          <a:xfrm>
            <a:off x="571680" y="2724120"/>
            <a:ext cx="238104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Pabna district focus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2"/>
          <p:cNvSpPr/>
          <p:nvPr/>
        </p:nvSpPr>
        <p:spPr>
          <a:xfrm>
            <a:off x="571680" y="2907000"/>
            <a:ext cx="238104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Real-world validation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3"/>
          <p:cNvSpPr/>
          <p:nvPr/>
        </p:nvSpPr>
        <p:spPr>
          <a:xfrm>
            <a:off x="3238560" y="1383120"/>
            <a:ext cx="2666520" cy="275004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14"/>
          <p:cNvSpPr/>
          <p:nvPr/>
        </p:nvSpPr>
        <p:spPr>
          <a:xfrm>
            <a:off x="3238560" y="1383120"/>
            <a:ext cx="2666520" cy="4248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5"/>
          <p:cNvSpPr/>
          <p:nvPr/>
        </p:nvSpPr>
        <p:spPr>
          <a:xfrm>
            <a:off x="571680" y="2358360"/>
            <a:ext cx="4968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6"/>
          <p:cNvSpPr/>
          <p:nvPr/>
        </p:nvSpPr>
        <p:spPr>
          <a:xfrm>
            <a:off x="571680" y="2541240"/>
            <a:ext cx="4968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7"/>
          <p:cNvSpPr/>
          <p:nvPr/>
        </p:nvSpPr>
        <p:spPr>
          <a:xfrm>
            <a:off x="571680" y="2724120"/>
            <a:ext cx="4968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8"/>
          <p:cNvSpPr/>
          <p:nvPr/>
        </p:nvSpPr>
        <p:spPr>
          <a:xfrm>
            <a:off x="571680" y="2907000"/>
            <a:ext cx="4968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9"/>
          <p:cNvSpPr/>
          <p:nvPr/>
        </p:nvSpPr>
        <p:spPr>
          <a:xfrm>
            <a:off x="3381480" y="1526040"/>
            <a:ext cx="238104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81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2</a:t>
            </a:r>
            <a:endParaRPr b="0" lang="en-US" sz="18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20"/>
          <p:cNvSpPr/>
          <p:nvPr/>
        </p:nvSpPr>
        <p:spPr>
          <a:xfrm>
            <a:off x="3381480" y="1933200"/>
            <a:ext cx="23810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1" lang="en-US" sz="8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Strategic Partnerships</a:t>
            </a:r>
            <a:endParaRPr b="0" lang="en-US" sz="8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21"/>
          <p:cNvSpPr/>
          <p:nvPr/>
        </p:nvSpPr>
        <p:spPr>
          <a:xfrm>
            <a:off x="3381480" y="2151360"/>
            <a:ext cx="23810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901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2025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22"/>
          <p:cNvSpPr/>
          <p:nvPr/>
        </p:nvSpPr>
        <p:spPr>
          <a:xfrm>
            <a:off x="3381480" y="2358360"/>
            <a:ext cx="238104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Business associations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3"/>
          <p:cNvSpPr/>
          <p:nvPr/>
        </p:nvSpPr>
        <p:spPr>
          <a:xfrm>
            <a:off x="3381480" y="2541240"/>
            <a:ext cx="238104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E-commerce platforms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24"/>
          <p:cNvSpPr/>
          <p:nvPr/>
        </p:nvSpPr>
        <p:spPr>
          <a:xfrm>
            <a:off x="3381480" y="2724120"/>
            <a:ext cx="238104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Distribution channels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5"/>
          <p:cNvSpPr/>
          <p:nvPr/>
        </p:nvSpPr>
        <p:spPr>
          <a:xfrm>
            <a:off x="3381480" y="2907000"/>
            <a:ext cx="238104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Market credibility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6"/>
          <p:cNvSpPr/>
          <p:nvPr/>
        </p:nvSpPr>
        <p:spPr>
          <a:xfrm>
            <a:off x="6048360" y="1383120"/>
            <a:ext cx="2666520" cy="275004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27"/>
          <p:cNvSpPr/>
          <p:nvPr/>
        </p:nvSpPr>
        <p:spPr>
          <a:xfrm>
            <a:off x="6048360" y="1383120"/>
            <a:ext cx="2666520" cy="4248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28"/>
          <p:cNvSpPr/>
          <p:nvPr/>
        </p:nvSpPr>
        <p:spPr>
          <a:xfrm>
            <a:off x="3381480" y="2358360"/>
            <a:ext cx="4968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9"/>
          <p:cNvSpPr/>
          <p:nvPr/>
        </p:nvSpPr>
        <p:spPr>
          <a:xfrm>
            <a:off x="3381480" y="2541240"/>
            <a:ext cx="4968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30"/>
          <p:cNvSpPr/>
          <p:nvPr/>
        </p:nvSpPr>
        <p:spPr>
          <a:xfrm>
            <a:off x="3381480" y="2724120"/>
            <a:ext cx="4968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31"/>
          <p:cNvSpPr/>
          <p:nvPr/>
        </p:nvSpPr>
        <p:spPr>
          <a:xfrm>
            <a:off x="3381480" y="2907000"/>
            <a:ext cx="4968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32"/>
          <p:cNvSpPr/>
          <p:nvPr/>
        </p:nvSpPr>
        <p:spPr>
          <a:xfrm>
            <a:off x="6191280" y="1526040"/>
            <a:ext cx="238104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401"/>
              </a:lnSpc>
              <a:tabLst>
                <a:tab algn="l" pos="0"/>
              </a:tabLst>
            </a:pPr>
            <a:r>
              <a:rPr b="1" lang="en-US" sz="181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3</a:t>
            </a:r>
            <a:endParaRPr b="0" lang="en-US" sz="18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33"/>
          <p:cNvSpPr/>
          <p:nvPr/>
        </p:nvSpPr>
        <p:spPr>
          <a:xfrm>
            <a:off x="6191280" y="1933200"/>
            <a:ext cx="23810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1" lang="en-US" sz="88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Regional Expansion</a:t>
            </a:r>
            <a:endParaRPr b="0" lang="en-US" sz="8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34"/>
          <p:cNvSpPr/>
          <p:nvPr/>
        </p:nvSpPr>
        <p:spPr>
          <a:xfrm>
            <a:off x="6191280" y="2151360"/>
            <a:ext cx="23810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901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2025-2026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35"/>
          <p:cNvSpPr/>
          <p:nvPr/>
        </p:nvSpPr>
        <p:spPr>
          <a:xfrm>
            <a:off x="6191280" y="2358360"/>
            <a:ext cx="238104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Neighboring districts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36"/>
          <p:cNvSpPr/>
          <p:nvPr/>
        </p:nvSpPr>
        <p:spPr>
          <a:xfrm>
            <a:off x="6191280" y="2541240"/>
            <a:ext cx="238104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National coverage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7"/>
          <p:cNvSpPr/>
          <p:nvPr/>
        </p:nvSpPr>
        <p:spPr>
          <a:xfrm>
            <a:off x="6191280" y="2724120"/>
            <a:ext cx="238104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Urban-to-rural focus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38"/>
          <p:cNvSpPr/>
          <p:nvPr/>
        </p:nvSpPr>
        <p:spPr>
          <a:xfrm>
            <a:off x="6191280" y="2907000"/>
            <a:ext cx="238104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Autonomous corridors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39"/>
          <p:cNvSpPr/>
          <p:nvPr/>
        </p:nvSpPr>
        <p:spPr>
          <a:xfrm>
            <a:off x="428760" y="4276800"/>
            <a:ext cx="8286480" cy="723600"/>
          </a:xfrm>
          <a:prstGeom prst="rect">
            <a:avLst/>
          </a:prstGeom>
          <a:solidFill>
            <a:srgbClr val="f0f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40"/>
          <p:cNvSpPr/>
          <p:nvPr/>
        </p:nvSpPr>
        <p:spPr>
          <a:xfrm>
            <a:off x="428760" y="4276800"/>
            <a:ext cx="42480" cy="72360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41"/>
          <p:cNvSpPr/>
          <p:nvPr/>
        </p:nvSpPr>
        <p:spPr>
          <a:xfrm>
            <a:off x="6191280" y="2358360"/>
            <a:ext cx="4968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42"/>
          <p:cNvSpPr/>
          <p:nvPr/>
        </p:nvSpPr>
        <p:spPr>
          <a:xfrm>
            <a:off x="6191280" y="2541240"/>
            <a:ext cx="4968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43"/>
          <p:cNvSpPr/>
          <p:nvPr/>
        </p:nvSpPr>
        <p:spPr>
          <a:xfrm>
            <a:off x="6191280" y="2724120"/>
            <a:ext cx="4968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44"/>
          <p:cNvSpPr/>
          <p:nvPr/>
        </p:nvSpPr>
        <p:spPr>
          <a:xfrm>
            <a:off x="6191280" y="2907000"/>
            <a:ext cx="4968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45"/>
          <p:cNvSpPr/>
          <p:nvPr/>
        </p:nvSpPr>
        <p:spPr>
          <a:xfrm>
            <a:off x="542880" y="4390920"/>
            <a:ext cx="805788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🔒 Regulatory Focus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46"/>
          <p:cNvSpPr/>
          <p:nvPr/>
        </p:nvSpPr>
        <p:spPr>
          <a:xfrm>
            <a:off x="542880" y="4646160"/>
            <a:ext cx="8057880" cy="1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Secure necessary BVLOS (Beyond Visual Line of Sight) operational certifications and airspace permits in Bangladesh to enable autonomous drone operations at scale.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Shape 0"/>
          <p:cNvSpPr/>
          <p:nvPr/>
        </p:nvSpPr>
        <p:spPr>
          <a:xfrm>
            <a:off x="428760" y="285840"/>
            <a:ext cx="8286480" cy="98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"/>
          <p:cNvSpPr/>
          <p:nvPr/>
        </p:nvSpPr>
        <p:spPr>
          <a:xfrm>
            <a:off x="428760" y="1240560"/>
            <a:ext cx="8286480" cy="280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6560" bIns="-165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"/>
          <p:cNvSpPr/>
          <p:nvPr/>
        </p:nvSpPr>
        <p:spPr>
          <a:xfrm>
            <a:off x="428760" y="438840"/>
            <a:ext cx="828648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Clear Path to Profitability and Scale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3"/>
          <p:cNvSpPr/>
          <p:nvPr/>
        </p:nvSpPr>
        <p:spPr>
          <a:xfrm>
            <a:off x="428760" y="870120"/>
            <a:ext cx="828648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Conservative projections based on pilot results and market adoption rates.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4"/>
          <p:cNvSpPr/>
          <p:nvPr/>
        </p:nvSpPr>
        <p:spPr>
          <a:xfrm>
            <a:off x="428760" y="1383120"/>
            <a:ext cx="2690280" cy="261000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5"/>
          <p:cNvSpPr/>
          <p:nvPr/>
        </p:nvSpPr>
        <p:spPr>
          <a:xfrm>
            <a:off x="428760" y="1383120"/>
            <a:ext cx="2690280" cy="4248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6"/>
          <p:cNvSpPr/>
          <p:nvPr/>
        </p:nvSpPr>
        <p:spPr>
          <a:xfrm>
            <a:off x="571680" y="1526040"/>
            <a:ext cx="240480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3200"/>
              </a:lnSpc>
              <a:tabLst>
                <a:tab algn="l" pos="0"/>
              </a:tabLst>
            </a:pPr>
            <a:r>
              <a:rPr b="1" lang="en-US" sz="243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1</a:t>
            </a:r>
            <a:endParaRPr b="0" lang="en-US" sz="24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7"/>
          <p:cNvSpPr/>
          <p:nvPr/>
        </p:nvSpPr>
        <p:spPr>
          <a:xfrm>
            <a:off x="571680" y="2035080"/>
            <a:ext cx="240480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Year 1: Foundation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8"/>
          <p:cNvSpPr/>
          <p:nvPr/>
        </p:nvSpPr>
        <p:spPr>
          <a:xfrm>
            <a:off x="571680" y="2261880"/>
            <a:ext cx="2404800" cy="249840"/>
          </a:xfrm>
          <a:prstGeom prst="rect">
            <a:avLst/>
          </a:prstGeom>
          <a:solidFill>
            <a:srgbClr val="ffe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9"/>
          <p:cNvSpPr/>
          <p:nvPr/>
        </p:nvSpPr>
        <p:spPr>
          <a:xfrm>
            <a:off x="571680" y="2261880"/>
            <a:ext cx="240480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2240" rIns="102240" tIns="57600" bIns="57600" anchor="t">
            <a:spAutoFit/>
          </a:bodyPr>
          <a:p>
            <a:pPr algn="ctr" defTabSz="914400">
              <a:lnSpc>
                <a:spcPts val="901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c41e3a"/>
                </a:solidFill>
                <a:effectLst/>
                <a:uFillTx/>
                <a:latin typeface="Calibri"/>
              </a:rPr>
              <a:t>No Revenue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0"/>
          <p:cNvSpPr/>
          <p:nvPr/>
        </p:nvSpPr>
        <p:spPr>
          <a:xfrm>
            <a:off x="571680" y="2583360"/>
            <a:ext cx="240480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0" lang="en-US" sz="67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R&amp;D and prototype development</a:t>
            </a:r>
            <a:endParaRPr b="0" lang="en-US" sz="6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1"/>
          <p:cNvSpPr/>
          <p:nvPr/>
        </p:nvSpPr>
        <p:spPr>
          <a:xfrm>
            <a:off x="571680" y="2756160"/>
            <a:ext cx="240480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0" lang="en-US" sz="67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Drone testing and refinement</a:t>
            </a:r>
            <a:endParaRPr b="0" lang="en-US" sz="6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2"/>
          <p:cNvSpPr/>
          <p:nvPr/>
        </p:nvSpPr>
        <p:spPr>
          <a:xfrm>
            <a:off x="571680" y="2929320"/>
            <a:ext cx="240480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0" lang="en-US" sz="67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Regulatory clearance pursuit</a:t>
            </a:r>
            <a:endParaRPr b="0" lang="en-US" sz="6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3"/>
          <p:cNvSpPr/>
          <p:nvPr/>
        </p:nvSpPr>
        <p:spPr>
          <a:xfrm>
            <a:off x="571680" y="3102120"/>
            <a:ext cx="240480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0" lang="en-US" sz="67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Operational piloting</a:t>
            </a:r>
            <a:endParaRPr b="0" lang="en-US" sz="6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4"/>
          <p:cNvSpPr/>
          <p:nvPr/>
        </p:nvSpPr>
        <p:spPr>
          <a:xfrm>
            <a:off x="3226680" y="1383120"/>
            <a:ext cx="2690640" cy="261000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5"/>
          <p:cNvSpPr/>
          <p:nvPr/>
        </p:nvSpPr>
        <p:spPr>
          <a:xfrm>
            <a:off x="3226680" y="1383120"/>
            <a:ext cx="2690640" cy="4248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6"/>
          <p:cNvSpPr/>
          <p:nvPr/>
        </p:nvSpPr>
        <p:spPr>
          <a:xfrm>
            <a:off x="571680" y="2583360"/>
            <a:ext cx="4608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1" lang="en-US" sz="6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7"/>
          <p:cNvSpPr/>
          <p:nvPr/>
        </p:nvSpPr>
        <p:spPr>
          <a:xfrm>
            <a:off x="571680" y="2756160"/>
            <a:ext cx="4608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1" lang="en-US" sz="6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8"/>
          <p:cNvSpPr/>
          <p:nvPr/>
        </p:nvSpPr>
        <p:spPr>
          <a:xfrm>
            <a:off x="571680" y="2929320"/>
            <a:ext cx="4608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1" lang="en-US" sz="6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9"/>
          <p:cNvSpPr/>
          <p:nvPr/>
        </p:nvSpPr>
        <p:spPr>
          <a:xfrm>
            <a:off x="571680" y="3102120"/>
            <a:ext cx="4608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1" lang="en-US" sz="6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20"/>
          <p:cNvSpPr/>
          <p:nvPr/>
        </p:nvSpPr>
        <p:spPr>
          <a:xfrm>
            <a:off x="3369600" y="1526040"/>
            <a:ext cx="240480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3200"/>
              </a:lnSpc>
              <a:tabLst>
                <a:tab algn="l" pos="0"/>
              </a:tabLst>
            </a:pPr>
            <a:r>
              <a:rPr b="1" lang="en-US" sz="243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2</a:t>
            </a:r>
            <a:endParaRPr b="0" lang="en-US" sz="24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21"/>
          <p:cNvSpPr/>
          <p:nvPr/>
        </p:nvSpPr>
        <p:spPr>
          <a:xfrm>
            <a:off x="3369600" y="2035080"/>
            <a:ext cx="240480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Year 2: Launch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22"/>
          <p:cNvSpPr/>
          <p:nvPr/>
        </p:nvSpPr>
        <p:spPr>
          <a:xfrm>
            <a:off x="3369600" y="2261880"/>
            <a:ext cx="2404800" cy="249840"/>
          </a:xfrm>
          <a:prstGeom prst="rect">
            <a:avLst/>
          </a:prstGeom>
          <a:solidFill>
            <a:srgbClr val="e0f2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23"/>
          <p:cNvSpPr/>
          <p:nvPr/>
        </p:nvSpPr>
        <p:spPr>
          <a:xfrm>
            <a:off x="3369600" y="2261880"/>
            <a:ext cx="240480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2240" rIns="102240" tIns="57600" bIns="57600" anchor="t">
            <a:spAutoFit/>
          </a:bodyPr>
          <a:p>
            <a:pPr algn="ctr" defTabSz="914400">
              <a:lnSpc>
                <a:spcPts val="901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Revenue Begins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24"/>
          <p:cNvSpPr/>
          <p:nvPr/>
        </p:nvSpPr>
        <p:spPr>
          <a:xfrm>
            <a:off x="3369600" y="2583360"/>
            <a:ext cx="240480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0" lang="en-US" sz="67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SME logistics contracts</a:t>
            </a:r>
            <a:endParaRPr b="0" lang="en-US" sz="6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5"/>
          <p:cNvSpPr/>
          <p:nvPr/>
        </p:nvSpPr>
        <p:spPr>
          <a:xfrm>
            <a:off x="3369600" y="2756160"/>
            <a:ext cx="240480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0" lang="en-US" sz="67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Cold-chain delivery services</a:t>
            </a:r>
            <a:endParaRPr b="0" lang="en-US" sz="6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26"/>
          <p:cNvSpPr/>
          <p:nvPr/>
        </p:nvSpPr>
        <p:spPr>
          <a:xfrm>
            <a:off x="3369600" y="2929320"/>
            <a:ext cx="240480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0" lang="en-US" sz="67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Campus cargo corridors</a:t>
            </a:r>
            <a:endParaRPr b="0" lang="en-US" sz="6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27"/>
          <p:cNvSpPr/>
          <p:nvPr/>
        </p:nvSpPr>
        <p:spPr>
          <a:xfrm>
            <a:off x="3369600" y="3102120"/>
            <a:ext cx="240480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0" lang="en-US" sz="67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Initial partner onboarding</a:t>
            </a:r>
            <a:endParaRPr b="0" lang="en-US" sz="6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28"/>
          <p:cNvSpPr/>
          <p:nvPr/>
        </p:nvSpPr>
        <p:spPr>
          <a:xfrm>
            <a:off x="6024600" y="1383120"/>
            <a:ext cx="2690280" cy="261000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29"/>
          <p:cNvSpPr/>
          <p:nvPr/>
        </p:nvSpPr>
        <p:spPr>
          <a:xfrm>
            <a:off x="6024600" y="1383120"/>
            <a:ext cx="2690280" cy="4248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30"/>
          <p:cNvSpPr/>
          <p:nvPr/>
        </p:nvSpPr>
        <p:spPr>
          <a:xfrm>
            <a:off x="3369600" y="2583360"/>
            <a:ext cx="4608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1" lang="en-US" sz="6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31"/>
          <p:cNvSpPr/>
          <p:nvPr/>
        </p:nvSpPr>
        <p:spPr>
          <a:xfrm>
            <a:off x="3369600" y="2756160"/>
            <a:ext cx="4608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1" lang="en-US" sz="6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32"/>
          <p:cNvSpPr/>
          <p:nvPr/>
        </p:nvSpPr>
        <p:spPr>
          <a:xfrm>
            <a:off x="3369600" y="2929320"/>
            <a:ext cx="4608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1" lang="en-US" sz="6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33"/>
          <p:cNvSpPr/>
          <p:nvPr/>
        </p:nvSpPr>
        <p:spPr>
          <a:xfrm>
            <a:off x="3369600" y="3102120"/>
            <a:ext cx="4608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1" lang="en-US" sz="6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34"/>
          <p:cNvSpPr/>
          <p:nvPr/>
        </p:nvSpPr>
        <p:spPr>
          <a:xfrm>
            <a:off x="6167520" y="1526040"/>
            <a:ext cx="240480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3200"/>
              </a:lnSpc>
              <a:tabLst>
                <a:tab algn="l" pos="0"/>
              </a:tabLst>
            </a:pPr>
            <a:r>
              <a:rPr b="1" lang="en-US" sz="243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3</a:t>
            </a:r>
            <a:endParaRPr b="0" lang="en-US" sz="24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35"/>
          <p:cNvSpPr/>
          <p:nvPr/>
        </p:nvSpPr>
        <p:spPr>
          <a:xfrm>
            <a:off x="6167520" y="2035080"/>
            <a:ext cx="240480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Year 3: Scale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36"/>
          <p:cNvSpPr/>
          <p:nvPr/>
        </p:nvSpPr>
        <p:spPr>
          <a:xfrm>
            <a:off x="6167520" y="2261880"/>
            <a:ext cx="2404800" cy="249840"/>
          </a:xfrm>
          <a:prstGeom prst="rect">
            <a:avLst/>
          </a:prstGeom>
          <a:solidFill>
            <a:srgbClr val="e0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37"/>
          <p:cNvSpPr/>
          <p:nvPr/>
        </p:nvSpPr>
        <p:spPr>
          <a:xfrm>
            <a:off x="6167520" y="2261880"/>
            <a:ext cx="240480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2240" rIns="102240" tIns="57600" bIns="57600" anchor="t">
            <a:spAutoFit/>
          </a:bodyPr>
          <a:p>
            <a:pPr algn="ctr" defTabSz="914400">
              <a:lnSpc>
                <a:spcPts val="901"/>
              </a:lnSpc>
              <a:tabLst>
                <a:tab algn="l" pos="0"/>
              </a:tabLst>
            </a:pPr>
            <a:r>
              <a:rPr b="1" lang="en-US" sz="69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Commercial Scale-Up</a:t>
            </a:r>
            <a:endParaRPr b="0" lang="en-US" sz="6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38"/>
          <p:cNvSpPr/>
          <p:nvPr/>
        </p:nvSpPr>
        <p:spPr>
          <a:xfrm>
            <a:off x="6167520" y="2583360"/>
            <a:ext cx="240480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0" lang="en-US" sz="67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Expanded fleet deployment</a:t>
            </a:r>
            <a:endParaRPr b="0" lang="en-US" sz="6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39"/>
          <p:cNvSpPr/>
          <p:nvPr/>
        </p:nvSpPr>
        <p:spPr>
          <a:xfrm>
            <a:off x="6167520" y="2756160"/>
            <a:ext cx="240480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0" lang="en-US" sz="67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Multi-district operations</a:t>
            </a:r>
            <a:endParaRPr b="0" lang="en-US" sz="6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40"/>
          <p:cNvSpPr/>
          <p:nvPr/>
        </p:nvSpPr>
        <p:spPr>
          <a:xfrm>
            <a:off x="6167520" y="2929320"/>
            <a:ext cx="240480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0" lang="en-US" sz="67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Autonomous drone corridors</a:t>
            </a:r>
            <a:endParaRPr b="0" lang="en-US" sz="6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41"/>
          <p:cNvSpPr/>
          <p:nvPr/>
        </p:nvSpPr>
        <p:spPr>
          <a:xfrm>
            <a:off x="6167520" y="3102120"/>
            <a:ext cx="240480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3608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0" lang="en-US" sz="67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Regional market dominance</a:t>
            </a:r>
            <a:endParaRPr b="0" lang="en-US" sz="6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42"/>
          <p:cNvSpPr/>
          <p:nvPr/>
        </p:nvSpPr>
        <p:spPr>
          <a:xfrm>
            <a:off x="428760" y="4136760"/>
            <a:ext cx="8286480" cy="863640"/>
          </a:xfrm>
          <a:prstGeom prst="rect">
            <a:avLst/>
          </a:prstGeom>
          <a:solidFill>
            <a:srgbClr val="f0f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43"/>
          <p:cNvSpPr/>
          <p:nvPr/>
        </p:nvSpPr>
        <p:spPr>
          <a:xfrm>
            <a:off x="428760" y="4136760"/>
            <a:ext cx="42480" cy="86364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44"/>
          <p:cNvSpPr/>
          <p:nvPr/>
        </p:nvSpPr>
        <p:spPr>
          <a:xfrm>
            <a:off x="6167520" y="2583360"/>
            <a:ext cx="4608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1" lang="en-US" sz="6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45"/>
          <p:cNvSpPr/>
          <p:nvPr/>
        </p:nvSpPr>
        <p:spPr>
          <a:xfrm>
            <a:off x="6167520" y="2756160"/>
            <a:ext cx="4608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1" lang="en-US" sz="6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46"/>
          <p:cNvSpPr/>
          <p:nvPr/>
        </p:nvSpPr>
        <p:spPr>
          <a:xfrm>
            <a:off x="6167520" y="2929320"/>
            <a:ext cx="4608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1" lang="en-US" sz="6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47"/>
          <p:cNvSpPr/>
          <p:nvPr/>
        </p:nvSpPr>
        <p:spPr>
          <a:xfrm>
            <a:off x="6167520" y="3102120"/>
            <a:ext cx="4608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001"/>
              </a:lnSpc>
              <a:tabLst>
                <a:tab algn="l" pos="0"/>
              </a:tabLst>
            </a:pPr>
            <a:r>
              <a:rPr b="1" lang="en-US" sz="6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▸</a:t>
            </a:r>
            <a:endParaRPr b="0" lang="en-US" sz="6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48"/>
          <p:cNvSpPr/>
          <p:nvPr/>
        </p:nvSpPr>
        <p:spPr>
          <a:xfrm>
            <a:off x="542880" y="4250880"/>
            <a:ext cx="805788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📈 Current Traction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49"/>
          <p:cNvSpPr/>
          <p:nvPr/>
        </p:nvSpPr>
        <p:spPr>
          <a:xfrm>
            <a:off x="542880" y="4506480"/>
            <a:ext cx="805788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Successful prototype demonstrations, regulatory engagement with Bangladesh aviation authorities, partnerships with Pabna University of Science and Technology, and strong market validation through SME pilot interest.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31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3" name="Shape 0"/>
          <p:cNvSpPr/>
          <p:nvPr/>
        </p:nvSpPr>
        <p:spPr>
          <a:xfrm>
            <a:off x="428760" y="285840"/>
            <a:ext cx="8286480" cy="98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"/>
          <p:cNvSpPr/>
          <p:nvPr/>
        </p:nvSpPr>
        <p:spPr>
          <a:xfrm>
            <a:off x="428760" y="1240560"/>
            <a:ext cx="8286480" cy="280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6560" bIns="-165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2"/>
          <p:cNvSpPr/>
          <p:nvPr/>
        </p:nvSpPr>
        <p:spPr>
          <a:xfrm>
            <a:off x="428760" y="438840"/>
            <a:ext cx="828648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Our Ask: Accelerating Market Leadership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3"/>
          <p:cNvSpPr/>
          <p:nvPr/>
        </p:nvSpPr>
        <p:spPr>
          <a:xfrm>
            <a:off x="428760" y="870120"/>
            <a:ext cx="828648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98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Seeking 10 Million BDT to complete the prototype and launch the pilot program.</a:t>
            </a:r>
            <a:endParaRPr b="0" lang="en-US" sz="9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4"/>
          <p:cNvSpPr/>
          <p:nvPr/>
        </p:nvSpPr>
        <p:spPr>
          <a:xfrm>
            <a:off x="428760" y="2183040"/>
            <a:ext cx="396432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4099"/>
              </a:lnSpc>
              <a:tabLst>
                <a:tab algn="l" pos="0"/>
              </a:tabLst>
            </a:pPr>
            <a:r>
              <a:rPr b="1" lang="en-US" sz="373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10</a:t>
            </a:r>
            <a:endParaRPr b="0" lang="en-US" sz="3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5"/>
          <p:cNvSpPr/>
          <p:nvPr/>
        </p:nvSpPr>
        <p:spPr>
          <a:xfrm>
            <a:off x="428760" y="2782800"/>
            <a:ext cx="39643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1" lang="en-US" sz="139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Million BDT</a:t>
            </a:r>
            <a:endParaRPr b="0" lang="en-US" sz="13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6"/>
          <p:cNvSpPr/>
          <p:nvPr/>
        </p:nvSpPr>
        <p:spPr>
          <a:xfrm>
            <a:off x="428760" y="3313440"/>
            <a:ext cx="396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0" lang="en-US" sz="839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This capital directly funds our path to market leadership, positioning GreenLift AI as the definitive SME drone delivery platform in South Asia.</a:t>
            </a:r>
            <a:endParaRPr b="0" lang="en-US" sz="83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7"/>
          <p:cNvSpPr/>
          <p:nvPr/>
        </p:nvSpPr>
        <p:spPr>
          <a:xfrm>
            <a:off x="428760" y="3822120"/>
            <a:ext cx="3964320" cy="594000"/>
          </a:xfrm>
          <a:prstGeom prst="rect">
            <a:avLst/>
          </a:prstGeom>
          <a:solidFill>
            <a:srgbClr val="f0f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8"/>
          <p:cNvSpPr/>
          <p:nvPr/>
        </p:nvSpPr>
        <p:spPr>
          <a:xfrm>
            <a:off x="428760" y="3822120"/>
            <a:ext cx="42480" cy="594000"/>
          </a:xfrm>
          <a:prstGeom prst="rect">
            <a:avLst/>
          </a:prstGeom>
          <a:solidFill>
            <a:srgbClr val="2979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9"/>
          <p:cNvSpPr/>
          <p:nvPr/>
        </p:nvSpPr>
        <p:spPr>
          <a:xfrm>
            <a:off x="428760" y="3822120"/>
            <a:ext cx="3964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6080" rIns="136080" tIns="136080" bIns="136080" anchor="t">
            <a:spAutoFit/>
          </a:bodyPr>
          <a:p>
            <a:pPr defTabSz="914400">
              <a:lnSpc>
                <a:spcPts val="14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Return on Investment: Clear path to profitability by Year 2, with multi-district autonomous drone corridors by Year 3.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10"/>
          <p:cNvSpPr/>
          <p:nvPr/>
        </p:nvSpPr>
        <p:spPr>
          <a:xfrm>
            <a:off x="4750560" y="1454760"/>
            <a:ext cx="1928520" cy="171576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11"/>
          <p:cNvSpPr/>
          <p:nvPr/>
        </p:nvSpPr>
        <p:spPr>
          <a:xfrm>
            <a:off x="4750560" y="1454760"/>
            <a:ext cx="1928520" cy="424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2"/>
          <p:cNvSpPr/>
          <p:nvPr/>
        </p:nvSpPr>
        <p:spPr>
          <a:xfrm>
            <a:off x="4893480" y="1597680"/>
            <a:ext cx="164268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40%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3"/>
          <p:cNvSpPr/>
          <p:nvPr/>
        </p:nvSpPr>
        <p:spPr>
          <a:xfrm>
            <a:off x="4893480" y="1967400"/>
            <a:ext cx="164268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Prototype Completion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4"/>
          <p:cNvSpPr/>
          <p:nvPr/>
        </p:nvSpPr>
        <p:spPr>
          <a:xfrm>
            <a:off x="4893480" y="2279880"/>
            <a:ext cx="1642680" cy="4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Hardware integration, software refinement, and final testing to achieve production-ready systems.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15"/>
          <p:cNvSpPr/>
          <p:nvPr/>
        </p:nvSpPr>
        <p:spPr>
          <a:xfrm>
            <a:off x="6786720" y="1454760"/>
            <a:ext cx="1928520" cy="171576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16"/>
          <p:cNvSpPr/>
          <p:nvPr/>
        </p:nvSpPr>
        <p:spPr>
          <a:xfrm>
            <a:off x="6786720" y="1454760"/>
            <a:ext cx="1928520" cy="424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7"/>
          <p:cNvSpPr/>
          <p:nvPr/>
        </p:nvSpPr>
        <p:spPr>
          <a:xfrm>
            <a:off x="6929280" y="1597680"/>
            <a:ext cx="164268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30%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8"/>
          <p:cNvSpPr/>
          <p:nvPr/>
        </p:nvSpPr>
        <p:spPr>
          <a:xfrm>
            <a:off x="6929280" y="1967400"/>
            <a:ext cx="16426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Regulatory Approval &amp; Field Testing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9"/>
          <p:cNvSpPr/>
          <p:nvPr/>
        </p:nvSpPr>
        <p:spPr>
          <a:xfrm>
            <a:off x="6929280" y="2435040"/>
            <a:ext cx="1642680" cy="4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Airspace permits, BVLOS certifications, and real-world validation with regulatory bodies.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20"/>
          <p:cNvSpPr/>
          <p:nvPr/>
        </p:nvSpPr>
        <p:spPr>
          <a:xfrm>
            <a:off x="4750560" y="3235320"/>
            <a:ext cx="1928520" cy="1865880"/>
          </a:xfrm>
          <a:prstGeom prst="rect">
            <a:avLst/>
          </a:prstGeom>
          <a:solidFill>
            <a:srgbClr val="f5f5f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21"/>
          <p:cNvSpPr/>
          <p:nvPr/>
        </p:nvSpPr>
        <p:spPr>
          <a:xfrm>
            <a:off x="4750560" y="3235320"/>
            <a:ext cx="1928520" cy="42480"/>
          </a:xfrm>
          <a:prstGeom prst="rect">
            <a:avLst/>
          </a:prstGeom>
          <a:solidFill>
            <a:srgbClr val="00c8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22"/>
          <p:cNvSpPr/>
          <p:nvPr/>
        </p:nvSpPr>
        <p:spPr>
          <a:xfrm>
            <a:off x="4893480" y="3378240"/>
            <a:ext cx="164268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30%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23"/>
          <p:cNvSpPr/>
          <p:nvPr/>
        </p:nvSpPr>
        <p:spPr>
          <a:xfrm>
            <a:off x="4893480" y="3747960"/>
            <a:ext cx="16426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Pilot Launch &amp; Team Expansion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24"/>
          <p:cNvSpPr/>
          <p:nvPr/>
        </p:nvSpPr>
        <p:spPr>
          <a:xfrm>
            <a:off x="4893480" y="4215600"/>
            <a:ext cx="1642680" cy="5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99"/>
              </a:lnSpc>
              <a:tabLst>
                <a:tab algn="l" pos="0"/>
              </a:tabLst>
            </a:pPr>
            <a:r>
              <a:rPr b="0" lang="en-US" sz="730" strike="noStrike" u="none">
                <a:solidFill>
                  <a:srgbClr val="2e4045"/>
                </a:solidFill>
                <a:effectLst/>
                <a:uFillTx/>
                <a:latin typeface="Calibri"/>
              </a:rPr>
              <a:t>Drone deployment in Pabna district, 50 SME partner onboarding, and initial team expansion.</a:t>
            </a:r>
            <a:endParaRPr b="0" lang="en-US" sz="7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9" name="Shape 0"/>
          <p:cNvSpPr/>
          <p:nvPr/>
        </p:nvSpPr>
        <p:spPr>
          <a:xfrm>
            <a:off x="0" y="0"/>
            <a:ext cx="4571640" cy="5143320"/>
          </a:xfrm>
          <a:prstGeom prst="rect">
            <a:avLst/>
          </a:prstGeom>
          <a:solidFill>
            <a:srgbClr val="2e404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0" name="Image 1" descr="preencoded.png"/>
          <p:cNvPicPr/>
          <p:nvPr/>
        </p:nvPicPr>
        <p:blipFill>
          <a:blip r:embed="rId2"/>
          <a:stretch/>
        </p:blipFill>
        <p:spPr>
          <a:xfrm>
            <a:off x="1204200" y="1041120"/>
            <a:ext cx="642600" cy="428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1" name="Text 1"/>
          <p:cNvSpPr/>
          <p:nvPr/>
        </p:nvSpPr>
        <p:spPr>
          <a:xfrm>
            <a:off x="1990080" y="1099080"/>
            <a:ext cx="137736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GreenLift AI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"/>
          <p:cNvSpPr/>
          <p:nvPr/>
        </p:nvSpPr>
        <p:spPr>
          <a:xfrm>
            <a:off x="285840" y="1985040"/>
            <a:ext cx="40003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200"/>
              </a:lnSpc>
              <a:tabLst>
                <a:tab algn="l" pos="0"/>
              </a:tabLst>
            </a:pPr>
            <a:r>
              <a:rPr b="1" lang="en-US" sz="243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Join the Green Logistics Revolution</a:t>
            </a:r>
            <a:endParaRPr b="0" lang="en-US" sz="24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3"/>
          <p:cNvSpPr/>
          <p:nvPr/>
        </p:nvSpPr>
        <p:spPr>
          <a:xfrm>
            <a:off x="857160" y="3151080"/>
            <a:ext cx="28573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599"/>
              </a:lnSpc>
              <a:tabLst>
                <a:tab algn="l" pos="0"/>
              </a:tabLst>
            </a:pPr>
            <a:r>
              <a:rPr b="0" lang="en-US" sz="939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Transform the future of SME logistics together. Invest in GreenLift AI and empower millions of SMEs with sustainable, intelligent delivery solutions.</a:t>
            </a:r>
            <a:endParaRPr b="0" lang="en-US" sz="939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4" name="Image 2" descr="preencoded.png"/>
          <p:cNvPicPr/>
          <p:nvPr/>
        </p:nvPicPr>
        <p:blipFill>
          <a:blip r:embed="rId3"/>
          <a:stretch/>
        </p:blipFill>
        <p:spPr>
          <a:xfrm>
            <a:off x="6172200" y="491040"/>
            <a:ext cx="1371240" cy="137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5" name="Text 4"/>
          <p:cNvSpPr/>
          <p:nvPr/>
        </p:nvSpPr>
        <p:spPr>
          <a:xfrm>
            <a:off x="6111720" y="2077200"/>
            <a:ext cx="1492200" cy="3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ts val="22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Arman Islam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5"/>
          <p:cNvSpPr/>
          <p:nvPr/>
        </p:nvSpPr>
        <p:spPr>
          <a:xfrm>
            <a:off x="6055560" y="2446560"/>
            <a:ext cx="160416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ts val="1199"/>
              </a:lnSpc>
              <a:tabLst>
                <a:tab algn="l" pos="0"/>
              </a:tabLst>
            </a:pPr>
            <a:r>
              <a:rPr b="1" lang="en-US" sz="880" strike="noStrike" u="none">
                <a:solidFill>
                  <a:srgbClr val="00c853"/>
                </a:solidFill>
                <a:effectLst/>
                <a:uFillTx/>
                <a:latin typeface="Calibri"/>
              </a:rPr>
              <a:t>Founder &amp; Technical Lead</a:t>
            </a:r>
            <a:endParaRPr b="0" lang="en-US" sz="8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6"/>
          <p:cNvSpPr/>
          <p:nvPr/>
        </p:nvSpPr>
        <p:spPr>
          <a:xfrm>
            <a:off x="6082920" y="2836080"/>
            <a:ext cx="1549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7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Email: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armanislam527@gmail.com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7"/>
          <p:cNvSpPr/>
          <p:nvPr/>
        </p:nvSpPr>
        <p:spPr>
          <a:xfrm>
            <a:off x="6082920" y="3232440"/>
            <a:ext cx="1549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7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Phone: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+880 152 175 1005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8"/>
          <p:cNvSpPr/>
          <p:nvPr/>
        </p:nvSpPr>
        <p:spPr>
          <a:xfrm>
            <a:off x="6082920" y="3629160"/>
            <a:ext cx="1549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790" strike="noStrike" u="none">
                <a:solidFill>
                  <a:srgbClr val="1a2e35"/>
                </a:solidFill>
                <a:effectLst/>
                <a:uFillTx/>
                <a:latin typeface="Calibri"/>
              </a:rPr>
              <a:t>Portfolio: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2979ff"/>
                </a:solidFill>
                <a:effectLst/>
                <a:uFillTx/>
                <a:latin typeface="Calibri"/>
              </a:rPr>
              <a:t>cv-of-arman.netlify.app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9"/>
          <p:cNvSpPr/>
          <p:nvPr/>
        </p:nvSpPr>
        <p:spPr>
          <a:xfrm>
            <a:off x="6152760" y="4154040"/>
            <a:ext cx="1409760" cy="354960"/>
          </a:xfrm>
          <a:prstGeom prst="rect">
            <a:avLst/>
          </a:prstGeom>
          <a:solidFill>
            <a:srgbClr val="2979ff"/>
          </a:solidFill>
          <a:ln w="18288">
            <a:solidFill>
              <a:srgbClr val="2979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0"/>
          <p:cNvSpPr/>
          <p:nvPr/>
        </p:nvSpPr>
        <p:spPr>
          <a:xfrm>
            <a:off x="6152760" y="4154040"/>
            <a:ext cx="1409760" cy="35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4120" rIns="204120" tIns="70200" bIns="70200" anchor="t">
            <a:spAutoFit/>
          </a:bodyPr>
          <a:p>
            <a:pPr defTabSz="914400">
              <a:lnSpc>
                <a:spcPts val="1100"/>
              </a:lnSpc>
              <a:tabLst>
                <a:tab algn="l" pos="0"/>
              </a:tabLst>
            </a:pPr>
            <a:r>
              <a:rPr b="1" lang="en-US" sz="79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View Full Portfolio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LibreOffice/25.8.2.2$Linux_X86_64 LibreOffice_project/580$Build-2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2025-12-01T18:20:15Z</dcterms:created>
  <dc:creator>PptxGenJS</dc:creator>
  <dc:description/>
  <dc:language>en-US</dc:language>
  <cp:lastModifiedBy/>
  <cp:lastPrinted>2025-12-02T00:25:43Z</cp:lastPrinted>
  <dcterms:modified xsi:type="dcterms:W3CDTF">2025-12-02T00:26:50Z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