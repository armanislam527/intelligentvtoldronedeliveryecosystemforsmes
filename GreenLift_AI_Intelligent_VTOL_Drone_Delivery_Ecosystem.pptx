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8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1C3CE6C-3B83-4DFC-8190-B162CB2FA8A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9A62967-196B-47AB-AB71-148773B4011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898DF86-8179-465A-BD2B-3002EDE671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CD603E1-5723-44A2-BA3C-1509EF041A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C3510D5-C6F1-4540-9DAE-D7D4EB385F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4BEF164-1444-4F6D-8DE5-C765B72235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D7580E9-4A74-44E9-BDDB-D7C186FA74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BFC5646-B1C4-4AD1-82E5-A69E0951DC1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2CEE9F0-9D06-4884-837A-078CE240D4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BA225D5-20A5-4154-8259-451637FE86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B1DD0EF-41A0-45BF-BC8D-43D0B13D59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CB76D7D-58C9-4975-8BFD-F7874432A5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FAD4343-D4CB-4BF1-BB4C-8F44D8A550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DCC73E5-7458-4A4A-8E31-C8DA3D599A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877DF37-4D52-432E-8FAB-9D2022B2DA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863C58E-3174-40AB-9771-0F8FDC5BDF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7C0F3EC-9BE5-4206-A0AB-3DA38F2D4E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3"/>
          <a:stretch/>
        </p:blipFill>
        <p:spPr>
          <a:xfrm>
            <a:off x="720" y="64980"/>
            <a:ext cx="9143280" cy="533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Text 1"/>
          <p:cNvSpPr/>
          <p:nvPr/>
        </p:nvSpPr>
        <p:spPr>
          <a:xfrm>
            <a:off x="301924" y="423477"/>
            <a:ext cx="8540150" cy="242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ts val="1701"/>
              </a:lnSpc>
              <a:tabLst>
                <a:tab pos="0" algn="l"/>
              </a:tabLst>
            </a:pPr>
            <a:r>
              <a:rPr lang="en-US" sz="2400" b="1" u="none" strike="noStrike" dirty="0" err="1">
                <a:solidFill>
                  <a:srgbClr val="000000"/>
                </a:solidFill>
                <a:effectLst/>
                <a:uFillTx/>
                <a:latin typeface="Calibri"/>
              </a:rPr>
              <a:t>GreenLift</a:t>
            </a:r>
            <a:r>
              <a:rPr lang="en-US" sz="2400" b="1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 AI</a:t>
            </a:r>
            <a:r>
              <a:rPr lang="en-US" sz="2400" dirty="0">
                <a:solidFill>
                  <a:srgbClr val="000000"/>
                </a:solidFill>
                <a:latin typeface="Arial"/>
              </a:rPr>
              <a:t>: </a:t>
            </a:r>
            <a:r>
              <a:rPr lang="en-US" sz="2400" b="0" u="none" strike="noStrike" dirty="0">
                <a:solidFill>
                  <a:srgbClr val="1A1A1A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Intelligent VTOL Drone Delivery Ecosystem for SMEs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2"/>
          <p:cNvSpPr/>
          <p:nvPr/>
        </p:nvSpPr>
        <p:spPr>
          <a:xfrm>
            <a:off x="1581069" y="713579"/>
            <a:ext cx="6613900" cy="1846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914400"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1A1A1A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Transforming Last-Mile Logistics and Business Intelligence for 10 Million SMEs in Bangladesh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1" descr="preencoded.png"/>
          <p:cNvPicPr/>
          <p:nvPr/>
        </p:nvPicPr>
        <p:blipFill>
          <a:blip r:embed="rId4"/>
          <a:stretch/>
        </p:blipFill>
        <p:spPr>
          <a:xfrm>
            <a:off x="1978183" y="985206"/>
            <a:ext cx="5187634" cy="275014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Shape 4"/>
          <p:cNvSpPr/>
          <p:nvPr/>
        </p:nvSpPr>
        <p:spPr>
          <a:xfrm>
            <a:off x="485640" y="3343320"/>
            <a:ext cx="8171640" cy="173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5"/>
          <p:cNvSpPr/>
          <p:nvPr/>
        </p:nvSpPr>
        <p:spPr>
          <a:xfrm>
            <a:off x="485640" y="3791894"/>
            <a:ext cx="817164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6"/>
          <p:cNvSpPr/>
          <p:nvPr/>
        </p:nvSpPr>
        <p:spPr>
          <a:xfrm>
            <a:off x="485640" y="3899172"/>
            <a:ext cx="1299960" cy="345600"/>
          </a:xfrm>
          <a:prstGeom prst="rect">
            <a:avLst/>
          </a:prstGeom>
          <a:solidFill>
            <a:srgbClr val="FF5F1F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7"/>
          <p:cNvSpPr/>
          <p:nvPr/>
        </p:nvSpPr>
        <p:spPr>
          <a:xfrm>
            <a:off x="485640" y="3907792"/>
            <a:ext cx="1299960" cy="3087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7440" tIns="76680" rIns="127440" bIns="7668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TEAM PHANTOM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8"/>
          <p:cNvSpPr/>
          <p:nvPr/>
        </p:nvSpPr>
        <p:spPr>
          <a:xfrm>
            <a:off x="485640" y="4298083"/>
            <a:ext cx="3978360" cy="2578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1" u="none" strike="noStrike" dirty="0">
                <a:solidFill>
                  <a:srgbClr val="FF5F1F"/>
                </a:solidFill>
                <a:effectLst/>
                <a:uFillTx/>
                <a:latin typeface="Calibri"/>
              </a:rPr>
              <a:t>CONTACT: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armanislam527@gmail.com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9"/>
          <p:cNvSpPr/>
          <p:nvPr/>
        </p:nvSpPr>
        <p:spPr>
          <a:xfrm>
            <a:off x="485640" y="4647042"/>
            <a:ext cx="3978360" cy="2578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1" u="none" strike="noStrike" dirty="0">
                <a:solidFill>
                  <a:srgbClr val="FF5F1F"/>
                </a:solidFill>
                <a:effectLst/>
                <a:uFillTx/>
                <a:latin typeface="Calibri"/>
              </a:rPr>
              <a:t>PHONE: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+8801521751005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0"/>
          <p:cNvSpPr/>
          <p:nvPr/>
        </p:nvSpPr>
        <p:spPr>
          <a:xfrm>
            <a:off x="485640" y="4961476"/>
            <a:ext cx="39783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690" b="1" u="none" strike="noStrike" dirty="0">
                <a:solidFill>
                  <a:srgbClr val="FF5F1F"/>
                </a:solidFill>
                <a:effectLst/>
                <a:uFillTx/>
                <a:latin typeface="Calibri"/>
              </a:rPr>
              <a:t>PROJECT PORTFOLIO:</a:t>
            </a:r>
            <a:endParaRPr lang="en-US" sz="69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790" b="1" u="none" strike="noStrike" dirty="0">
                <a:solidFill>
                  <a:srgbClr val="0047AB"/>
                </a:solidFill>
                <a:effectLst/>
                <a:uFillTx/>
                <a:latin typeface="Calibri"/>
              </a:rPr>
              <a:t>https://armanislam527.github.io/IntelligentVTOLDroneDeliveryEcosystemForSMEs/</a:t>
            </a:r>
            <a:endParaRPr lang="en-US" sz="79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Image 2" descr="preencoded.png"/>
          <p:cNvPicPr/>
          <p:nvPr/>
        </p:nvPicPr>
        <p:blipFill>
          <a:blip r:embed="rId5"/>
          <a:stretch/>
        </p:blipFill>
        <p:spPr>
          <a:xfrm>
            <a:off x="7800839" y="4164840"/>
            <a:ext cx="1041235" cy="9786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0" descr="preencoded.png"/>
          <p:cNvPicPr/>
          <p:nvPr/>
        </p:nvPicPr>
        <p:blipFill>
          <a:blip r:embed="rId3"/>
          <a:stretch/>
        </p:blipFill>
        <p:spPr>
          <a:xfrm>
            <a:off x="-2202" y="0"/>
            <a:ext cx="9143280" cy="535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Shape 0"/>
          <p:cNvSpPr/>
          <p:nvPr/>
        </p:nvSpPr>
        <p:spPr>
          <a:xfrm>
            <a:off x="57240" y="57240"/>
            <a:ext cx="9029160" cy="103500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57240" y="10645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2"/>
          <p:cNvSpPr/>
          <p:nvPr/>
        </p:nvSpPr>
        <p:spPr>
          <a:xfrm>
            <a:off x="485640" y="271440"/>
            <a:ext cx="8171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The Team: Focused on Execution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3"/>
          <p:cNvSpPr/>
          <p:nvPr/>
        </p:nvSpPr>
        <p:spPr>
          <a:xfrm>
            <a:off x="485640" y="655560"/>
            <a:ext cx="8171640" cy="19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A dedicated technical specialist driving the future of intelligent logistics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4"/>
          <p:cNvSpPr/>
          <p:nvPr/>
        </p:nvSpPr>
        <p:spPr>
          <a:xfrm>
            <a:off x="57240" y="1064520"/>
            <a:ext cx="4514040" cy="420516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5"/>
          <p:cNvSpPr/>
          <p:nvPr/>
        </p:nvSpPr>
        <p:spPr>
          <a:xfrm>
            <a:off x="4543560" y="1064520"/>
            <a:ext cx="27720" cy="4205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6"/>
          <p:cNvSpPr/>
          <p:nvPr/>
        </p:nvSpPr>
        <p:spPr>
          <a:xfrm>
            <a:off x="5000760" y="1300320"/>
            <a:ext cx="3656880" cy="41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84960" anchor="t">
            <a:spAutoFit/>
          </a:bodyPr>
          <a:lstStyle/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Arman Islam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7"/>
          <p:cNvSpPr/>
          <p:nvPr/>
        </p:nvSpPr>
        <p:spPr>
          <a:xfrm>
            <a:off x="5000760" y="1819800"/>
            <a:ext cx="2160720" cy="36540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8"/>
          <p:cNvSpPr/>
          <p:nvPr/>
        </p:nvSpPr>
        <p:spPr>
          <a:xfrm>
            <a:off x="5000760" y="1819800"/>
            <a:ext cx="2160720" cy="3511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7440" tIns="84960" rIns="127440" bIns="8496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Technical &amp; Idea Supporter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9"/>
          <p:cNvSpPr/>
          <p:nvPr/>
        </p:nvSpPr>
        <p:spPr>
          <a:xfrm>
            <a:off x="5000760" y="2371680"/>
            <a:ext cx="1121717" cy="1517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047AB"/>
                </a:solidFill>
                <a:effectLst/>
                <a:uFillTx/>
                <a:latin typeface="Calibri"/>
              </a:rPr>
              <a:t>Core Expertise: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5000760" y="2691360"/>
            <a:ext cx="113760" cy="15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▪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5179320" y="2693160"/>
            <a:ext cx="2361224" cy="1595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1A1A1A"/>
                </a:solidFill>
                <a:effectLst/>
                <a:uFillTx/>
                <a:latin typeface="Calibri"/>
              </a:rPr>
              <a:t>WRO 2025 Participant (Invited To National)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5000760" y="2965680"/>
            <a:ext cx="113760" cy="15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▪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5179320" y="2967480"/>
            <a:ext cx="1698120" cy="15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839" b="0" u="none" strike="noStrike" dirty="0">
                <a:solidFill>
                  <a:srgbClr val="1A1A1A"/>
                </a:solidFill>
                <a:effectLst/>
                <a:uFillTx/>
                <a:latin typeface="Calibri"/>
              </a:rPr>
              <a:t>Autonomous Systems Specialist</a:t>
            </a:r>
            <a:endParaRPr lang="en-US" sz="839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5000760" y="3240000"/>
            <a:ext cx="113760" cy="15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▪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5179320" y="3241800"/>
            <a:ext cx="1656000" cy="15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Embedded Systems &amp; Robotics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5000760" y="3514320"/>
            <a:ext cx="113760" cy="15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▪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5179320" y="3516120"/>
            <a:ext cx="1166040" cy="16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Flight Control &amp; Navigation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5000760" y="3788640"/>
            <a:ext cx="113760" cy="15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▪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5179320" y="3790440"/>
            <a:ext cx="1317600" cy="15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839" b="0" u="none" strike="noStrike" dirty="0">
                <a:solidFill>
                  <a:srgbClr val="1A1A1A"/>
                </a:solidFill>
                <a:effectLst/>
                <a:uFillTx/>
                <a:latin typeface="Calibri"/>
              </a:rPr>
              <a:t>IoT &amp; Sensor Integration</a:t>
            </a:r>
            <a:endParaRPr lang="en-US" sz="839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5000760" y="4591440"/>
            <a:ext cx="2127240" cy="11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0047AB"/>
                </a:solidFill>
                <a:effectLst/>
                <a:uFillTx/>
                <a:latin typeface="Calibri"/>
                <a:ea typeface="Noto Sans CJK SC"/>
              </a:rPr>
              <a:t>PORTFOLIO:	</a:t>
            </a:r>
            <a:r>
              <a:rPr lang="en-US" sz="839" b="0" u="none" strike="noStrike">
                <a:solidFill>
                  <a:srgbClr val="1A1A1A"/>
                </a:solidFill>
                <a:effectLst/>
                <a:uFillTx/>
                <a:latin typeface="Calibri"/>
                <a:ea typeface="Noto Sans CJK SC"/>
              </a:rPr>
              <a:t>ht</a:t>
            </a:r>
            <a:r>
              <a:rPr lang="en-US" sz="839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tps://</a:t>
            </a:r>
            <a:r>
              <a:rPr lang="en-US" sz="73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cv-of-arman.netlify.app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5000760" y="4798800"/>
            <a:ext cx="1968120" cy="11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GITHUB:	</a:t>
            </a:r>
            <a:r>
              <a:rPr lang="en-US" sz="73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github.com/Armanislam527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Box 19">
            <a:extLst>
              <a:ext uri="{FF2B5EF4-FFF2-40B4-BE49-F238E27FC236}">
                <a16:creationId xmlns:a16="http://schemas.microsoft.com/office/drawing/2014/main" id="{4691CA48-03BC-4D13-9585-B32DF2795A87}"/>
              </a:ext>
            </a:extLst>
          </p:cNvPr>
          <p:cNvSpPr txBox="1"/>
          <p:nvPr/>
        </p:nvSpPr>
        <p:spPr>
          <a:xfrm>
            <a:off x="4998537" y="1547459"/>
            <a:ext cx="1031339" cy="187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10"/>
              </a:lnSpc>
              <a:spcBef>
                <a:spcPct val="0"/>
              </a:spcBef>
            </a:pPr>
            <a:r>
              <a:rPr lang="en-US" sz="1150" spc="115" dirty="0">
                <a:solidFill>
                  <a:srgbClr val="3F2305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Founder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3FBAC0-022F-447E-9706-BF8B4FA05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0" y="1078303"/>
            <a:ext cx="4486320" cy="4205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14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485640" y="271440"/>
            <a:ext cx="8171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 Logistics Barrier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"/>
          <p:cNvSpPr/>
          <p:nvPr/>
        </p:nvSpPr>
        <p:spPr>
          <a:xfrm>
            <a:off x="485640" y="655560"/>
            <a:ext cx="3211920" cy="15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Costly, Unreliable, and Data-Blind Operations Limiting SME Growth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4"/>
          <p:cNvSpPr/>
          <p:nvPr/>
        </p:nvSpPr>
        <p:spPr>
          <a:xfrm>
            <a:off x="485640" y="1172520"/>
            <a:ext cx="4028400" cy="18352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585720" y="1272600"/>
            <a:ext cx="3828240" cy="46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3200"/>
              </a:lnSpc>
              <a:tabLst>
                <a:tab pos="0" algn="l"/>
              </a:tabLst>
            </a:pPr>
            <a:r>
              <a:rPr lang="en-US" sz="243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01</a:t>
            </a:r>
            <a:endParaRPr lang="en-US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6"/>
          <p:cNvSpPr/>
          <p:nvPr/>
        </p:nvSpPr>
        <p:spPr>
          <a:xfrm>
            <a:off x="585720" y="1810080"/>
            <a:ext cx="3828240" cy="26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Last-Mile Inefficiency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7"/>
          <p:cNvSpPr/>
          <p:nvPr/>
        </p:nvSpPr>
        <p:spPr>
          <a:xfrm>
            <a:off x="585720" y="2133360"/>
            <a:ext cx="3828240" cy="34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SMEs struggle with costly, unreliable final-delivery logistics that drain operational budgets.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8"/>
          <p:cNvSpPr/>
          <p:nvPr/>
        </p:nvSpPr>
        <p:spPr>
          <a:xfrm>
            <a:off x="585720" y="2547720"/>
            <a:ext cx="1121040" cy="31716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9"/>
          <p:cNvSpPr/>
          <p:nvPr/>
        </p:nvSpPr>
        <p:spPr>
          <a:xfrm>
            <a:off x="585720" y="2547720"/>
            <a:ext cx="112104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2240" tIns="68040" rIns="102240" bIns="6804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89% AFFECTED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0"/>
          <p:cNvSpPr/>
          <p:nvPr/>
        </p:nvSpPr>
        <p:spPr>
          <a:xfrm>
            <a:off x="4629240" y="1172520"/>
            <a:ext cx="4028400" cy="18352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1"/>
          <p:cNvSpPr/>
          <p:nvPr/>
        </p:nvSpPr>
        <p:spPr>
          <a:xfrm>
            <a:off x="4729320" y="1293840"/>
            <a:ext cx="3828240" cy="46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3200"/>
              </a:lnSpc>
              <a:tabLst>
                <a:tab pos="0" algn="l"/>
              </a:tabLst>
            </a:pPr>
            <a:r>
              <a:rPr lang="en-US" sz="243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02</a:t>
            </a:r>
            <a:endParaRPr lang="en-US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2"/>
          <p:cNvSpPr/>
          <p:nvPr/>
        </p:nvSpPr>
        <p:spPr>
          <a:xfrm>
            <a:off x="4729320" y="1831320"/>
            <a:ext cx="3828240" cy="26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Monsoon Vulnerability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3"/>
          <p:cNvSpPr/>
          <p:nvPr/>
        </p:nvSpPr>
        <p:spPr>
          <a:xfrm>
            <a:off x="4729320" y="2154600"/>
            <a:ext cx="3828240" cy="34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Severe delivery delays during rainy seasons create supply chain chaos and customer dissatisfaction.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4"/>
          <p:cNvSpPr/>
          <p:nvPr/>
        </p:nvSpPr>
        <p:spPr>
          <a:xfrm>
            <a:off x="4729320" y="2568960"/>
            <a:ext cx="1500480" cy="31716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5"/>
          <p:cNvSpPr/>
          <p:nvPr/>
        </p:nvSpPr>
        <p:spPr>
          <a:xfrm>
            <a:off x="4729320" y="2568960"/>
            <a:ext cx="150048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2240" tIns="68040" rIns="102240" bIns="6804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91% REPORT DELAYS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6"/>
          <p:cNvSpPr/>
          <p:nvPr/>
        </p:nvSpPr>
        <p:spPr>
          <a:xfrm>
            <a:off x="485640" y="3087000"/>
            <a:ext cx="4028400" cy="18352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7"/>
          <p:cNvSpPr/>
          <p:nvPr/>
        </p:nvSpPr>
        <p:spPr>
          <a:xfrm>
            <a:off x="585720" y="3187080"/>
            <a:ext cx="3828240" cy="46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3200"/>
              </a:lnSpc>
              <a:tabLst>
                <a:tab pos="0" algn="l"/>
              </a:tabLst>
            </a:pPr>
            <a:r>
              <a:rPr lang="en-US" sz="243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03</a:t>
            </a:r>
            <a:endParaRPr lang="en-US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8"/>
          <p:cNvSpPr/>
          <p:nvPr/>
        </p:nvSpPr>
        <p:spPr>
          <a:xfrm>
            <a:off x="585720" y="3724560"/>
            <a:ext cx="3828240" cy="26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Cost Burden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9"/>
          <p:cNvSpPr/>
          <p:nvPr/>
        </p:nvSpPr>
        <p:spPr>
          <a:xfrm>
            <a:off x="585720" y="4047840"/>
            <a:ext cx="3828240" cy="34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Logistics consume a significant portion of SME budgets, limiting resources for growth and innovation.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0"/>
          <p:cNvSpPr/>
          <p:nvPr/>
        </p:nvSpPr>
        <p:spPr>
          <a:xfrm>
            <a:off x="585720" y="4462200"/>
            <a:ext cx="1409040" cy="31716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1"/>
          <p:cNvSpPr/>
          <p:nvPr/>
        </p:nvSpPr>
        <p:spPr>
          <a:xfrm>
            <a:off x="585720" y="4462200"/>
            <a:ext cx="140904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2240" tIns="68040" rIns="102240" bIns="6804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18-25% OF BUDGET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2"/>
          <p:cNvSpPr/>
          <p:nvPr/>
        </p:nvSpPr>
        <p:spPr>
          <a:xfrm>
            <a:off x="4629240" y="3087000"/>
            <a:ext cx="4028400" cy="18352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3"/>
          <p:cNvSpPr/>
          <p:nvPr/>
        </p:nvSpPr>
        <p:spPr>
          <a:xfrm>
            <a:off x="4729320" y="3208320"/>
            <a:ext cx="3828240" cy="46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3200"/>
              </a:lnSpc>
              <a:tabLst>
                <a:tab pos="0" algn="l"/>
              </a:tabLst>
            </a:pPr>
            <a:r>
              <a:rPr lang="en-US" sz="243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04</a:t>
            </a:r>
            <a:endParaRPr lang="en-US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4"/>
          <p:cNvSpPr/>
          <p:nvPr/>
        </p:nvSpPr>
        <p:spPr>
          <a:xfrm>
            <a:off x="4729320" y="3746160"/>
            <a:ext cx="3828240" cy="26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Data Blindness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5"/>
          <p:cNvSpPr/>
          <p:nvPr/>
        </p:nvSpPr>
        <p:spPr>
          <a:xfrm>
            <a:off x="4729320" y="4069080"/>
            <a:ext cx="3828240" cy="34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Lack of business intelligence tools prevents critical insights on demand patterns and inventory.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6"/>
          <p:cNvSpPr/>
          <p:nvPr/>
        </p:nvSpPr>
        <p:spPr>
          <a:xfrm>
            <a:off x="4729320" y="4483440"/>
            <a:ext cx="1275480" cy="31716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7"/>
          <p:cNvSpPr/>
          <p:nvPr/>
        </p:nvSpPr>
        <p:spPr>
          <a:xfrm>
            <a:off x="4729320" y="4483440"/>
            <a:ext cx="1275480" cy="3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2240" tIns="68040" rIns="102240" bIns="6804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73% LACK TOOLS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"/>
          <p:cNvSpPr/>
          <p:nvPr/>
        </p:nvSpPr>
        <p:spPr>
          <a:xfrm>
            <a:off x="485640" y="271440"/>
            <a:ext cx="8171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Market Opportunity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"/>
          <p:cNvSpPr/>
          <p:nvPr/>
        </p:nvSpPr>
        <p:spPr>
          <a:xfrm>
            <a:off x="485640" y="655560"/>
            <a:ext cx="8171640" cy="17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The $10 Billion Untapped Potential in Bangladesh's SME Sector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4"/>
          <p:cNvSpPr/>
          <p:nvPr/>
        </p:nvSpPr>
        <p:spPr>
          <a:xfrm>
            <a:off x="485640" y="1666800"/>
            <a:ext cx="2647080" cy="81792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600120" y="1781280"/>
            <a:ext cx="2418480" cy="34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2401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10.4M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6"/>
          <p:cNvSpPr/>
          <p:nvPr/>
        </p:nvSpPr>
        <p:spPr>
          <a:xfrm>
            <a:off x="600120" y="2188440"/>
            <a:ext cx="2418480" cy="13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1100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SMEs in Bangladesh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7"/>
          <p:cNvSpPr/>
          <p:nvPr/>
        </p:nvSpPr>
        <p:spPr>
          <a:xfrm>
            <a:off x="3247920" y="1666800"/>
            <a:ext cx="2647080" cy="81792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8"/>
          <p:cNvSpPr/>
          <p:nvPr/>
        </p:nvSpPr>
        <p:spPr>
          <a:xfrm>
            <a:off x="3362400" y="1781280"/>
            <a:ext cx="2418480" cy="34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2401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78%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9"/>
          <p:cNvSpPr/>
          <p:nvPr/>
        </p:nvSpPr>
        <p:spPr>
          <a:xfrm>
            <a:off x="3362400" y="2188440"/>
            <a:ext cx="2418480" cy="13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1100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Underserved in Poor Logistics Areas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0"/>
          <p:cNvSpPr/>
          <p:nvPr/>
        </p:nvSpPr>
        <p:spPr>
          <a:xfrm>
            <a:off x="6010200" y="1666800"/>
            <a:ext cx="2647080" cy="81792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1"/>
          <p:cNvSpPr/>
          <p:nvPr/>
        </p:nvSpPr>
        <p:spPr>
          <a:xfrm>
            <a:off x="6124680" y="1802520"/>
            <a:ext cx="2418480" cy="34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2401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$10B+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2"/>
          <p:cNvSpPr/>
          <p:nvPr/>
        </p:nvSpPr>
        <p:spPr>
          <a:xfrm>
            <a:off x="6124680" y="2209680"/>
            <a:ext cx="2418480" cy="13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1100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Market Opportunity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3"/>
          <p:cNvSpPr/>
          <p:nvPr/>
        </p:nvSpPr>
        <p:spPr>
          <a:xfrm>
            <a:off x="485640" y="2635560"/>
            <a:ext cx="8171640" cy="111024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4"/>
          <p:cNvSpPr/>
          <p:nvPr/>
        </p:nvSpPr>
        <p:spPr>
          <a:xfrm>
            <a:off x="600120" y="2771280"/>
            <a:ext cx="7943040" cy="17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Target Market Segments: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5"/>
          <p:cNvSpPr/>
          <p:nvPr/>
        </p:nvSpPr>
        <p:spPr>
          <a:xfrm>
            <a:off x="600120" y="3031920"/>
            <a:ext cx="3928320" cy="13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6992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E-commerce &amp; Online Retailers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6"/>
          <p:cNvSpPr/>
          <p:nvPr/>
        </p:nvSpPr>
        <p:spPr>
          <a:xfrm>
            <a:off x="4614840" y="3031920"/>
            <a:ext cx="3928320" cy="13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6992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Agricultural Suppliers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7"/>
          <p:cNvSpPr/>
          <p:nvPr/>
        </p:nvSpPr>
        <p:spPr>
          <a:xfrm>
            <a:off x="600120" y="3253320"/>
            <a:ext cx="3928320" cy="13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6992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Local Pharmacies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8"/>
          <p:cNvSpPr/>
          <p:nvPr/>
        </p:nvSpPr>
        <p:spPr>
          <a:xfrm>
            <a:off x="4614840" y="3253320"/>
            <a:ext cx="3928320" cy="13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6992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Cold-Chain Businesses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9"/>
          <p:cNvSpPr/>
          <p:nvPr/>
        </p:nvSpPr>
        <p:spPr>
          <a:xfrm>
            <a:off x="600120" y="3474720"/>
            <a:ext cx="3928320" cy="13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6992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Food &amp; Beverage Distributors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0"/>
          <p:cNvSpPr/>
          <p:nvPr/>
        </p:nvSpPr>
        <p:spPr>
          <a:xfrm>
            <a:off x="4614840" y="3474720"/>
            <a:ext cx="3928320" cy="13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6992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Retail Chains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1"/>
          <p:cNvSpPr/>
          <p:nvPr/>
        </p:nvSpPr>
        <p:spPr>
          <a:xfrm>
            <a:off x="485640" y="3839040"/>
            <a:ext cx="8171640" cy="581400"/>
          </a:xfrm>
          <a:prstGeom prst="rect">
            <a:avLst/>
          </a:prstGeom>
          <a:solidFill>
            <a:srgbClr val="FF5F1F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2"/>
          <p:cNvSpPr/>
          <p:nvPr/>
        </p:nvSpPr>
        <p:spPr>
          <a:xfrm>
            <a:off x="600120" y="3031920"/>
            <a:ext cx="99360" cy="14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▪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3"/>
          <p:cNvSpPr/>
          <p:nvPr/>
        </p:nvSpPr>
        <p:spPr>
          <a:xfrm>
            <a:off x="4614840" y="3031920"/>
            <a:ext cx="99360" cy="14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▪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4"/>
          <p:cNvSpPr/>
          <p:nvPr/>
        </p:nvSpPr>
        <p:spPr>
          <a:xfrm>
            <a:off x="600120" y="3253320"/>
            <a:ext cx="99360" cy="14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▪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5"/>
          <p:cNvSpPr/>
          <p:nvPr/>
        </p:nvSpPr>
        <p:spPr>
          <a:xfrm>
            <a:off x="4614840" y="3253320"/>
            <a:ext cx="99360" cy="14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▪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6"/>
          <p:cNvSpPr/>
          <p:nvPr/>
        </p:nvSpPr>
        <p:spPr>
          <a:xfrm>
            <a:off x="600120" y="3474720"/>
            <a:ext cx="99360" cy="14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▪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7"/>
          <p:cNvSpPr/>
          <p:nvPr/>
        </p:nvSpPr>
        <p:spPr>
          <a:xfrm>
            <a:off x="4614840" y="3474720"/>
            <a:ext cx="99360" cy="14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▪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8"/>
          <p:cNvSpPr/>
          <p:nvPr/>
        </p:nvSpPr>
        <p:spPr>
          <a:xfrm>
            <a:off x="585720" y="3960720"/>
            <a:ext cx="7971840" cy="11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799"/>
              </a:lnSpc>
              <a:tabLst>
                <a:tab pos="0" algn="l"/>
              </a:tabLst>
            </a:pPr>
            <a:r>
              <a:rPr lang="en-US" sz="58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Starting Prototyping Area: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9"/>
          <p:cNvSpPr/>
          <p:nvPr/>
        </p:nvSpPr>
        <p:spPr>
          <a:xfrm>
            <a:off x="585720" y="4105440"/>
            <a:ext cx="7971840" cy="19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PABNA DISTRICT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485640" y="271440"/>
            <a:ext cx="8171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GreenLift AI: The Integrated Solution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485640" y="655560"/>
            <a:ext cx="8171640" cy="17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Comprehensive ecosystem combining autonomous delivery with real-time business intelligence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4"/>
          <p:cNvSpPr/>
          <p:nvPr/>
        </p:nvSpPr>
        <p:spPr>
          <a:xfrm>
            <a:off x="485640" y="1187640"/>
            <a:ext cx="4767840" cy="81144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5"/>
          <p:cNvSpPr/>
          <p:nvPr/>
        </p:nvSpPr>
        <p:spPr>
          <a:xfrm>
            <a:off x="600120" y="1302120"/>
            <a:ext cx="35640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6"/>
          <p:cNvSpPr/>
          <p:nvPr/>
        </p:nvSpPr>
        <p:spPr>
          <a:xfrm>
            <a:off x="1064520" y="1302120"/>
            <a:ext cx="4074840" cy="21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3420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Green-Fuel VTOL Drones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7"/>
          <p:cNvSpPr/>
          <p:nvPr/>
        </p:nvSpPr>
        <p:spPr>
          <a:xfrm>
            <a:off x="1064520" y="1562760"/>
            <a:ext cx="4074840" cy="13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Autonomous, energy-efficient delivery for fast, reliable service in urban and rural areas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8"/>
          <p:cNvSpPr/>
          <p:nvPr/>
        </p:nvSpPr>
        <p:spPr>
          <a:xfrm>
            <a:off x="485640" y="1902600"/>
            <a:ext cx="4767840" cy="81144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9"/>
          <p:cNvSpPr/>
          <p:nvPr/>
        </p:nvSpPr>
        <p:spPr>
          <a:xfrm>
            <a:off x="600120" y="2017080"/>
            <a:ext cx="35640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0"/>
          <p:cNvSpPr/>
          <p:nvPr/>
        </p:nvSpPr>
        <p:spPr>
          <a:xfrm>
            <a:off x="1064520" y="2017080"/>
            <a:ext cx="4074840" cy="21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3420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AI-Powered SME Dashboard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1"/>
          <p:cNvSpPr/>
          <p:nvPr/>
        </p:nvSpPr>
        <p:spPr>
          <a:xfrm>
            <a:off x="1064520" y="2277720"/>
            <a:ext cx="4074840" cy="27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Converts raw business data into actionable insights for demand, inventory, and cash flow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2"/>
          <p:cNvSpPr/>
          <p:nvPr/>
        </p:nvSpPr>
        <p:spPr>
          <a:xfrm>
            <a:off x="485640" y="2757960"/>
            <a:ext cx="4767840" cy="6714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3"/>
          <p:cNvSpPr/>
          <p:nvPr/>
        </p:nvSpPr>
        <p:spPr>
          <a:xfrm>
            <a:off x="600120" y="2872080"/>
            <a:ext cx="35640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4"/>
          <p:cNvSpPr/>
          <p:nvPr/>
        </p:nvSpPr>
        <p:spPr>
          <a:xfrm>
            <a:off x="1064520" y="2872080"/>
            <a:ext cx="4074840" cy="21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3420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Seamless Integration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5"/>
          <p:cNvSpPr/>
          <p:nvPr/>
        </p:nvSpPr>
        <p:spPr>
          <a:xfrm>
            <a:off x="1064520" y="3132720"/>
            <a:ext cx="4074840" cy="13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Closed-loop intelligence system where every delivery improves predictive analytics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6"/>
          <p:cNvSpPr/>
          <p:nvPr/>
        </p:nvSpPr>
        <p:spPr>
          <a:xfrm>
            <a:off x="485640" y="3472920"/>
            <a:ext cx="4767840" cy="6714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7"/>
          <p:cNvSpPr/>
          <p:nvPr/>
        </p:nvSpPr>
        <p:spPr>
          <a:xfrm>
            <a:off x="600120" y="3587040"/>
            <a:ext cx="35640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8"/>
          <p:cNvSpPr/>
          <p:nvPr/>
        </p:nvSpPr>
        <p:spPr>
          <a:xfrm>
            <a:off x="1064520" y="3587040"/>
            <a:ext cx="4074840" cy="21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3420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Localized &amp; Affordable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9"/>
          <p:cNvSpPr/>
          <p:nvPr/>
        </p:nvSpPr>
        <p:spPr>
          <a:xfrm>
            <a:off x="1064520" y="3848040"/>
            <a:ext cx="4074840" cy="13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Bangla interface, mobile-first design, pay-per-use model for easy SME adoption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0"/>
          <p:cNvSpPr/>
          <p:nvPr/>
        </p:nvSpPr>
        <p:spPr>
          <a:xfrm>
            <a:off x="5468400" y="1187640"/>
            <a:ext cx="3188880" cy="375516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0" name="Image 1" descr="preencoded.png"/>
          <p:cNvPicPr/>
          <p:nvPr/>
        </p:nvPicPr>
        <p:blipFill>
          <a:blip r:embed="rId4"/>
          <a:stretch/>
        </p:blipFill>
        <p:spPr>
          <a:xfrm>
            <a:off x="5648040" y="1636920"/>
            <a:ext cx="2856960" cy="2856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39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485640" y="271440"/>
            <a:ext cx="8171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Technical Deep Dive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"/>
          <p:cNvSpPr/>
          <p:nvPr/>
        </p:nvSpPr>
        <p:spPr>
          <a:xfrm>
            <a:off x="485640" y="655560"/>
            <a:ext cx="8171640" cy="17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Precision, Reliability, and Low-Cost Connectivity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4"/>
          <p:cNvSpPr/>
          <p:nvPr/>
        </p:nvSpPr>
        <p:spPr>
          <a:xfrm>
            <a:off x="485640" y="1159200"/>
            <a:ext cx="4014000" cy="29674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5"/>
          <p:cNvSpPr/>
          <p:nvPr/>
        </p:nvSpPr>
        <p:spPr>
          <a:xfrm>
            <a:off x="485640" y="1159200"/>
            <a:ext cx="4014000" cy="40644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6"/>
          <p:cNvSpPr/>
          <p:nvPr/>
        </p:nvSpPr>
        <p:spPr>
          <a:xfrm>
            <a:off x="485640" y="1544760"/>
            <a:ext cx="4014000" cy="208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3400" rIns="90000" bIns="-234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7"/>
          <p:cNvSpPr/>
          <p:nvPr/>
        </p:nvSpPr>
        <p:spPr>
          <a:xfrm>
            <a:off x="485640" y="1159200"/>
            <a:ext cx="4014000" cy="40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7440" tIns="95760" rIns="127440" bIns="95760" anchor="t">
            <a:spAutoFit/>
          </a:bodyPr>
          <a:lstStyle/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0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LoRa Network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8"/>
          <p:cNvSpPr/>
          <p:nvPr/>
        </p:nvSpPr>
        <p:spPr>
          <a:xfrm>
            <a:off x="628560" y="1652040"/>
            <a:ext cx="3728160" cy="13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Purpose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9"/>
          <p:cNvSpPr/>
          <p:nvPr/>
        </p:nvSpPr>
        <p:spPr>
          <a:xfrm>
            <a:off x="628560" y="1823400"/>
            <a:ext cx="3728160" cy="32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744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Low-power, long-range communication for telemetry and command signals in areas with poor cellular coverage.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0"/>
          <p:cNvSpPr/>
          <p:nvPr/>
        </p:nvSpPr>
        <p:spPr>
          <a:xfrm>
            <a:off x="628560" y="2252160"/>
            <a:ext cx="3728160" cy="13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Benefits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1"/>
          <p:cNvSpPr/>
          <p:nvPr/>
        </p:nvSpPr>
        <p:spPr>
          <a:xfrm>
            <a:off x="628560" y="2423520"/>
            <a:ext cx="3728160" cy="32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744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Ensures reliable control and data transmission, reducing operational costs compared to 4G/5G for non-payload data.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2"/>
          <p:cNvSpPr/>
          <p:nvPr/>
        </p:nvSpPr>
        <p:spPr>
          <a:xfrm>
            <a:off x="628560" y="2852280"/>
            <a:ext cx="3728160" cy="13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Range &amp; Coverage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3"/>
          <p:cNvSpPr/>
          <p:nvPr/>
        </p:nvSpPr>
        <p:spPr>
          <a:xfrm>
            <a:off x="628560" y="3023640"/>
            <a:ext cx="3728160" cy="32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744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Extended range (5-15 km) with low power consumption, ideal for rural and semi-urban deployment.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4"/>
          <p:cNvSpPr/>
          <p:nvPr/>
        </p:nvSpPr>
        <p:spPr>
          <a:xfrm>
            <a:off x="628560" y="3452040"/>
            <a:ext cx="3728160" cy="30636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5"/>
          <p:cNvSpPr/>
          <p:nvPr/>
        </p:nvSpPr>
        <p:spPr>
          <a:xfrm>
            <a:off x="628560" y="3452040"/>
            <a:ext cx="3728160" cy="30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2240" tIns="57600" rIns="102240" bIns="57600" anchor="t">
            <a:spAutoFit/>
          </a:bodyPr>
          <a:lstStyle/>
          <a:p>
            <a:pPr algn="ctr"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COMMUNICATION PROTOCOL: MQTT/LoRaWAN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6"/>
          <p:cNvSpPr/>
          <p:nvPr/>
        </p:nvSpPr>
        <p:spPr>
          <a:xfrm>
            <a:off x="4643280" y="1159200"/>
            <a:ext cx="4014000" cy="29674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7"/>
          <p:cNvSpPr/>
          <p:nvPr/>
        </p:nvSpPr>
        <p:spPr>
          <a:xfrm>
            <a:off x="4643280" y="1159200"/>
            <a:ext cx="4014000" cy="40644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8"/>
          <p:cNvSpPr/>
          <p:nvPr/>
        </p:nvSpPr>
        <p:spPr>
          <a:xfrm>
            <a:off x="4643280" y="1544760"/>
            <a:ext cx="4014000" cy="208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3400" rIns="90000" bIns="-234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9"/>
          <p:cNvSpPr/>
          <p:nvPr/>
        </p:nvSpPr>
        <p:spPr>
          <a:xfrm>
            <a:off x="4643280" y="1159200"/>
            <a:ext cx="4014000" cy="40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7440" tIns="95760" rIns="127440" bIns="95760" anchor="t">
            <a:spAutoFit/>
          </a:bodyPr>
          <a:lstStyle/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0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Smart Tension Sensor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0"/>
          <p:cNvSpPr/>
          <p:nvPr/>
        </p:nvSpPr>
        <p:spPr>
          <a:xfrm>
            <a:off x="4786200" y="1652040"/>
            <a:ext cx="3728160" cy="13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Mechanism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1"/>
          <p:cNvSpPr/>
          <p:nvPr/>
        </p:nvSpPr>
        <p:spPr>
          <a:xfrm>
            <a:off x="4786200" y="1823400"/>
            <a:ext cx="3728160" cy="32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744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Integrated into the string-down delivery system for secure, precise, and damage-free package release.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2"/>
          <p:cNvSpPr/>
          <p:nvPr/>
        </p:nvSpPr>
        <p:spPr>
          <a:xfrm>
            <a:off x="4786200" y="2252160"/>
            <a:ext cx="3728160" cy="13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Function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3"/>
          <p:cNvSpPr/>
          <p:nvPr/>
        </p:nvSpPr>
        <p:spPr>
          <a:xfrm>
            <a:off x="4786200" y="2423520"/>
            <a:ext cx="3728160" cy="48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744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Detects pre-set threshold tension value when package lands. Upon reaching threshold, system automatically releases package and retracts string.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4"/>
          <p:cNvSpPr/>
          <p:nvPr/>
        </p:nvSpPr>
        <p:spPr>
          <a:xfrm>
            <a:off x="4786200" y="3012840"/>
            <a:ext cx="3728160" cy="13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Advantage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5"/>
          <p:cNvSpPr/>
          <p:nvPr/>
        </p:nvSpPr>
        <p:spPr>
          <a:xfrm>
            <a:off x="4786200" y="3184200"/>
            <a:ext cx="3728160" cy="32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744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No landing required. Autonomous release ensures delivery without human intervention or landing damage.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6"/>
          <p:cNvSpPr/>
          <p:nvPr/>
        </p:nvSpPr>
        <p:spPr>
          <a:xfrm>
            <a:off x="4786200" y="3612960"/>
            <a:ext cx="3728160" cy="30636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7"/>
          <p:cNvSpPr/>
          <p:nvPr/>
        </p:nvSpPr>
        <p:spPr>
          <a:xfrm>
            <a:off x="4786200" y="3612960"/>
            <a:ext cx="3728160" cy="30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2240" tIns="57600" rIns="102240" bIns="57600" anchor="t">
            <a:spAutoFit/>
          </a:bodyPr>
          <a:lstStyle/>
          <a:p>
            <a:pPr algn="ctr"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AUTO-RELEASE: THRESHOLD-BASED ACTIVATION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8"/>
          <p:cNvSpPr/>
          <p:nvPr/>
        </p:nvSpPr>
        <p:spPr>
          <a:xfrm>
            <a:off x="485640" y="4220280"/>
            <a:ext cx="8171640" cy="15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VTOL DRONE SPECIFICATIONS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9"/>
          <p:cNvSpPr/>
          <p:nvPr/>
        </p:nvSpPr>
        <p:spPr>
          <a:xfrm>
            <a:off x="485640" y="4447080"/>
            <a:ext cx="4049640" cy="26892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0"/>
          <p:cNvSpPr/>
          <p:nvPr/>
        </p:nvSpPr>
        <p:spPr>
          <a:xfrm>
            <a:off x="485640" y="4447080"/>
            <a:ext cx="4049640" cy="22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57600" rIns="84960" bIns="57600" anchor="t">
            <a:spAutoFit/>
          </a:bodyPr>
          <a:lstStyle/>
          <a:p>
            <a:pPr algn="ctr" defTabSz="914400">
              <a:lnSpc>
                <a:spcPts val="901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PAYLOAD: 1-20 kg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31"/>
          <p:cNvSpPr/>
          <p:nvPr/>
        </p:nvSpPr>
        <p:spPr>
          <a:xfrm>
            <a:off x="4607640" y="4447080"/>
            <a:ext cx="4049640" cy="26892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32"/>
          <p:cNvSpPr/>
          <p:nvPr/>
        </p:nvSpPr>
        <p:spPr>
          <a:xfrm>
            <a:off x="4607640" y="4447080"/>
            <a:ext cx="4049640" cy="22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57600" rIns="84960" bIns="57600" anchor="t">
            <a:spAutoFit/>
          </a:bodyPr>
          <a:lstStyle/>
          <a:p>
            <a:pPr algn="ctr" defTabSz="914400">
              <a:lnSpc>
                <a:spcPts val="901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RANGE: 10-20 km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33"/>
          <p:cNvSpPr/>
          <p:nvPr/>
        </p:nvSpPr>
        <p:spPr>
          <a:xfrm>
            <a:off x="485640" y="4759560"/>
            <a:ext cx="4049640" cy="26892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4"/>
          <p:cNvSpPr/>
          <p:nvPr/>
        </p:nvSpPr>
        <p:spPr>
          <a:xfrm>
            <a:off x="485640" y="4759560"/>
            <a:ext cx="4049640" cy="22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57600" rIns="84960" bIns="57600" anchor="t">
            <a:spAutoFit/>
          </a:bodyPr>
          <a:lstStyle/>
          <a:p>
            <a:pPr algn="ctr" defTabSz="914400">
              <a:lnSpc>
                <a:spcPts val="901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PROPULSION: Hydrogen-Electric Hybrid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35"/>
          <p:cNvSpPr/>
          <p:nvPr/>
        </p:nvSpPr>
        <p:spPr>
          <a:xfrm>
            <a:off x="4607640" y="4759560"/>
            <a:ext cx="4049640" cy="26892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6"/>
          <p:cNvSpPr/>
          <p:nvPr/>
        </p:nvSpPr>
        <p:spPr>
          <a:xfrm>
            <a:off x="4607640" y="4759560"/>
            <a:ext cx="4049640" cy="22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57600" rIns="84960" bIns="57600" anchor="t">
            <a:spAutoFit/>
          </a:bodyPr>
          <a:lstStyle/>
          <a:p>
            <a:pPr algn="ctr" defTabSz="914400">
              <a:lnSpc>
                <a:spcPts val="901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EMISSIONS: Zero-Carbon Delivery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"/>
          <p:cNvSpPr/>
          <p:nvPr/>
        </p:nvSpPr>
        <p:spPr>
          <a:xfrm>
            <a:off x="485640" y="271440"/>
            <a:ext cx="8171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AI Integration: Transforming Data into Profit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3"/>
          <p:cNvSpPr/>
          <p:nvPr/>
        </p:nvSpPr>
        <p:spPr>
          <a:xfrm>
            <a:off x="485640" y="655560"/>
            <a:ext cx="8171640" cy="17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Machine learning powers intelligent decision-making across the entire delivery ecosystem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4"/>
          <p:cNvSpPr/>
          <p:nvPr/>
        </p:nvSpPr>
        <p:spPr>
          <a:xfrm>
            <a:off x="485640" y="1438560"/>
            <a:ext cx="8171640" cy="5814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5"/>
          <p:cNvSpPr/>
          <p:nvPr/>
        </p:nvSpPr>
        <p:spPr>
          <a:xfrm>
            <a:off x="628560" y="1524240"/>
            <a:ext cx="35640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6"/>
          <p:cNvSpPr/>
          <p:nvPr/>
        </p:nvSpPr>
        <p:spPr>
          <a:xfrm>
            <a:off x="1128600" y="1524240"/>
            <a:ext cx="7385760" cy="21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3420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Demand Forecasting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7"/>
          <p:cNvSpPr/>
          <p:nvPr/>
        </p:nvSpPr>
        <p:spPr>
          <a:xfrm>
            <a:off x="1128600" y="1784880"/>
            <a:ext cx="7385760" cy="14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Predictive analytics anticipate customer needs and optimize inventory levels proactively, reducing stockouts and overstock.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8"/>
          <p:cNvSpPr/>
          <p:nvPr/>
        </p:nvSpPr>
        <p:spPr>
          <a:xfrm>
            <a:off x="485640" y="2092320"/>
            <a:ext cx="8171640" cy="5814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9"/>
          <p:cNvSpPr/>
          <p:nvPr/>
        </p:nvSpPr>
        <p:spPr>
          <a:xfrm>
            <a:off x="628560" y="2178000"/>
            <a:ext cx="35640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0"/>
          <p:cNvSpPr/>
          <p:nvPr/>
        </p:nvSpPr>
        <p:spPr>
          <a:xfrm>
            <a:off x="1128600" y="2178000"/>
            <a:ext cx="7385760" cy="21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3420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Route Optimization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1"/>
          <p:cNvSpPr/>
          <p:nvPr/>
        </p:nvSpPr>
        <p:spPr>
          <a:xfrm>
            <a:off x="1128600" y="2438640"/>
            <a:ext cx="7385760" cy="14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AI calculates fastest, most energy-efficient delivery paths, reducing time and fuel consumption while maximizing daily capacity.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2"/>
          <p:cNvSpPr/>
          <p:nvPr/>
        </p:nvSpPr>
        <p:spPr>
          <a:xfrm>
            <a:off x="485640" y="2745720"/>
            <a:ext cx="8171640" cy="5814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3"/>
          <p:cNvSpPr/>
          <p:nvPr/>
        </p:nvSpPr>
        <p:spPr>
          <a:xfrm>
            <a:off x="628560" y="2831760"/>
            <a:ext cx="35640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4"/>
          <p:cNvSpPr/>
          <p:nvPr/>
        </p:nvSpPr>
        <p:spPr>
          <a:xfrm>
            <a:off x="1128600" y="2831760"/>
            <a:ext cx="7385760" cy="21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3420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Autonomous Operations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5"/>
          <p:cNvSpPr/>
          <p:nvPr/>
        </p:nvSpPr>
        <p:spPr>
          <a:xfrm>
            <a:off x="1128600" y="3092400"/>
            <a:ext cx="7385760" cy="14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Automated decision-making reduces manual oversight while maintaining safety and compliance standards across all deliveries.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6"/>
          <p:cNvSpPr/>
          <p:nvPr/>
        </p:nvSpPr>
        <p:spPr>
          <a:xfrm>
            <a:off x="485640" y="3399480"/>
            <a:ext cx="8171640" cy="5814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7"/>
          <p:cNvSpPr/>
          <p:nvPr/>
        </p:nvSpPr>
        <p:spPr>
          <a:xfrm>
            <a:off x="628560" y="3485160"/>
            <a:ext cx="35640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8"/>
          <p:cNvSpPr/>
          <p:nvPr/>
        </p:nvSpPr>
        <p:spPr>
          <a:xfrm>
            <a:off x="1128600" y="3485160"/>
            <a:ext cx="7385760" cy="21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3420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Smart Inventory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9"/>
          <p:cNvSpPr/>
          <p:nvPr/>
        </p:nvSpPr>
        <p:spPr>
          <a:xfrm>
            <a:off x="1128600" y="3746160"/>
            <a:ext cx="7385760" cy="14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Real-time inventory synchronization prevents stockouts and reduces wasteful overstock scenarios, improving cash flow.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0"/>
          <p:cNvSpPr/>
          <p:nvPr/>
        </p:nvSpPr>
        <p:spPr>
          <a:xfrm>
            <a:off x="485640" y="4053240"/>
            <a:ext cx="8171640" cy="5814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1"/>
          <p:cNvSpPr/>
          <p:nvPr/>
        </p:nvSpPr>
        <p:spPr>
          <a:xfrm>
            <a:off x="628560" y="4138920"/>
            <a:ext cx="35640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2"/>
          <p:cNvSpPr/>
          <p:nvPr/>
        </p:nvSpPr>
        <p:spPr>
          <a:xfrm>
            <a:off x="1128600" y="4138920"/>
            <a:ext cx="7385760" cy="21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3420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Customer Behavior Analysis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3"/>
          <p:cNvSpPr/>
          <p:nvPr/>
        </p:nvSpPr>
        <p:spPr>
          <a:xfrm>
            <a:off x="1128600" y="4399560"/>
            <a:ext cx="7385760" cy="14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Targeted marketing and personalized services built on customer insights that build loyalty and competitive differentiation.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18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"/>
          <p:cNvSpPr/>
          <p:nvPr/>
        </p:nvSpPr>
        <p:spPr>
          <a:xfrm>
            <a:off x="485640" y="271440"/>
            <a:ext cx="8171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Unique Value Proposition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3"/>
          <p:cNvSpPr/>
          <p:nvPr/>
        </p:nvSpPr>
        <p:spPr>
          <a:xfrm>
            <a:off x="485640" y="655560"/>
            <a:ext cx="8171640" cy="17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Efficiency Meets Sustainability: First-of-its-kind Integration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4"/>
          <p:cNvSpPr/>
          <p:nvPr/>
        </p:nvSpPr>
        <p:spPr>
          <a:xfrm>
            <a:off x="485640" y="1159200"/>
            <a:ext cx="4028400" cy="165492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5"/>
          <p:cNvSpPr/>
          <p:nvPr/>
        </p:nvSpPr>
        <p:spPr>
          <a:xfrm>
            <a:off x="628560" y="1302120"/>
            <a:ext cx="3742560" cy="38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701"/>
              </a:lnSpc>
              <a:tabLst>
                <a:tab pos="0" algn="l"/>
              </a:tabLst>
            </a:pPr>
            <a:r>
              <a:rPr lang="en-US" sz="202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⚡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6"/>
          <p:cNvSpPr/>
          <p:nvPr/>
        </p:nvSpPr>
        <p:spPr>
          <a:xfrm>
            <a:off x="628560" y="1776960"/>
            <a:ext cx="3742560" cy="26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Zero-Carbon Operations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7"/>
          <p:cNvSpPr/>
          <p:nvPr/>
        </p:nvSpPr>
        <p:spPr>
          <a:xfrm>
            <a:off x="628560" y="2114640"/>
            <a:ext cx="3742560" cy="34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Hydrogen-electric fleet eliminates fuel costs and carbon emissions, aligning with global sustainability goals while boosting brand value.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8"/>
          <p:cNvSpPr/>
          <p:nvPr/>
        </p:nvSpPr>
        <p:spPr>
          <a:xfrm>
            <a:off x="4629240" y="1159200"/>
            <a:ext cx="4028400" cy="165492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9"/>
          <p:cNvSpPr/>
          <p:nvPr/>
        </p:nvSpPr>
        <p:spPr>
          <a:xfrm>
            <a:off x="4772160" y="1318680"/>
            <a:ext cx="3742560" cy="38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701"/>
              </a:lnSpc>
              <a:tabLst>
                <a:tab pos="0" algn="l"/>
              </a:tabLst>
            </a:pPr>
            <a:r>
              <a:rPr lang="en-US" sz="202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💰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0"/>
          <p:cNvSpPr/>
          <p:nvPr/>
        </p:nvSpPr>
        <p:spPr>
          <a:xfrm>
            <a:off x="4772160" y="1793520"/>
            <a:ext cx="3742560" cy="26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No Wage Burden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1"/>
          <p:cNvSpPr/>
          <p:nvPr/>
        </p:nvSpPr>
        <p:spPr>
          <a:xfrm>
            <a:off x="4772160" y="2131200"/>
            <a:ext cx="3742560" cy="51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One-time equipment investment replaces ongoing driver salaries. Autonomous operations reduce labor dependency and significantly improve margins.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2"/>
          <p:cNvSpPr/>
          <p:nvPr/>
        </p:nvSpPr>
        <p:spPr>
          <a:xfrm>
            <a:off x="485640" y="2902680"/>
            <a:ext cx="4028400" cy="148356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3"/>
          <p:cNvSpPr/>
          <p:nvPr/>
        </p:nvSpPr>
        <p:spPr>
          <a:xfrm>
            <a:off x="628560" y="3045600"/>
            <a:ext cx="3742560" cy="38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701"/>
              </a:lnSpc>
              <a:tabLst>
                <a:tab pos="0" algn="l"/>
              </a:tabLst>
            </a:pPr>
            <a:r>
              <a:rPr lang="en-US" sz="202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🧠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4"/>
          <p:cNvSpPr/>
          <p:nvPr/>
        </p:nvSpPr>
        <p:spPr>
          <a:xfrm>
            <a:off x="628560" y="3520440"/>
            <a:ext cx="3742560" cy="26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Integrated AI Analytics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5"/>
          <p:cNvSpPr/>
          <p:nvPr/>
        </p:nvSpPr>
        <p:spPr>
          <a:xfrm>
            <a:off x="628560" y="3858120"/>
            <a:ext cx="3742560" cy="34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Predictive insights optimize delivery routes, weather planning, and demand forecasting in ways traditional logistics cannot match.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6"/>
          <p:cNvSpPr/>
          <p:nvPr/>
        </p:nvSpPr>
        <p:spPr>
          <a:xfrm>
            <a:off x="4629240" y="2902680"/>
            <a:ext cx="4028400" cy="148356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7"/>
          <p:cNvSpPr/>
          <p:nvPr/>
        </p:nvSpPr>
        <p:spPr>
          <a:xfrm>
            <a:off x="4772160" y="3066840"/>
            <a:ext cx="3742560" cy="38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701"/>
              </a:lnSpc>
              <a:tabLst>
                <a:tab pos="0" algn="l"/>
              </a:tabLst>
            </a:pPr>
            <a:r>
              <a:rPr lang="en-US" sz="202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🌦️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8"/>
          <p:cNvSpPr/>
          <p:nvPr/>
        </p:nvSpPr>
        <p:spPr>
          <a:xfrm>
            <a:off x="4772160" y="3542040"/>
            <a:ext cx="3742560" cy="26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Weather Resilience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9"/>
          <p:cNvSpPr/>
          <p:nvPr/>
        </p:nvSpPr>
        <p:spPr>
          <a:xfrm>
            <a:off x="4772160" y="3879720"/>
            <a:ext cx="3742560" cy="34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Advanced sensors and AI modeling enable safe operations in challenging conditions where traditional methods struggle.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20"/>
          <p:cNvSpPr/>
          <p:nvPr/>
        </p:nvSpPr>
        <p:spPr>
          <a:xfrm>
            <a:off x="485640" y="4508280"/>
            <a:ext cx="8171640" cy="42516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1"/>
          <p:cNvSpPr/>
          <p:nvPr/>
        </p:nvSpPr>
        <p:spPr>
          <a:xfrm>
            <a:off x="485640" y="4508280"/>
            <a:ext cx="8171640" cy="1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600" rIns="90000" bIns="-306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2"/>
          <p:cNvSpPr/>
          <p:nvPr/>
        </p:nvSpPr>
        <p:spPr>
          <a:xfrm>
            <a:off x="485640" y="4508280"/>
            <a:ext cx="8171640" cy="4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89280" rIns="136080" bIns="89280" anchor="t">
            <a:spAutoFit/>
          </a:bodyPr>
          <a:lstStyle/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 RESULT: Faster deliveries, lower costs, competitive advantage—all without environmental compromise.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22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"/>
          <p:cNvSpPr/>
          <p:nvPr/>
        </p:nvSpPr>
        <p:spPr>
          <a:xfrm>
            <a:off x="485640" y="271440"/>
            <a:ext cx="8171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Business Model: Predictable Revenue, Scalable Growth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3"/>
          <p:cNvSpPr/>
          <p:nvPr/>
        </p:nvSpPr>
        <p:spPr>
          <a:xfrm>
            <a:off x="485640" y="655560"/>
            <a:ext cx="8171640" cy="17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Multiple revenue streams creating predictable income while remaining flexible to SME budgets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4"/>
          <p:cNvSpPr/>
          <p:nvPr/>
        </p:nvSpPr>
        <p:spPr>
          <a:xfrm>
            <a:off x="485640" y="1159200"/>
            <a:ext cx="4028400" cy="14976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5"/>
          <p:cNvSpPr/>
          <p:nvPr/>
        </p:nvSpPr>
        <p:spPr>
          <a:xfrm>
            <a:off x="628560" y="1302120"/>
            <a:ext cx="3742560" cy="24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Pay-Per-Delivery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6"/>
          <p:cNvSpPr/>
          <p:nvPr/>
        </p:nvSpPr>
        <p:spPr>
          <a:xfrm>
            <a:off x="628560" y="1634040"/>
            <a:ext cx="3742560" cy="44388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7"/>
          <p:cNvSpPr/>
          <p:nvPr/>
        </p:nvSpPr>
        <p:spPr>
          <a:xfrm>
            <a:off x="628560" y="1634040"/>
            <a:ext cx="3742560" cy="44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84960" rIns="84960" bIns="84960" anchor="t">
            <a:spAutoFit/>
          </a:bodyPr>
          <a:lstStyle/>
          <a:p>
            <a:pPr algn="ctr"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9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15-30 BDT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8"/>
          <p:cNvSpPr/>
          <p:nvPr/>
        </p:nvSpPr>
        <p:spPr>
          <a:xfrm>
            <a:off x="628560" y="2121840"/>
            <a:ext cx="3742560" cy="32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Variable revenue scales with transaction volume, aligned with customer success. Incentivizes efficient operations.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9"/>
          <p:cNvSpPr/>
          <p:nvPr/>
        </p:nvSpPr>
        <p:spPr>
          <a:xfrm>
            <a:off x="4629240" y="1159200"/>
            <a:ext cx="4028400" cy="14976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0"/>
          <p:cNvSpPr/>
          <p:nvPr/>
        </p:nvSpPr>
        <p:spPr>
          <a:xfrm>
            <a:off x="4772160" y="1302120"/>
            <a:ext cx="3742560" cy="24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AI Dashboard Subscription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1"/>
          <p:cNvSpPr/>
          <p:nvPr/>
        </p:nvSpPr>
        <p:spPr>
          <a:xfrm>
            <a:off x="4772160" y="1634040"/>
            <a:ext cx="3742560" cy="44388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2"/>
          <p:cNvSpPr/>
          <p:nvPr/>
        </p:nvSpPr>
        <p:spPr>
          <a:xfrm>
            <a:off x="4772160" y="1634040"/>
            <a:ext cx="3742560" cy="44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84960" rIns="84960" bIns="84960" anchor="t">
            <a:spAutoFit/>
          </a:bodyPr>
          <a:lstStyle/>
          <a:p>
            <a:pPr algn="ctr"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9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500-2,000 BDT/month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3"/>
          <p:cNvSpPr/>
          <p:nvPr/>
        </p:nvSpPr>
        <p:spPr>
          <a:xfrm>
            <a:off x="4772160" y="2129760"/>
            <a:ext cx="3742560" cy="32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Recurring revenue for analytics, scheduling, and premium features. Tiered pricing for different SME sizes.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4"/>
          <p:cNvSpPr/>
          <p:nvPr/>
        </p:nvSpPr>
        <p:spPr>
          <a:xfrm>
            <a:off x="485640" y="2708280"/>
            <a:ext cx="4028400" cy="14976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5"/>
          <p:cNvSpPr/>
          <p:nvPr/>
        </p:nvSpPr>
        <p:spPr>
          <a:xfrm>
            <a:off x="628560" y="2851200"/>
            <a:ext cx="3742560" cy="24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Strategic Partnerships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6"/>
          <p:cNvSpPr/>
          <p:nvPr/>
        </p:nvSpPr>
        <p:spPr>
          <a:xfrm>
            <a:off x="628560" y="3183480"/>
            <a:ext cx="3742560" cy="44388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7"/>
          <p:cNvSpPr/>
          <p:nvPr/>
        </p:nvSpPr>
        <p:spPr>
          <a:xfrm>
            <a:off x="628560" y="3183480"/>
            <a:ext cx="3742560" cy="44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84960" rIns="84960" bIns="84960" anchor="t">
            <a:spAutoFit/>
          </a:bodyPr>
          <a:lstStyle/>
          <a:p>
            <a:pPr algn="ctr"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9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Revenue Sharing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8"/>
          <p:cNvSpPr/>
          <p:nvPr/>
        </p:nvSpPr>
        <p:spPr>
          <a:xfrm>
            <a:off x="628560" y="3670920"/>
            <a:ext cx="3742560" cy="32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Co-branded solutions with e-commerce platforms and logistics companies expand reach and market credibility.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9"/>
          <p:cNvSpPr/>
          <p:nvPr/>
        </p:nvSpPr>
        <p:spPr>
          <a:xfrm>
            <a:off x="4629240" y="2708280"/>
            <a:ext cx="4028400" cy="149760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0"/>
          <p:cNvSpPr/>
          <p:nvPr/>
        </p:nvSpPr>
        <p:spPr>
          <a:xfrm>
            <a:off x="4772160" y="2872800"/>
            <a:ext cx="3742560" cy="24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Fleet Leasing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1"/>
          <p:cNvSpPr/>
          <p:nvPr/>
        </p:nvSpPr>
        <p:spPr>
          <a:xfrm>
            <a:off x="4772160" y="3204720"/>
            <a:ext cx="3742560" cy="44388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2"/>
          <p:cNvSpPr/>
          <p:nvPr/>
        </p:nvSpPr>
        <p:spPr>
          <a:xfrm>
            <a:off x="4772160" y="3204720"/>
            <a:ext cx="3742560" cy="44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84960" rIns="84960" bIns="84960" anchor="t">
            <a:spAutoFit/>
          </a:bodyPr>
          <a:lstStyle/>
          <a:p>
            <a:pPr algn="ctr"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9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Equipment-as-a-Service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3"/>
          <p:cNvSpPr/>
          <p:nvPr/>
        </p:nvSpPr>
        <p:spPr>
          <a:xfrm>
            <a:off x="4772160" y="3706560"/>
            <a:ext cx="3742560" cy="32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Maintenance and support included. Lowers customer capital requirements and ensures recurring revenue.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4"/>
          <p:cNvSpPr/>
          <p:nvPr/>
        </p:nvSpPr>
        <p:spPr>
          <a:xfrm>
            <a:off x="485640" y="4313880"/>
            <a:ext cx="8171640" cy="61380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5"/>
          <p:cNvSpPr/>
          <p:nvPr/>
        </p:nvSpPr>
        <p:spPr>
          <a:xfrm>
            <a:off x="485640" y="4313880"/>
            <a:ext cx="8171640" cy="61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89280" rIns="136080" bIns="89280" anchor="t">
            <a:spAutoFit/>
          </a:bodyPr>
          <a:lstStyle/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FLEXIBLE MODEL: Combines variable (pay-per-delivery) and recurring (subscriptions) revenue, ensuring sustainable growth while maintaining affordability for SMEs.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Shape 0"/>
          <p:cNvSpPr/>
          <p:nvPr/>
        </p:nvSpPr>
        <p:spPr>
          <a:xfrm>
            <a:off x="57240" y="57240"/>
            <a:ext cx="9029160" cy="90900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"/>
          <p:cNvSpPr/>
          <p:nvPr/>
        </p:nvSpPr>
        <p:spPr>
          <a:xfrm>
            <a:off x="57240" y="93816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"/>
          <p:cNvSpPr/>
          <p:nvPr/>
        </p:nvSpPr>
        <p:spPr>
          <a:xfrm>
            <a:off x="485640" y="271440"/>
            <a:ext cx="8171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Costing: Strategic Investment for Market Entry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3"/>
          <p:cNvSpPr/>
          <p:nvPr/>
        </p:nvSpPr>
        <p:spPr>
          <a:xfrm>
            <a:off x="485640" y="641160"/>
            <a:ext cx="8171640" cy="15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Breakdown of 10M BDT to complete pilot and hit Year 2 revenue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4"/>
          <p:cNvSpPr/>
          <p:nvPr/>
        </p:nvSpPr>
        <p:spPr>
          <a:xfrm>
            <a:off x="485640" y="1653840"/>
            <a:ext cx="8171640" cy="180216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5"/>
          <p:cNvSpPr/>
          <p:nvPr/>
        </p:nvSpPr>
        <p:spPr>
          <a:xfrm>
            <a:off x="485640" y="1675080"/>
            <a:ext cx="8171640" cy="24804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6"/>
          <p:cNvSpPr/>
          <p:nvPr/>
        </p:nvSpPr>
        <p:spPr>
          <a:xfrm>
            <a:off x="485640" y="1909440"/>
            <a:ext cx="8171640" cy="1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600" rIns="90000" bIns="-306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7"/>
          <p:cNvSpPr/>
          <p:nvPr/>
        </p:nvSpPr>
        <p:spPr>
          <a:xfrm>
            <a:off x="485640" y="1682280"/>
            <a:ext cx="2971080" cy="2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COMPONENT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8"/>
          <p:cNvSpPr/>
          <p:nvPr/>
        </p:nvSpPr>
        <p:spPr>
          <a:xfrm>
            <a:off x="3457440" y="1682280"/>
            <a:ext cx="2228040" cy="2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ESTIMATED COST (BDT)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9"/>
          <p:cNvSpPr/>
          <p:nvPr/>
        </p:nvSpPr>
        <p:spPr>
          <a:xfrm>
            <a:off x="5686560" y="1682280"/>
            <a:ext cx="2971080" cy="2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JUSTIFICATION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0"/>
          <p:cNvSpPr/>
          <p:nvPr/>
        </p:nvSpPr>
        <p:spPr>
          <a:xfrm>
            <a:off x="485640" y="1916640"/>
            <a:ext cx="2971080" cy="2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R&amp;D and Prototyping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1"/>
          <p:cNvSpPr/>
          <p:nvPr/>
        </p:nvSpPr>
        <p:spPr>
          <a:xfrm>
            <a:off x="3457440" y="1916640"/>
            <a:ext cx="2228040" cy="2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algn="r"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3,000,000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2"/>
          <p:cNvSpPr/>
          <p:nvPr/>
        </p:nvSpPr>
        <p:spPr>
          <a:xfrm>
            <a:off x="5686560" y="1916640"/>
            <a:ext cx="2971080" cy="2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Finalize design, sensors, LoRa, and AI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3"/>
          <p:cNvSpPr/>
          <p:nvPr/>
        </p:nvSpPr>
        <p:spPr>
          <a:xfrm>
            <a:off x="485640" y="2165040"/>
            <a:ext cx="2971080" cy="2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Initial Fleet Acquisition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4"/>
          <p:cNvSpPr/>
          <p:nvPr/>
        </p:nvSpPr>
        <p:spPr>
          <a:xfrm>
            <a:off x="3457440" y="2165040"/>
            <a:ext cx="2228040" cy="2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algn="r"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4,000,000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5"/>
          <p:cNvSpPr/>
          <p:nvPr/>
        </p:nvSpPr>
        <p:spPr>
          <a:xfrm>
            <a:off x="5686560" y="2165040"/>
            <a:ext cx="2971080" cy="2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Buy 8–10 VTOL drones incl. components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6"/>
          <p:cNvSpPr/>
          <p:nvPr/>
        </p:nvSpPr>
        <p:spPr>
          <a:xfrm>
            <a:off x="485640" y="2413800"/>
            <a:ext cx="2971080" cy="2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Micro-Hub Setup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7"/>
          <p:cNvSpPr/>
          <p:nvPr/>
        </p:nvSpPr>
        <p:spPr>
          <a:xfrm>
            <a:off x="3457440" y="2413800"/>
            <a:ext cx="2228040" cy="2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algn="r"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1,000,000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8"/>
          <p:cNvSpPr/>
          <p:nvPr/>
        </p:nvSpPr>
        <p:spPr>
          <a:xfrm>
            <a:off x="5686560" y="2413800"/>
            <a:ext cx="2971080" cy="2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Pabna hub: solar, storage, dispatch, security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9"/>
          <p:cNvSpPr/>
          <p:nvPr/>
        </p:nvSpPr>
        <p:spPr>
          <a:xfrm>
            <a:off x="485640" y="2662200"/>
            <a:ext cx="2971080" cy="2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Software Development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20"/>
          <p:cNvSpPr/>
          <p:nvPr/>
        </p:nvSpPr>
        <p:spPr>
          <a:xfrm>
            <a:off x="3457440" y="2662200"/>
            <a:ext cx="2228040" cy="2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algn="r"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1,500,000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21"/>
          <p:cNvSpPr/>
          <p:nvPr/>
        </p:nvSpPr>
        <p:spPr>
          <a:xfrm>
            <a:off x="5686560" y="2662200"/>
            <a:ext cx="2971080" cy="2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AI dashboard, routing, API, mobile app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22"/>
          <p:cNvSpPr/>
          <p:nvPr/>
        </p:nvSpPr>
        <p:spPr>
          <a:xfrm>
            <a:off x="485640" y="2910960"/>
            <a:ext cx="2971080" cy="2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Regulatory &amp; Legal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3"/>
          <p:cNvSpPr/>
          <p:nvPr/>
        </p:nvSpPr>
        <p:spPr>
          <a:xfrm>
            <a:off x="3457440" y="2910960"/>
            <a:ext cx="2228040" cy="2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algn="r"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500,000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24"/>
          <p:cNvSpPr/>
          <p:nvPr/>
        </p:nvSpPr>
        <p:spPr>
          <a:xfrm>
            <a:off x="5686560" y="2910960"/>
            <a:ext cx="2971080" cy="2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BVLOS, permits, compliance, legal setup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25"/>
          <p:cNvSpPr/>
          <p:nvPr/>
        </p:nvSpPr>
        <p:spPr>
          <a:xfrm>
            <a:off x="485640" y="3159360"/>
            <a:ext cx="8171640" cy="26784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26"/>
          <p:cNvSpPr/>
          <p:nvPr/>
        </p:nvSpPr>
        <p:spPr>
          <a:xfrm>
            <a:off x="485640" y="3159360"/>
            <a:ext cx="2971080" cy="26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TOTAL INITIAL ASK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27"/>
          <p:cNvSpPr/>
          <p:nvPr/>
        </p:nvSpPr>
        <p:spPr>
          <a:xfrm>
            <a:off x="3457440" y="3159360"/>
            <a:ext cx="2228040" cy="26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68040" rIns="136080" bIns="68040" anchor="t">
            <a:spAutoFit/>
          </a:bodyPr>
          <a:lstStyle/>
          <a:p>
            <a:pPr algn="r" defTabSz="914400">
              <a:lnSpc>
                <a:spcPts val="1199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10,000,000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8"/>
          <p:cNvSpPr/>
          <p:nvPr/>
        </p:nvSpPr>
        <p:spPr>
          <a:xfrm>
            <a:off x="5686560" y="3159360"/>
            <a:ext cx="2971080" cy="26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57600" rIns="13608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Funds pilot and market entry by Q4 2026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9"/>
          <p:cNvSpPr/>
          <p:nvPr/>
        </p:nvSpPr>
        <p:spPr>
          <a:xfrm>
            <a:off x="485640" y="3513600"/>
            <a:ext cx="8171640" cy="82800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30"/>
          <p:cNvSpPr/>
          <p:nvPr/>
        </p:nvSpPr>
        <p:spPr>
          <a:xfrm>
            <a:off x="557280" y="3606480"/>
            <a:ext cx="8028720" cy="13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1100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Capital Required for Pilot Completion &amp; Market Entry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31"/>
          <p:cNvSpPr/>
          <p:nvPr/>
        </p:nvSpPr>
        <p:spPr>
          <a:xfrm>
            <a:off x="557280" y="3746520"/>
            <a:ext cx="802872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25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10,000,000 BDT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32"/>
          <p:cNvSpPr/>
          <p:nvPr/>
        </p:nvSpPr>
        <p:spPr>
          <a:xfrm>
            <a:off x="557280" y="4109400"/>
            <a:ext cx="8028720" cy="13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1100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Funds prototype, approvals, and Pabna pilot with 50 SMEs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29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"/>
          <p:cNvSpPr/>
          <p:nvPr/>
        </p:nvSpPr>
        <p:spPr>
          <a:xfrm>
            <a:off x="485640" y="271440"/>
            <a:ext cx="8171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Financial Projections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3"/>
          <p:cNvSpPr/>
          <p:nvPr/>
        </p:nvSpPr>
        <p:spPr>
          <a:xfrm>
            <a:off x="485640" y="655560"/>
            <a:ext cx="8171640" cy="17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Clear Path to 100 Million BDT Revenue and Market Leadership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4"/>
          <p:cNvSpPr/>
          <p:nvPr/>
        </p:nvSpPr>
        <p:spPr>
          <a:xfrm>
            <a:off x="485640" y="1130400"/>
            <a:ext cx="8171640" cy="157104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5" name="Image 1" descr="preencoded.png"/>
          <p:cNvPicPr/>
          <p:nvPr/>
        </p:nvPicPr>
        <p:blipFill>
          <a:blip r:embed="rId4"/>
          <a:stretch/>
        </p:blipFill>
        <p:spPr>
          <a:xfrm>
            <a:off x="628560" y="1273320"/>
            <a:ext cx="7842960" cy="124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6" name="Shape 5"/>
          <p:cNvSpPr/>
          <p:nvPr/>
        </p:nvSpPr>
        <p:spPr>
          <a:xfrm>
            <a:off x="485640" y="2902320"/>
            <a:ext cx="8171640" cy="108504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6"/>
          <p:cNvSpPr/>
          <p:nvPr/>
        </p:nvSpPr>
        <p:spPr>
          <a:xfrm>
            <a:off x="485640" y="2902320"/>
            <a:ext cx="8171640" cy="26352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7"/>
          <p:cNvSpPr/>
          <p:nvPr/>
        </p:nvSpPr>
        <p:spPr>
          <a:xfrm>
            <a:off x="485640" y="3152160"/>
            <a:ext cx="8171640" cy="1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600" rIns="90000" bIns="-306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8"/>
          <p:cNvSpPr/>
          <p:nvPr/>
        </p:nvSpPr>
        <p:spPr>
          <a:xfrm>
            <a:off x="485640" y="2902320"/>
            <a:ext cx="272340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040" tIns="57600" rIns="6804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YEAR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9"/>
          <p:cNvSpPr/>
          <p:nvPr/>
        </p:nvSpPr>
        <p:spPr>
          <a:xfrm>
            <a:off x="3209760" y="2902320"/>
            <a:ext cx="272340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040" tIns="57600" rIns="6804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FOCUS AREA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0"/>
          <p:cNvSpPr/>
          <p:nvPr/>
        </p:nvSpPr>
        <p:spPr>
          <a:xfrm>
            <a:off x="5933880" y="2902320"/>
            <a:ext cx="272340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040" tIns="57600" rIns="6804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REVENUE TARGET (BDT)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11"/>
          <p:cNvSpPr/>
          <p:nvPr/>
        </p:nvSpPr>
        <p:spPr>
          <a:xfrm>
            <a:off x="485640" y="3152160"/>
            <a:ext cx="8171640" cy="263520"/>
          </a:xfrm>
          <a:prstGeom prst="rect">
            <a:avLst/>
          </a:prstGeom>
          <a:solidFill>
            <a:srgbClr val="E8F4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12"/>
          <p:cNvSpPr/>
          <p:nvPr/>
        </p:nvSpPr>
        <p:spPr>
          <a:xfrm>
            <a:off x="485640" y="3402360"/>
            <a:ext cx="8171640" cy="1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600" rIns="90000" bIns="-306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3"/>
          <p:cNvSpPr/>
          <p:nvPr/>
        </p:nvSpPr>
        <p:spPr>
          <a:xfrm>
            <a:off x="485640" y="3152160"/>
            <a:ext cx="272340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040" tIns="57600" rIns="6804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Year 1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4"/>
          <p:cNvSpPr/>
          <p:nvPr/>
        </p:nvSpPr>
        <p:spPr>
          <a:xfrm>
            <a:off x="3209760" y="3152160"/>
            <a:ext cx="272340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040" tIns="57600" rIns="6804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R&amp;D, Pilot, Regulatory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5"/>
          <p:cNvSpPr/>
          <p:nvPr/>
        </p:nvSpPr>
        <p:spPr>
          <a:xfrm>
            <a:off x="5933880" y="3152160"/>
            <a:ext cx="272340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040" tIns="57600" rIns="6804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0 BDT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16"/>
          <p:cNvSpPr/>
          <p:nvPr/>
        </p:nvSpPr>
        <p:spPr>
          <a:xfrm>
            <a:off x="485640" y="3402360"/>
            <a:ext cx="8171640" cy="263520"/>
          </a:xfrm>
          <a:prstGeom prst="rect">
            <a:avLst/>
          </a:prstGeom>
          <a:solidFill>
            <a:srgbClr val="FFE8D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7"/>
          <p:cNvSpPr/>
          <p:nvPr/>
        </p:nvSpPr>
        <p:spPr>
          <a:xfrm>
            <a:off x="485640" y="3652200"/>
            <a:ext cx="8171640" cy="1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600" rIns="90000" bIns="-306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8"/>
          <p:cNvSpPr/>
          <p:nvPr/>
        </p:nvSpPr>
        <p:spPr>
          <a:xfrm>
            <a:off x="485640" y="3402360"/>
            <a:ext cx="272340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040" tIns="57600" rIns="6804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Year 2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9"/>
          <p:cNvSpPr/>
          <p:nvPr/>
        </p:nvSpPr>
        <p:spPr>
          <a:xfrm>
            <a:off x="3209760" y="3402360"/>
            <a:ext cx="272340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040" tIns="57600" rIns="6804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Commercialization, 50 SME Contracts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20"/>
          <p:cNvSpPr/>
          <p:nvPr/>
        </p:nvSpPr>
        <p:spPr>
          <a:xfrm>
            <a:off x="5933880" y="3402360"/>
            <a:ext cx="272340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040" tIns="57600" rIns="6804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1,000,000 BDT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21"/>
          <p:cNvSpPr/>
          <p:nvPr/>
        </p:nvSpPr>
        <p:spPr>
          <a:xfrm>
            <a:off x="485640" y="3652200"/>
            <a:ext cx="8171640" cy="249480"/>
          </a:xfrm>
          <a:prstGeom prst="rect">
            <a:avLst/>
          </a:prstGeom>
          <a:solidFill>
            <a:srgbClr val="D6FF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22"/>
          <p:cNvSpPr/>
          <p:nvPr/>
        </p:nvSpPr>
        <p:spPr>
          <a:xfrm>
            <a:off x="485640" y="3652200"/>
            <a:ext cx="272340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040" tIns="57600" rIns="6804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Year 3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3"/>
          <p:cNvSpPr/>
          <p:nvPr/>
        </p:nvSpPr>
        <p:spPr>
          <a:xfrm>
            <a:off x="3209760" y="3652200"/>
            <a:ext cx="272340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040" tIns="57600" rIns="6804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Scale-up, Multi-District Expansion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4"/>
          <p:cNvSpPr/>
          <p:nvPr/>
        </p:nvSpPr>
        <p:spPr>
          <a:xfrm>
            <a:off x="5933880" y="3652200"/>
            <a:ext cx="272340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040" tIns="57600" rIns="6804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100,000,000 BDT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25"/>
          <p:cNvSpPr/>
          <p:nvPr/>
        </p:nvSpPr>
        <p:spPr>
          <a:xfrm>
            <a:off x="485640" y="4002120"/>
            <a:ext cx="2647080" cy="103428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26"/>
          <p:cNvSpPr/>
          <p:nvPr/>
        </p:nvSpPr>
        <p:spPr>
          <a:xfrm>
            <a:off x="600120" y="4119480"/>
            <a:ext cx="2418480" cy="11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799"/>
              </a:lnSpc>
              <a:tabLst>
                <a:tab pos="0" algn="l"/>
              </a:tabLst>
            </a:pPr>
            <a:r>
              <a:rPr lang="en-US" sz="58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Return on Investment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27"/>
          <p:cNvSpPr/>
          <p:nvPr/>
        </p:nvSpPr>
        <p:spPr>
          <a:xfrm>
            <a:off x="600120" y="4293000"/>
            <a:ext cx="24184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2.5 YRS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8"/>
          <p:cNvSpPr/>
          <p:nvPr/>
        </p:nvSpPr>
        <p:spPr>
          <a:xfrm>
            <a:off x="600120" y="4623120"/>
            <a:ext cx="2418480" cy="25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001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Projected ROI based on initial investment and revenue growth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29"/>
          <p:cNvSpPr/>
          <p:nvPr/>
        </p:nvSpPr>
        <p:spPr>
          <a:xfrm>
            <a:off x="3247920" y="4005360"/>
            <a:ext cx="2647080" cy="99144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30"/>
          <p:cNvSpPr/>
          <p:nvPr/>
        </p:nvSpPr>
        <p:spPr>
          <a:xfrm>
            <a:off x="3362400" y="4119480"/>
            <a:ext cx="2418480" cy="11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799"/>
              </a:lnSpc>
              <a:tabLst>
                <a:tab pos="0" algn="l"/>
              </a:tabLst>
            </a:pPr>
            <a:r>
              <a:rPr lang="en-US" sz="58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Profit Phase Entry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31"/>
          <p:cNvSpPr/>
          <p:nvPr/>
        </p:nvSpPr>
        <p:spPr>
          <a:xfrm>
            <a:off x="3362400" y="4293000"/>
            <a:ext cx="24184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Q4 YR 2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32"/>
          <p:cNvSpPr/>
          <p:nvPr/>
        </p:nvSpPr>
        <p:spPr>
          <a:xfrm>
            <a:off x="3362400" y="4623120"/>
            <a:ext cx="2418480" cy="12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1001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When recurring revenue exceeds operational costs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33"/>
          <p:cNvSpPr/>
          <p:nvPr/>
        </p:nvSpPr>
        <p:spPr>
          <a:xfrm>
            <a:off x="6010200" y="4005360"/>
            <a:ext cx="2647080" cy="99144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34"/>
          <p:cNvSpPr/>
          <p:nvPr/>
        </p:nvSpPr>
        <p:spPr>
          <a:xfrm>
            <a:off x="6124680" y="4119480"/>
            <a:ext cx="2418480" cy="11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799"/>
              </a:lnSpc>
              <a:tabLst>
                <a:tab pos="0" algn="l"/>
              </a:tabLst>
            </a:pPr>
            <a:r>
              <a:rPr lang="en-US" sz="58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Initial Investment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35"/>
          <p:cNvSpPr/>
          <p:nvPr/>
        </p:nvSpPr>
        <p:spPr>
          <a:xfrm>
            <a:off x="6124680" y="4293000"/>
            <a:ext cx="24184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10M BDT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36"/>
          <p:cNvSpPr/>
          <p:nvPr/>
        </p:nvSpPr>
        <p:spPr>
          <a:xfrm>
            <a:off x="6124680" y="4623120"/>
            <a:ext cx="2418480" cy="12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1001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Capital required for pilot and market entry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2"/>
          <p:cNvSpPr/>
          <p:nvPr/>
        </p:nvSpPr>
        <p:spPr>
          <a:xfrm>
            <a:off x="485640" y="271440"/>
            <a:ext cx="8171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Go-to-Market Strategy: Phased Rollout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3"/>
          <p:cNvSpPr/>
          <p:nvPr/>
        </p:nvSpPr>
        <p:spPr>
          <a:xfrm>
            <a:off x="485640" y="655560"/>
            <a:ext cx="8171640" cy="17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Strategic approach targeting high-density SME clusters with proof-of-concept and scalable growth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4"/>
          <p:cNvSpPr/>
          <p:nvPr/>
        </p:nvSpPr>
        <p:spPr>
          <a:xfrm>
            <a:off x="485640" y="1220760"/>
            <a:ext cx="4042800" cy="15868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5"/>
          <p:cNvSpPr/>
          <p:nvPr/>
        </p:nvSpPr>
        <p:spPr>
          <a:xfrm>
            <a:off x="585720" y="1320840"/>
            <a:ext cx="3842640" cy="34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01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6"/>
          <p:cNvSpPr/>
          <p:nvPr/>
        </p:nvSpPr>
        <p:spPr>
          <a:xfrm>
            <a:off x="585720" y="1728000"/>
            <a:ext cx="3842640" cy="25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5112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Pilot Launch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7"/>
          <p:cNvSpPr/>
          <p:nvPr/>
        </p:nvSpPr>
        <p:spPr>
          <a:xfrm>
            <a:off x="585720" y="2036880"/>
            <a:ext cx="3842640" cy="32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Deploy 8-10 drones across 50 SME partners in Pabna district. Validate operations, gather data, and build proof-of-concept.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8"/>
          <p:cNvSpPr/>
          <p:nvPr/>
        </p:nvSpPr>
        <p:spPr>
          <a:xfrm>
            <a:off x="585720" y="2415600"/>
            <a:ext cx="3842640" cy="24948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9"/>
          <p:cNvSpPr/>
          <p:nvPr/>
        </p:nvSpPr>
        <p:spPr>
          <a:xfrm>
            <a:off x="585720" y="2415600"/>
            <a:ext cx="384264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2240" tIns="51120" rIns="102240" bIns="51120" anchor="t">
            <a:spAutoFit/>
          </a:bodyPr>
          <a:lstStyle/>
          <a:p>
            <a:pPr algn="ctr"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50 SME PARTNERS | PABNA DISTRICT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10"/>
          <p:cNvSpPr/>
          <p:nvPr/>
        </p:nvSpPr>
        <p:spPr>
          <a:xfrm>
            <a:off x="4614840" y="1220760"/>
            <a:ext cx="4042800" cy="15868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1"/>
          <p:cNvSpPr/>
          <p:nvPr/>
        </p:nvSpPr>
        <p:spPr>
          <a:xfrm>
            <a:off x="4714920" y="1342080"/>
            <a:ext cx="3842640" cy="34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02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2"/>
          <p:cNvSpPr/>
          <p:nvPr/>
        </p:nvSpPr>
        <p:spPr>
          <a:xfrm>
            <a:off x="4714920" y="1749240"/>
            <a:ext cx="3842640" cy="25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5112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Strategic Partnerships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3"/>
          <p:cNvSpPr/>
          <p:nvPr/>
        </p:nvSpPr>
        <p:spPr>
          <a:xfrm>
            <a:off x="4714920" y="2058120"/>
            <a:ext cx="3842640" cy="32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Align with e-commerce platforms, local retailers, and business associations for distribution, credibility, and co-branded solutions.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4"/>
          <p:cNvSpPr/>
          <p:nvPr/>
        </p:nvSpPr>
        <p:spPr>
          <a:xfrm>
            <a:off x="4714920" y="2436840"/>
            <a:ext cx="3842640" cy="24948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5"/>
          <p:cNvSpPr/>
          <p:nvPr/>
        </p:nvSpPr>
        <p:spPr>
          <a:xfrm>
            <a:off x="4714920" y="2436840"/>
            <a:ext cx="384264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2240" tIns="51120" rIns="102240" bIns="51120" anchor="t">
            <a:spAutoFit/>
          </a:bodyPr>
          <a:lstStyle/>
          <a:p>
            <a:pPr algn="ctr"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PARTNERSHIPS WITH KEY STAKEHOLDERS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16"/>
          <p:cNvSpPr/>
          <p:nvPr/>
        </p:nvSpPr>
        <p:spPr>
          <a:xfrm>
            <a:off x="485640" y="2858400"/>
            <a:ext cx="4042800" cy="15868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7"/>
          <p:cNvSpPr/>
          <p:nvPr/>
        </p:nvSpPr>
        <p:spPr>
          <a:xfrm>
            <a:off x="585720" y="2958480"/>
            <a:ext cx="3842640" cy="34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03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8"/>
          <p:cNvSpPr/>
          <p:nvPr/>
        </p:nvSpPr>
        <p:spPr>
          <a:xfrm>
            <a:off x="585720" y="3365640"/>
            <a:ext cx="3842640" cy="25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5112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Digital Marketing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9"/>
          <p:cNvSpPr/>
          <p:nvPr/>
        </p:nvSpPr>
        <p:spPr>
          <a:xfrm>
            <a:off x="585720" y="3674520"/>
            <a:ext cx="3842640" cy="32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Targeted campaigns, case studies, and influencer partnerships within SME networks. Build brand awareness and trust through social proof.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20"/>
          <p:cNvSpPr/>
          <p:nvPr/>
        </p:nvSpPr>
        <p:spPr>
          <a:xfrm>
            <a:off x="585720" y="4053240"/>
            <a:ext cx="3842640" cy="24948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21"/>
          <p:cNvSpPr/>
          <p:nvPr/>
        </p:nvSpPr>
        <p:spPr>
          <a:xfrm>
            <a:off x="585720" y="4053240"/>
            <a:ext cx="384264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2240" tIns="51120" rIns="102240" bIns="51120" anchor="t">
            <a:spAutoFit/>
          </a:bodyPr>
          <a:lstStyle/>
          <a:p>
            <a:pPr algn="ctr"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CASE STUDIES &amp; SOCIAL PROOF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22"/>
          <p:cNvSpPr/>
          <p:nvPr/>
        </p:nvSpPr>
        <p:spPr>
          <a:xfrm>
            <a:off x="4614840" y="2858400"/>
            <a:ext cx="4042800" cy="15868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23"/>
          <p:cNvSpPr/>
          <p:nvPr/>
        </p:nvSpPr>
        <p:spPr>
          <a:xfrm>
            <a:off x="4714920" y="2979720"/>
            <a:ext cx="3842640" cy="34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04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24"/>
          <p:cNvSpPr/>
          <p:nvPr/>
        </p:nvSpPr>
        <p:spPr>
          <a:xfrm>
            <a:off x="4714920" y="3386880"/>
            <a:ext cx="3842640" cy="25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5112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Referral Program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25"/>
          <p:cNvSpPr/>
          <p:nvPr/>
        </p:nvSpPr>
        <p:spPr>
          <a:xfrm>
            <a:off x="4714920" y="3696120"/>
            <a:ext cx="3842640" cy="32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Incentivize early adopters to drive organic growth and peer adoption. Create network effects and sustainable customer acquisition.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26"/>
          <p:cNvSpPr/>
          <p:nvPr/>
        </p:nvSpPr>
        <p:spPr>
          <a:xfrm>
            <a:off x="4714920" y="4074480"/>
            <a:ext cx="3842640" cy="24948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27"/>
          <p:cNvSpPr/>
          <p:nvPr/>
        </p:nvSpPr>
        <p:spPr>
          <a:xfrm>
            <a:off x="4714920" y="4074480"/>
            <a:ext cx="384264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2240" tIns="51120" rIns="102240" bIns="51120" anchor="t">
            <a:spAutoFit/>
          </a:bodyPr>
          <a:lstStyle/>
          <a:p>
            <a:pPr algn="ctr"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INCENTIVIZED ORGANIC GROWTH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28"/>
          <p:cNvSpPr/>
          <p:nvPr/>
        </p:nvSpPr>
        <p:spPr>
          <a:xfrm>
            <a:off x="485640" y="4496040"/>
            <a:ext cx="8171640" cy="34236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29"/>
          <p:cNvSpPr/>
          <p:nvPr/>
        </p:nvSpPr>
        <p:spPr>
          <a:xfrm>
            <a:off x="485640" y="4496040"/>
            <a:ext cx="8171640" cy="34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84960" rIns="84960" bIns="84960" anchor="t">
            <a:spAutoFit/>
          </a:bodyPr>
          <a:lstStyle/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TIMELINE: Pilot Launch (Q3 2026) → Strategic Partnerships (Q4 2026) → Digital Marketing (Q1 2027) → Referral Program (Ongoing)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19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0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2"/>
          <p:cNvSpPr/>
          <p:nvPr/>
        </p:nvSpPr>
        <p:spPr>
          <a:xfrm>
            <a:off x="485640" y="271440"/>
            <a:ext cx="8171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Competitive Moat: Data-Driven Advantage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3"/>
          <p:cNvSpPr/>
          <p:nvPr/>
        </p:nvSpPr>
        <p:spPr>
          <a:xfrm>
            <a:off x="485640" y="655560"/>
            <a:ext cx="8171640" cy="17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Self-learning data loop creates a defensible market position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4"/>
          <p:cNvSpPr/>
          <p:nvPr/>
        </p:nvSpPr>
        <p:spPr>
          <a:xfrm>
            <a:off x="485640" y="1101960"/>
            <a:ext cx="4046040" cy="15832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5"/>
          <p:cNvSpPr/>
          <p:nvPr/>
        </p:nvSpPr>
        <p:spPr>
          <a:xfrm>
            <a:off x="628560" y="1244880"/>
            <a:ext cx="3760560" cy="34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🔗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6"/>
          <p:cNvSpPr/>
          <p:nvPr/>
        </p:nvSpPr>
        <p:spPr>
          <a:xfrm>
            <a:off x="628560" y="1680480"/>
            <a:ext cx="3760560" cy="26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Integrated Platform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7"/>
          <p:cNvSpPr/>
          <p:nvPr/>
        </p:nvSpPr>
        <p:spPr>
          <a:xfrm>
            <a:off x="628560" y="2018160"/>
            <a:ext cx="3760560" cy="48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Unlike traditional couriers or standalone analytics platforms, GreenLift AI combines delivery logistics and AI business intelligence in one unified ecosystem.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8"/>
          <p:cNvSpPr/>
          <p:nvPr/>
        </p:nvSpPr>
        <p:spPr>
          <a:xfrm>
            <a:off x="4611240" y="1101960"/>
            <a:ext cx="4046040" cy="15832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9"/>
          <p:cNvSpPr/>
          <p:nvPr/>
        </p:nvSpPr>
        <p:spPr>
          <a:xfrm>
            <a:off x="4754160" y="1256400"/>
            <a:ext cx="3760560" cy="34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🌱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0"/>
          <p:cNvSpPr/>
          <p:nvPr/>
        </p:nvSpPr>
        <p:spPr>
          <a:xfrm>
            <a:off x="4754160" y="1692000"/>
            <a:ext cx="3760560" cy="26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Sustainability-First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1"/>
          <p:cNvSpPr/>
          <p:nvPr/>
        </p:nvSpPr>
        <p:spPr>
          <a:xfrm>
            <a:off x="4754160" y="2029680"/>
            <a:ext cx="3760560" cy="48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Green-fuel VTOL drones differentiate us in an increasingly eco-conscious market. Appeals to SMEs seeking carbon-neutral operations and brand enhancement.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2"/>
          <p:cNvSpPr/>
          <p:nvPr/>
        </p:nvSpPr>
        <p:spPr>
          <a:xfrm>
            <a:off x="485640" y="2733480"/>
            <a:ext cx="4046040" cy="15832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13"/>
          <p:cNvSpPr/>
          <p:nvPr/>
        </p:nvSpPr>
        <p:spPr>
          <a:xfrm>
            <a:off x="628560" y="2876400"/>
            <a:ext cx="3760560" cy="34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🌍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14"/>
          <p:cNvSpPr/>
          <p:nvPr/>
        </p:nvSpPr>
        <p:spPr>
          <a:xfrm>
            <a:off x="628560" y="3312000"/>
            <a:ext cx="3760560" cy="26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Local &amp; Inclusive Design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5"/>
          <p:cNvSpPr/>
          <p:nvPr/>
        </p:nvSpPr>
        <p:spPr>
          <a:xfrm>
            <a:off x="628560" y="3649680"/>
            <a:ext cx="3760560" cy="48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Designed specifically for Bangladesh's SME ecosystem. Bangla interface, low-tech literacy support, and rural infrastructure compatibility create barriers for global competitors.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16"/>
          <p:cNvSpPr/>
          <p:nvPr/>
        </p:nvSpPr>
        <p:spPr>
          <a:xfrm>
            <a:off x="4611240" y="2733480"/>
            <a:ext cx="4046040" cy="158328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7"/>
          <p:cNvSpPr/>
          <p:nvPr/>
        </p:nvSpPr>
        <p:spPr>
          <a:xfrm>
            <a:off x="4754160" y="2897640"/>
            <a:ext cx="3760560" cy="34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81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🧠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18"/>
          <p:cNvSpPr/>
          <p:nvPr/>
        </p:nvSpPr>
        <p:spPr>
          <a:xfrm>
            <a:off x="4754160" y="3333600"/>
            <a:ext cx="3760560" cy="26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Proprietary AI Algorithms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9"/>
          <p:cNvSpPr/>
          <p:nvPr/>
        </p:nvSpPr>
        <p:spPr>
          <a:xfrm>
            <a:off x="4754160" y="3670920"/>
            <a:ext cx="3760560" cy="48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Early regulatory alignment and proprietary machine learning models create high barriers to entry. Data improves with every delivery, strengthening competitive advantage.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20"/>
          <p:cNvSpPr/>
          <p:nvPr/>
        </p:nvSpPr>
        <p:spPr>
          <a:xfrm>
            <a:off x="485640" y="4381920"/>
            <a:ext cx="8171640" cy="613800"/>
          </a:xfrm>
          <a:prstGeom prst="rect">
            <a:avLst/>
          </a:prstGeom>
          <a:solidFill>
            <a:srgbClr val="FF5F1F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21"/>
          <p:cNvSpPr/>
          <p:nvPr/>
        </p:nvSpPr>
        <p:spPr>
          <a:xfrm>
            <a:off x="485640" y="4381920"/>
            <a:ext cx="8171640" cy="61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136080" rIns="136080" bIns="136080" anchor="t">
            <a:spAutoFit/>
          </a:bodyPr>
          <a:lstStyle/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en-US" sz="73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DEFENSIBLE POSITION: Every delivery generates data that improves our AI models. Early market entry, regulatory relationships, and local expertise create a self-reinforcing competitive moat that competitors cannot easily replicate.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3" name="Shape 0"/>
          <p:cNvSpPr/>
          <p:nvPr/>
        </p:nvSpPr>
        <p:spPr>
          <a:xfrm>
            <a:off x="57240" y="57240"/>
            <a:ext cx="9029160" cy="101556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1"/>
          <p:cNvSpPr/>
          <p:nvPr/>
        </p:nvSpPr>
        <p:spPr>
          <a:xfrm>
            <a:off x="57240" y="104472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2"/>
          <p:cNvSpPr/>
          <p:nvPr/>
        </p:nvSpPr>
        <p:spPr>
          <a:xfrm>
            <a:off x="485640" y="271440"/>
            <a:ext cx="8171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Next Steps: Accelerating to Market Leadership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3"/>
          <p:cNvSpPr/>
          <p:nvPr/>
        </p:nvSpPr>
        <p:spPr>
          <a:xfrm>
            <a:off x="485640" y="655560"/>
            <a:ext cx="8171640" cy="17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Clear roadmap for the next 12 months to secure BVLOS clearance and full pilot deployment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4"/>
          <p:cNvSpPr/>
          <p:nvPr/>
        </p:nvSpPr>
        <p:spPr>
          <a:xfrm>
            <a:off x="485640" y="1276920"/>
            <a:ext cx="1978200" cy="136944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5"/>
          <p:cNvSpPr/>
          <p:nvPr/>
        </p:nvSpPr>
        <p:spPr>
          <a:xfrm>
            <a:off x="600120" y="1391040"/>
            <a:ext cx="1749600" cy="33696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6"/>
          <p:cNvSpPr/>
          <p:nvPr/>
        </p:nvSpPr>
        <p:spPr>
          <a:xfrm>
            <a:off x="600120" y="1391040"/>
            <a:ext cx="174960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040" tIns="68040" rIns="68040" bIns="68040" anchor="t">
            <a:spAutoFit/>
          </a:bodyPr>
          <a:lstStyle/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Q1 2026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7"/>
          <p:cNvSpPr/>
          <p:nvPr/>
        </p:nvSpPr>
        <p:spPr>
          <a:xfrm>
            <a:off x="600120" y="1771560"/>
            <a:ext cx="1749600" cy="21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51120" anchor="t">
            <a:spAutoFit/>
          </a:bodyPr>
          <a:lstStyle/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Prototype Completion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8"/>
          <p:cNvSpPr/>
          <p:nvPr/>
        </p:nvSpPr>
        <p:spPr>
          <a:xfrm>
            <a:off x="600120" y="2041200"/>
            <a:ext cx="1749600" cy="41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Hardware/software finalization, integration testing, and pre-flight validation.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9"/>
          <p:cNvSpPr/>
          <p:nvPr/>
        </p:nvSpPr>
        <p:spPr>
          <a:xfrm>
            <a:off x="2550240" y="1276920"/>
            <a:ext cx="1978200" cy="136944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10"/>
          <p:cNvSpPr/>
          <p:nvPr/>
        </p:nvSpPr>
        <p:spPr>
          <a:xfrm>
            <a:off x="2664720" y="1391040"/>
            <a:ext cx="1749600" cy="33696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1"/>
          <p:cNvSpPr/>
          <p:nvPr/>
        </p:nvSpPr>
        <p:spPr>
          <a:xfrm>
            <a:off x="2664720" y="1391040"/>
            <a:ext cx="174960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040" tIns="68040" rIns="68040" bIns="68040" anchor="t">
            <a:spAutoFit/>
          </a:bodyPr>
          <a:lstStyle/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Q2 2026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2"/>
          <p:cNvSpPr/>
          <p:nvPr/>
        </p:nvSpPr>
        <p:spPr>
          <a:xfrm>
            <a:off x="2664720" y="1771560"/>
            <a:ext cx="1749600" cy="21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51120" anchor="t">
            <a:spAutoFit/>
          </a:bodyPr>
          <a:lstStyle/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Field Testing &amp; Validation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3"/>
          <p:cNvSpPr/>
          <p:nvPr/>
        </p:nvSpPr>
        <p:spPr>
          <a:xfrm>
            <a:off x="2664720" y="2041200"/>
            <a:ext cx="1749600" cy="41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Real-world performance testing with regulatory bodies and select partners.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14"/>
          <p:cNvSpPr/>
          <p:nvPr/>
        </p:nvSpPr>
        <p:spPr>
          <a:xfrm>
            <a:off x="4614840" y="1276920"/>
            <a:ext cx="1978200" cy="136944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15"/>
          <p:cNvSpPr/>
          <p:nvPr/>
        </p:nvSpPr>
        <p:spPr>
          <a:xfrm>
            <a:off x="4729320" y="1391040"/>
            <a:ext cx="1749600" cy="33696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6"/>
          <p:cNvSpPr/>
          <p:nvPr/>
        </p:nvSpPr>
        <p:spPr>
          <a:xfrm>
            <a:off x="4729320" y="1391040"/>
            <a:ext cx="174960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040" tIns="68040" rIns="68040" bIns="68040" anchor="t">
            <a:spAutoFit/>
          </a:bodyPr>
          <a:lstStyle/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Q3 2026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7"/>
          <p:cNvSpPr/>
          <p:nvPr/>
        </p:nvSpPr>
        <p:spPr>
          <a:xfrm>
            <a:off x="4729320" y="1771560"/>
            <a:ext cx="1749600" cy="21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51120" anchor="t">
            <a:spAutoFit/>
          </a:bodyPr>
          <a:lstStyle/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Pilot Launch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8"/>
          <p:cNvSpPr/>
          <p:nvPr/>
        </p:nvSpPr>
        <p:spPr>
          <a:xfrm>
            <a:off x="4729320" y="2041200"/>
            <a:ext cx="1749600" cy="41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Full deployment in Pabna district with 50 SME partners and initial revenue generation.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9"/>
          <p:cNvSpPr/>
          <p:nvPr/>
        </p:nvSpPr>
        <p:spPr>
          <a:xfrm>
            <a:off x="6679440" y="1276920"/>
            <a:ext cx="1978200" cy="136944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20"/>
          <p:cNvSpPr/>
          <p:nvPr/>
        </p:nvSpPr>
        <p:spPr>
          <a:xfrm>
            <a:off x="6793560" y="1412640"/>
            <a:ext cx="1749600" cy="33696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21"/>
          <p:cNvSpPr/>
          <p:nvPr/>
        </p:nvSpPr>
        <p:spPr>
          <a:xfrm>
            <a:off x="6793560" y="1412640"/>
            <a:ext cx="174960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040" tIns="68040" rIns="68040" bIns="68040" anchor="t">
            <a:spAutoFit/>
          </a:bodyPr>
          <a:lstStyle/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Q4 2026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22"/>
          <p:cNvSpPr/>
          <p:nvPr/>
        </p:nvSpPr>
        <p:spPr>
          <a:xfrm>
            <a:off x="6793560" y="1807200"/>
            <a:ext cx="1749600" cy="21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51120" anchor="t">
            <a:spAutoFit/>
          </a:bodyPr>
          <a:lstStyle/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Revenue &amp; Expansion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23"/>
          <p:cNvSpPr/>
          <p:nvPr/>
        </p:nvSpPr>
        <p:spPr>
          <a:xfrm>
            <a:off x="6793560" y="2076840"/>
            <a:ext cx="1749600" cy="41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Initial revenue generation and planning for multi-district expansion in Year 2.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24"/>
          <p:cNvSpPr/>
          <p:nvPr/>
        </p:nvSpPr>
        <p:spPr>
          <a:xfrm>
            <a:off x="485640" y="2782800"/>
            <a:ext cx="8171640" cy="1478160"/>
          </a:xfrm>
          <a:prstGeom prst="rect">
            <a:avLst/>
          </a:prstGeom>
          <a:solidFill>
            <a:srgbClr val="FF5F1F"/>
          </a:solidFill>
          <a:ln w="27432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25"/>
          <p:cNvSpPr/>
          <p:nvPr/>
        </p:nvSpPr>
        <p:spPr>
          <a:xfrm>
            <a:off x="628560" y="2954160"/>
            <a:ext cx="7886160" cy="15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1100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Our Ask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26"/>
          <p:cNvSpPr/>
          <p:nvPr/>
        </p:nvSpPr>
        <p:spPr>
          <a:xfrm>
            <a:off x="628560" y="3195360"/>
            <a:ext cx="7886160" cy="46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3200"/>
              </a:lnSpc>
              <a:tabLst>
                <a:tab pos="0" algn="l"/>
              </a:tabLst>
            </a:pPr>
            <a:r>
              <a:rPr lang="en-US" sz="243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10,000,000 BDT</a:t>
            </a:r>
            <a:endParaRPr lang="en-US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27"/>
          <p:cNvSpPr/>
          <p:nvPr/>
        </p:nvSpPr>
        <p:spPr>
          <a:xfrm>
            <a:off x="628560" y="3746880"/>
            <a:ext cx="7886160" cy="34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4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Capital required to accelerate prototype completion, regulatory approval, and pilot execution. This investment directly funds our path to market leadership across Bangladesh.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28"/>
          <p:cNvSpPr/>
          <p:nvPr/>
        </p:nvSpPr>
        <p:spPr>
          <a:xfrm>
            <a:off x="485640" y="4347000"/>
            <a:ext cx="8171640" cy="442080"/>
          </a:xfrm>
          <a:prstGeom prst="rect">
            <a:avLst/>
          </a:prstGeom>
          <a:solidFill>
            <a:srgbClr val="1A1A1A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29"/>
          <p:cNvSpPr/>
          <p:nvPr/>
        </p:nvSpPr>
        <p:spPr>
          <a:xfrm>
            <a:off x="485640" y="4347000"/>
            <a:ext cx="8171640" cy="44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6080" tIns="89280" rIns="136080" bIns="89280" anchor="t">
            <a:spAutoFit/>
          </a:bodyPr>
          <a:lstStyle/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INVESTMENT ALLOCATION: R&amp;D (3M) | Fleet Acquisition (4M) | Micro-Hub Setup (1M) | Software Development (1.5M) | Regulatory &amp; Legal (500K)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27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4" name="Shape 0"/>
          <p:cNvSpPr/>
          <p:nvPr/>
        </p:nvSpPr>
        <p:spPr>
          <a:xfrm>
            <a:off x="57240" y="57240"/>
            <a:ext cx="9029160" cy="95832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1"/>
          <p:cNvSpPr/>
          <p:nvPr/>
        </p:nvSpPr>
        <p:spPr>
          <a:xfrm>
            <a:off x="57240" y="98748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2"/>
          <p:cNvSpPr/>
          <p:nvPr/>
        </p:nvSpPr>
        <p:spPr>
          <a:xfrm>
            <a:off x="485640" y="271440"/>
            <a:ext cx="8171640" cy="31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Business Model Canvas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3"/>
          <p:cNvSpPr/>
          <p:nvPr/>
        </p:nvSpPr>
        <p:spPr>
          <a:xfrm>
            <a:off x="485640" y="655560"/>
            <a:ext cx="8171640" cy="17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8E8E8"/>
                </a:solidFill>
                <a:effectLst/>
                <a:uFillTx/>
                <a:latin typeface="Calibri"/>
              </a:rPr>
              <a:t>Comprehensive strategic overview of GreenLift AI's sustainable ecosystem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4"/>
          <p:cNvSpPr/>
          <p:nvPr/>
        </p:nvSpPr>
        <p:spPr>
          <a:xfrm>
            <a:off x="485640" y="1030320"/>
            <a:ext cx="2499480" cy="126216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5"/>
          <p:cNvSpPr/>
          <p:nvPr/>
        </p:nvSpPr>
        <p:spPr>
          <a:xfrm>
            <a:off x="485640" y="1030320"/>
            <a:ext cx="2499480" cy="24948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6"/>
          <p:cNvSpPr/>
          <p:nvPr/>
        </p:nvSpPr>
        <p:spPr>
          <a:xfrm>
            <a:off x="485640" y="1266120"/>
            <a:ext cx="2499480" cy="1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600" rIns="90000" bIns="-306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7"/>
          <p:cNvSpPr/>
          <p:nvPr/>
        </p:nvSpPr>
        <p:spPr>
          <a:xfrm>
            <a:off x="485640" y="1030320"/>
            <a:ext cx="249948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57600" rIns="8496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Key Partners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8"/>
          <p:cNvSpPr/>
          <p:nvPr/>
        </p:nvSpPr>
        <p:spPr>
          <a:xfrm>
            <a:off x="571680" y="132336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SME Associations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9"/>
          <p:cNvSpPr/>
          <p:nvPr/>
        </p:nvSpPr>
        <p:spPr>
          <a:xfrm>
            <a:off x="571680" y="153180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E-commerce Platforms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0"/>
          <p:cNvSpPr/>
          <p:nvPr/>
        </p:nvSpPr>
        <p:spPr>
          <a:xfrm>
            <a:off x="571680" y="174060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Local Retailers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11"/>
          <p:cNvSpPr/>
          <p:nvPr/>
        </p:nvSpPr>
        <p:spPr>
          <a:xfrm>
            <a:off x="571680" y="1949040"/>
            <a:ext cx="232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Regulatory Bodies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12"/>
          <p:cNvSpPr/>
          <p:nvPr/>
        </p:nvSpPr>
        <p:spPr>
          <a:xfrm>
            <a:off x="485640" y="2293560"/>
            <a:ext cx="2499480" cy="126216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13"/>
          <p:cNvSpPr/>
          <p:nvPr/>
        </p:nvSpPr>
        <p:spPr>
          <a:xfrm>
            <a:off x="485640" y="2293560"/>
            <a:ext cx="2499480" cy="24948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14"/>
          <p:cNvSpPr/>
          <p:nvPr/>
        </p:nvSpPr>
        <p:spPr>
          <a:xfrm>
            <a:off x="485640" y="2529360"/>
            <a:ext cx="2499480" cy="1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600" rIns="90000" bIns="-306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15"/>
          <p:cNvSpPr/>
          <p:nvPr/>
        </p:nvSpPr>
        <p:spPr>
          <a:xfrm>
            <a:off x="485640" y="2293560"/>
            <a:ext cx="249948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57600" rIns="8496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Key Activities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16"/>
          <p:cNvSpPr/>
          <p:nvPr/>
        </p:nvSpPr>
        <p:spPr>
          <a:xfrm>
            <a:off x="571680" y="258624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Drone Operations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7"/>
          <p:cNvSpPr/>
          <p:nvPr/>
        </p:nvSpPr>
        <p:spPr>
          <a:xfrm>
            <a:off x="571680" y="279504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AI Model Training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18"/>
          <p:cNvSpPr/>
          <p:nvPr/>
        </p:nvSpPr>
        <p:spPr>
          <a:xfrm>
            <a:off x="571680" y="300348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Software Development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9"/>
          <p:cNvSpPr/>
          <p:nvPr/>
        </p:nvSpPr>
        <p:spPr>
          <a:xfrm>
            <a:off x="571680" y="3212280"/>
            <a:ext cx="232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Regulatory Compliance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20"/>
          <p:cNvSpPr/>
          <p:nvPr/>
        </p:nvSpPr>
        <p:spPr>
          <a:xfrm>
            <a:off x="485640" y="3556440"/>
            <a:ext cx="2499480" cy="126216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21"/>
          <p:cNvSpPr/>
          <p:nvPr/>
        </p:nvSpPr>
        <p:spPr>
          <a:xfrm>
            <a:off x="485640" y="3556440"/>
            <a:ext cx="2499480" cy="24948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22"/>
          <p:cNvSpPr/>
          <p:nvPr/>
        </p:nvSpPr>
        <p:spPr>
          <a:xfrm>
            <a:off x="485640" y="3792240"/>
            <a:ext cx="2499480" cy="1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600" rIns="90000" bIns="-306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23"/>
          <p:cNvSpPr/>
          <p:nvPr/>
        </p:nvSpPr>
        <p:spPr>
          <a:xfrm>
            <a:off x="485640" y="3556440"/>
            <a:ext cx="249948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57600" rIns="8496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Key Resources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24"/>
          <p:cNvSpPr/>
          <p:nvPr/>
        </p:nvSpPr>
        <p:spPr>
          <a:xfrm>
            <a:off x="571680" y="384948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VTOL Drone Fleet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25"/>
          <p:cNvSpPr/>
          <p:nvPr/>
        </p:nvSpPr>
        <p:spPr>
          <a:xfrm>
            <a:off x="571680" y="405792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AI Analytics Engine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26"/>
          <p:cNvSpPr/>
          <p:nvPr/>
        </p:nvSpPr>
        <p:spPr>
          <a:xfrm>
            <a:off x="571680" y="426672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LoRa Network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27"/>
          <p:cNvSpPr/>
          <p:nvPr/>
        </p:nvSpPr>
        <p:spPr>
          <a:xfrm>
            <a:off x="571680" y="4475160"/>
            <a:ext cx="232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Technical Team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28"/>
          <p:cNvSpPr/>
          <p:nvPr/>
        </p:nvSpPr>
        <p:spPr>
          <a:xfrm>
            <a:off x="3071880" y="1030320"/>
            <a:ext cx="2999520" cy="1513800"/>
          </a:xfrm>
          <a:prstGeom prst="rect">
            <a:avLst/>
          </a:prstGeom>
          <a:solidFill>
            <a:srgbClr val="0047AB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29"/>
          <p:cNvSpPr/>
          <p:nvPr/>
        </p:nvSpPr>
        <p:spPr>
          <a:xfrm>
            <a:off x="3157560" y="1116360"/>
            <a:ext cx="282816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6804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Value Propositions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30"/>
          <p:cNvSpPr/>
          <p:nvPr/>
        </p:nvSpPr>
        <p:spPr>
          <a:xfrm>
            <a:off x="3157560" y="1380600"/>
            <a:ext cx="282816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 Zero-Carbon Delivery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31"/>
          <p:cNvSpPr/>
          <p:nvPr/>
        </p:nvSpPr>
        <p:spPr>
          <a:xfrm>
            <a:off x="3157560" y="1589040"/>
            <a:ext cx="282816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 Real-Time AI Insights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32"/>
          <p:cNvSpPr/>
          <p:nvPr/>
        </p:nvSpPr>
        <p:spPr>
          <a:xfrm>
            <a:off x="3157560" y="1797840"/>
            <a:ext cx="282816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 Cost Reduction (No Wage Burden)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33"/>
          <p:cNvSpPr/>
          <p:nvPr/>
        </p:nvSpPr>
        <p:spPr>
          <a:xfrm>
            <a:off x="3157560" y="2006280"/>
            <a:ext cx="282816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 Weather Resilience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34"/>
          <p:cNvSpPr/>
          <p:nvPr/>
        </p:nvSpPr>
        <p:spPr>
          <a:xfrm>
            <a:off x="3157560" y="2214720"/>
            <a:ext cx="2828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 Integrated Platform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35"/>
          <p:cNvSpPr/>
          <p:nvPr/>
        </p:nvSpPr>
        <p:spPr>
          <a:xfrm>
            <a:off x="3071880" y="2559240"/>
            <a:ext cx="2999520" cy="126216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36"/>
          <p:cNvSpPr/>
          <p:nvPr/>
        </p:nvSpPr>
        <p:spPr>
          <a:xfrm>
            <a:off x="3071880" y="2559240"/>
            <a:ext cx="2999520" cy="24948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37"/>
          <p:cNvSpPr/>
          <p:nvPr/>
        </p:nvSpPr>
        <p:spPr>
          <a:xfrm>
            <a:off x="3071880" y="2795040"/>
            <a:ext cx="2999520" cy="1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600" rIns="90000" bIns="-306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38"/>
          <p:cNvSpPr/>
          <p:nvPr/>
        </p:nvSpPr>
        <p:spPr>
          <a:xfrm>
            <a:off x="3071880" y="2559240"/>
            <a:ext cx="299952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57600" rIns="8496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Customer Relationships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39"/>
          <p:cNvSpPr/>
          <p:nvPr/>
        </p:nvSpPr>
        <p:spPr>
          <a:xfrm>
            <a:off x="3157560" y="2852280"/>
            <a:ext cx="282816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Dedicated Account Management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40"/>
          <p:cNvSpPr/>
          <p:nvPr/>
        </p:nvSpPr>
        <p:spPr>
          <a:xfrm>
            <a:off x="3157560" y="3060720"/>
            <a:ext cx="282816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Automated Support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41"/>
          <p:cNvSpPr/>
          <p:nvPr/>
        </p:nvSpPr>
        <p:spPr>
          <a:xfrm>
            <a:off x="3157560" y="3269160"/>
            <a:ext cx="282816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Community Building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42"/>
          <p:cNvSpPr/>
          <p:nvPr/>
        </p:nvSpPr>
        <p:spPr>
          <a:xfrm>
            <a:off x="3157560" y="3477960"/>
            <a:ext cx="28281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Training &amp; Onboarding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43"/>
          <p:cNvSpPr/>
          <p:nvPr/>
        </p:nvSpPr>
        <p:spPr>
          <a:xfrm>
            <a:off x="3071880" y="3822120"/>
            <a:ext cx="2999520" cy="85284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44"/>
          <p:cNvSpPr/>
          <p:nvPr/>
        </p:nvSpPr>
        <p:spPr>
          <a:xfrm>
            <a:off x="3071880" y="3822120"/>
            <a:ext cx="2999520" cy="24948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45"/>
          <p:cNvSpPr/>
          <p:nvPr/>
        </p:nvSpPr>
        <p:spPr>
          <a:xfrm>
            <a:off x="3071880" y="4057920"/>
            <a:ext cx="2999520" cy="1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600" rIns="90000" bIns="-306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46"/>
          <p:cNvSpPr/>
          <p:nvPr/>
        </p:nvSpPr>
        <p:spPr>
          <a:xfrm>
            <a:off x="3071880" y="3822120"/>
            <a:ext cx="299952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57600" rIns="8496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Customer Segments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47"/>
          <p:cNvSpPr/>
          <p:nvPr/>
        </p:nvSpPr>
        <p:spPr>
          <a:xfrm>
            <a:off x="3157560" y="4115160"/>
            <a:ext cx="2828160" cy="41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Small and Medium Enterprises (SMEs) in Bangladesh including e-commerce retailers, agricultural suppliers, pharmacies, and food distributors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48"/>
          <p:cNvSpPr/>
          <p:nvPr/>
        </p:nvSpPr>
        <p:spPr>
          <a:xfrm>
            <a:off x="6157800" y="1030320"/>
            <a:ext cx="2499480" cy="126216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49"/>
          <p:cNvSpPr/>
          <p:nvPr/>
        </p:nvSpPr>
        <p:spPr>
          <a:xfrm>
            <a:off x="6157800" y="1030320"/>
            <a:ext cx="2499480" cy="24948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50"/>
          <p:cNvSpPr/>
          <p:nvPr/>
        </p:nvSpPr>
        <p:spPr>
          <a:xfrm>
            <a:off x="6157800" y="1266120"/>
            <a:ext cx="2499480" cy="1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600" rIns="90000" bIns="-306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51"/>
          <p:cNvSpPr/>
          <p:nvPr/>
        </p:nvSpPr>
        <p:spPr>
          <a:xfrm>
            <a:off x="6157800" y="1030320"/>
            <a:ext cx="249948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57600" rIns="8496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Channels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52"/>
          <p:cNvSpPr/>
          <p:nvPr/>
        </p:nvSpPr>
        <p:spPr>
          <a:xfrm>
            <a:off x="6243480" y="132336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Direct Sales Team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53"/>
          <p:cNvSpPr/>
          <p:nvPr/>
        </p:nvSpPr>
        <p:spPr>
          <a:xfrm>
            <a:off x="6243480" y="153180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Strategic Partnerships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54"/>
          <p:cNvSpPr/>
          <p:nvPr/>
        </p:nvSpPr>
        <p:spPr>
          <a:xfrm>
            <a:off x="6243480" y="174060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Online Platform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55"/>
          <p:cNvSpPr/>
          <p:nvPr/>
        </p:nvSpPr>
        <p:spPr>
          <a:xfrm>
            <a:off x="6243480" y="1949040"/>
            <a:ext cx="232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Referral Program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56"/>
          <p:cNvSpPr/>
          <p:nvPr/>
        </p:nvSpPr>
        <p:spPr>
          <a:xfrm>
            <a:off x="6157800" y="2293560"/>
            <a:ext cx="2499480" cy="126216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57"/>
          <p:cNvSpPr/>
          <p:nvPr/>
        </p:nvSpPr>
        <p:spPr>
          <a:xfrm>
            <a:off x="6157800" y="2293920"/>
            <a:ext cx="2499480" cy="24948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58"/>
          <p:cNvSpPr/>
          <p:nvPr/>
        </p:nvSpPr>
        <p:spPr>
          <a:xfrm>
            <a:off x="6157800" y="2529720"/>
            <a:ext cx="2499480" cy="1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600" rIns="90000" bIns="-306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59"/>
          <p:cNvSpPr/>
          <p:nvPr/>
        </p:nvSpPr>
        <p:spPr>
          <a:xfrm>
            <a:off x="6157800" y="2293920"/>
            <a:ext cx="249948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57600" rIns="8496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Revenue Streams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60"/>
          <p:cNvSpPr/>
          <p:nvPr/>
        </p:nvSpPr>
        <p:spPr>
          <a:xfrm>
            <a:off x="6243480" y="259416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Pay-Per-Delivery (15-30 BDT)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61"/>
          <p:cNvSpPr/>
          <p:nvPr/>
        </p:nvSpPr>
        <p:spPr>
          <a:xfrm>
            <a:off x="6243480" y="280260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Dashboard Subscription (500-2,000 BDT/month)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62"/>
          <p:cNvSpPr/>
          <p:nvPr/>
        </p:nvSpPr>
        <p:spPr>
          <a:xfrm>
            <a:off x="6243480" y="301140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Strategic Partnerships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63"/>
          <p:cNvSpPr/>
          <p:nvPr/>
        </p:nvSpPr>
        <p:spPr>
          <a:xfrm>
            <a:off x="6243480" y="3219840"/>
            <a:ext cx="232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Fleet Leasing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64"/>
          <p:cNvSpPr/>
          <p:nvPr/>
        </p:nvSpPr>
        <p:spPr>
          <a:xfrm>
            <a:off x="6157800" y="3564000"/>
            <a:ext cx="2499480" cy="1470960"/>
          </a:xfrm>
          <a:prstGeom prst="rect">
            <a:avLst/>
          </a:prstGeom>
          <a:solidFill>
            <a:srgbClr val="F5F5F5"/>
          </a:solidFill>
          <a:ln w="18288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65"/>
          <p:cNvSpPr/>
          <p:nvPr/>
        </p:nvSpPr>
        <p:spPr>
          <a:xfrm>
            <a:off x="6157800" y="3585600"/>
            <a:ext cx="2499480" cy="24948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66"/>
          <p:cNvSpPr/>
          <p:nvPr/>
        </p:nvSpPr>
        <p:spPr>
          <a:xfrm>
            <a:off x="6157800" y="3821400"/>
            <a:ext cx="2499480" cy="13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600" rIns="90000" bIns="-306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67"/>
          <p:cNvSpPr/>
          <p:nvPr/>
        </p:nvSpPr>
        <p:spPr>
          <a:xfrm>
            <a:off x="6157800" y="3585600"/>
            <a:ext cx="249948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4960" tIns="57600" rIns="84960" bIns="5760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Cost Structure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68"/>
          <p:cNvSpPr/>
          <p:nvPr/>
        </p:nvSpPr>
        <p:spPr>
          <a:xfrm>
            <a:off x="6243480" y="388548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R&amp;D &amp; Development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69"/>
          <p:cNvSpPr/>
          <p:nvPr/>
        </p:nvSpPr>
        <p:spPr>
          <a:xfrm>
            <a:off x="6243480" y="409428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Fleet Maintenance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70"/>
          <p:cNvSpPr/>
          <p:nvPr/>
        </p:nvSpPr>
        <p:spPr>
          <a:xfrm>
            <a:off x="6243480" y="430272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Software Licensing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71"/>
          <p:cNvSpPr/>
          <p:nvPr/>
        </p:nvSpPr>
        <p:spPr>
          <a:xfrm>
            <a:off x="6243480" y="4511520"/>
            <a:ext cx="232812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Hub Operations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72"/>
          <p:cNvSpPr/>
          <p:nvPr/>
        </p:nvSpPr>
        <p:spPr>
          <a:xfrm>
            <a:off x="6243480" y="4719960"/>
            <a:ext cx="232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2480" rIns="0" bIns="42480" anchor="t">
            <a:spAutoFit/>
          </a:bodyPr>
          <a:lstStyle/>
          <a:p>
            <a:pPr defTabSz="914400">
              <a:lnSpc>
                <a:spcPts val="1001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•</a:t>
            </a:r>
            <a:r>
              <a:rPr lang="en-US" sz="67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Regulatory Fees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8" name="Shape 0"/>
          <p:cNvSpPr/>
          <p:nvPr/>
        </p:nvSpPr>
        <p:spPr>
          <a:xfrm>
            <a:off x="57240" y="57240"/>
            <a:ext cx="9029160" cy="1578240"/>
          </a:xfrm>
          <a:prstGeom prst="rect">
            <a:avLst/>
          </a:prstGeom>
          <a:solidFill>
            <a:srgbClr val="0047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1"/>
          <p:cNvSpPr/>
          <p:nvPr/>
        </p:nvSpPr>
        <p:spPr>
          <a:xfrm>
            <a:off x="57240" y="160776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2"/>
          <p:cNvSpPr/>
          <p:nvPr/>
        </p:nvSpPr>
        <p:spPr>
          <a:xfrm>
            <a:off x="485640" y="485640"/>
            <a:ext cx="81716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4300"/>
              </a:lnSpc>
              <a:tabLst>
                <a:tab pos="0" algn="l"/>
              </a:tabLst>
            </a:pPr>
            <a:r>
              <a:rPr lang="en-US" sz="32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Thank You</a:t>
            </a:r>
            <a:endParaRPr lang="en-US" sz="32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3"/>
          <p:cNvSpPr/>
          <p:nvPr/>
        </p:nvSpPr>
        <p:spPr>
          <a:xfrm>
            <a:off x="485640" y="1119960"/>
            <a:ext cx="817164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9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Let's Transform SME Logistics Together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4"/>
          <p:cNvSpPr/>
          <p:nvPr/>
        </p:nvSpPr>
        <p:spPr>
          <a:xfrm>
            <a:off x="485640" y="1930680"/>
            <a:ext cx="4553280" cy="34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102240" anchor="t">
            <a:spAutoFit/>
          </a:bodyPr>
          <a:lstStyle/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Get in Touch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5"/>
          <p:cNvSpPr/>
          <p:nvPr/>
        </p:nvSpPr>
        <p:spPr>
          <a:xfrm>
            <a:off x="657360" y="2421720"/>
            <a:ext cx="4381920" cy="13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Email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6"/>
          <p:cNvSpPr/>
          <p:nvPr/>
        </p:nvSpPr>
        <p:spPr>
          <a:xfrm>
            <a:off x="657360" y="2600640"/>
            <a:ext cx="1778400" cy="18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armanislam527@gmail.com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7"/>
          <p:cNvSpPr/>
          <p:nvPr/>
        </p:nvSpPr>
        <p:spPr>
          <a:xfrm>
            <a:off x="657360" y="2904120"/>
            <a:ext cx="4381920" cy="13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Phone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8"/>
          <p:cNvSpPr/>
          <p:nvPr/>
        </p:nvSpPr>
        <p:spPr>
          <a:xfrm>
            <a:off x="657360" y="3082680"/>
            <a:ext cx="4381920" cy="17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+8801521751005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9"/>
          <p:cNvSpPr/>
          <p:nvPr/>
        </p:nvSpPr>
        <p:spPr>
          <a:xfrm>
            <a:off x="657360" y="3386160"/>
            <a:ext cx="4381920" cy="13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Portfolio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10"/>
          <p:cNvSpPr/>
          <p:nvPr/>
        </p:nvSpPr>
        <p:spPr>
          <a:xfrm>
            <a:off x="657360" y="3564720"/>
            <a:ext cx="1501560" cy="18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cv-of-arman.netlify.app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11"/>
          <p:cNvSpPr/>
          <p:nvPr/>
        </p:nvSpPr>
        <p:spPr>
          <a:xfrm>
            <a:off x="657360" y="3868560"/>
            <a:ext cx="4381920" cy="13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901"/>
              </a:lnSpc>
              <a:tabLst>
                <a:tab pos="0" algn="l"/>
              </a:tabLst>
            </a:pPr>
            <a:r>
              <a:rPr lang="en-US" sz="69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GitHub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12"/>
          <p:cNvSpPr/>
          <p:nvPr/>
        </p:nvSpPr>
        <p:spPr>
          <a:xfrm>
            <a:off x="657360" y="4047120"/>
            <a:ext cx="1790280" cy="18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ts val="1199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0047AB"/>
                </a:solidFill>
                <a:effectLst/>
                <a:uFillTx/>
                <a:latin typeface="Calibri"/>
              </a:rPr>
              <a:t>github.com/Armanislam527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13"/>
          <p:cNvSpPr/>
          <p:nvPr/>
        </p:nvSpPr>
        <p:spPr>
          <a:xfrm>
            <a:off x="5468400" y="1855800"/>
            <a:ext cx="3188880" cy="2569320"/>
          </a:xfrm>
          <a:prstGeom prst="rect">
            <a:avLst/>
          </a:prstGeom>
          <a:solidFill>
            <a:srgbClr val="1A1A1A"/>
          </a:solidFill>
          <a:ln w="27432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14"/>
          <p:cNvSpPr/>
          <p:nvPr/>
        </p:nvSpPr>
        <p:spPr>
          <a:xfrm>
            <a:off x="6448320" y="2084400"/>
            <a:ext cx="1265040" cy="15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914400">
              <a:lnSpc>
                <a:spcPts val="1100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FF5F1F"/>
                </a:solidFill>
                <a:effectLst/>
                <a:uFillTx/>
                <a:latin typeface="Calibri"/>
              </a:rPr>
              <a:t>Scan to Learn More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3" name="Image 1" descr="preencoded.png"/>
          <p:cNvPicPr/>
          <p:nvPr/>
        </p:nvPicPr>
        <p:blipFill>
          <a:blip r:embed="rId4"/>
          <a:stretch/>
        </p:blipFill>
        <p:spPr>
          <a:xfrm>
            <a:off x="6366960" y="2354040"/>
            <a:ext cx="1428120" cy="142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4" name="Text 15"/>
          <p:cNvSpPr/>
          <p:nvPr/>
        </p:nvSpPr>
        <p:spPr>
          <a:xfrm>
            <a:off x="5704200" y="3897000"/>
            <a:ext cx="275328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199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Connect with us for partnership and investment opportunities in intelligent drone logistics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16"/>
          <p:cNvSpPr/>
          <p:nvPr/>
        </p:nvSpPr>
        <p:spPr>
          <a:xfrm>
            <a:off x="57240" y="4673880"/>
            <a:ext cx="9029160" cy="411840"/>
          </a:xfrm>
          <a:prstGeom prst="rect">
            <a:avLst/>
          </a:prstGeom>
          <a:solidFill>
            <a:srgbClr val="FF5F1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17"/>
          <p:cNvSpPr/>
          <p:nvPr/>
        </p:nvSpPr>
        <p:spPr>
          <a:xfrm>
            <a:off x="57240" y="4673880"/>
            <a:ext cx="9029160" cy="27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18"/>
          <p:cNvSpPr/>
          <p:nvPr/>
        </p:nvSpPr>
        <p:spPr>
          <a:xfrm>
            <a:off x="57240" y="4673880"/>
            <a:ext cx="9029160" cy="41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10120" tIns="70200" rIns="510120" bIns="70200" anchor="t">
            <a:spAutoFit/>
          </a:bodyPr>
          <a:lstStyle/>
          <a:p>
            <a:pPr algn="ctr" defTabSz="914400">
              <a:lnSpc>
                <a:spcPts val="1100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TEAM PHANTOM | PABNA UNIVERSITY OF SCIENCE AND TECHNOLOGY | GREENLIFT AI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Words>1781</Words>
  <Application>Microsoft Office PowerPoint</Application>
  <PresentationFormat>On-screen Show (16:9)</PresentationFormat>
  <Paragraphs>329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Gabriel Sans Condensed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cp:lastModifiedBy>USER</cp:lastModifiedBy>
  <cp:revision>9</cp:revision>
  <dcterms:created xsi:type="dcterms:W3CDTF">2025-12-03T01:23:38Z</dcterms:created>
  <dcterms:modified xsi:type="dcterms:W3CDTF">2025-12-03T06:27:27Z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On-screen Show (16:9)</vt:lpwstr>
  </property>
  <property fmtid="{D5CDD505-2E9C-101B-9397-08002B2CF9AE}" pid="4" name="Slides">
    <vt:i4>16</vt:i4>
  </property>
</Properties>
</file>