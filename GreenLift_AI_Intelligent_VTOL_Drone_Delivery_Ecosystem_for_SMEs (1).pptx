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ov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948215-D106-4A70-81F1-C47839B42C1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CCDD02-6E17-4AF7-BD60-5B2C414E18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C7A784-BA1C-418D-BF55-B0E13D57ED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64E0B7-8A52-433C-8CE0-D3E42BE1480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5E7D49-B032-4315-ADDC-2EF79C5677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6AE870-CEBF-4718-84AE-596D9F4F6BD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32A95D-93E7-4F89-9EE4-E276E026AA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D8C876-2C47-4C88-B054-41E25DEFC0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B1188D-6C7C-49C4-BB11-CD295FA6C7C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857040-C5CD-4FE2-8C4A-4EE66CDB38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342BCE-DF55-4736-8B45-38F7E773768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0C60F4-8B55-4B8F-9393-27D1D1AE2E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95C194-47CF-42F1-B0D4-5A1E813585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A5FEC3-1DEC-4FDC-87B2-FC99E2E879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DDF2E4-6031-4FEB-A317-546043CABD0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B1949E-2E8A-49B6-885F-25675AE83E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E3EF66-2296-4B80-8127-F2E1483307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36000"/>
            <a:ext cx="9143280" cy="53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485640" y="485640"/>
            <a:ext cx="4110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4300"/>
              </a:lnSpc>
              <a:tabLst>
                <a:tab algn="l" pos="0"/>
              </a:tabLst>
            </a:pPr>
            <a:r>
              <a:rPr b="1" lang="en-US" sz="32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GreenLift AI</a:t>
            </a:r>
            <a:endParaRPr b="0" lang="en-US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485640" y="1177200"/>
            <a:ext cx="53337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Intelligent VTOL Drone Delivery Ecosystem for SMEs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85640" y="1605960"/>
            <a:ext cx="357120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Transforming Last-Mile Logistics and Business Intelligence for 10 Million SMEs in Bangladesh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4883040" y="457200"/>
            <a:ext cx="3774240" cy="2628360"/>
          </a:xfrm>
          <a:prstGeom prst="rect">
            <a:avLst/>
          </a:prstGeom>
          <a:solidFill>
            <a:srgbClr val="cccccc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preencoded.png"/>
          <p:cNvPicPr/>
          <p:nvPr/>
        </p:nvPicPr>
        <p:blipFill>
          <a:blip r:embed="rId2"/>
          <a:stretch/>
        </p:blipFill>
        <p:spPr>
          <a:xfrm>
            <a:off x="4883040" y="457200"/>
            <a:ext cx="3803760" cy="262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4"/>
          <p:cNvSpPr/>
          <p:nvPr/>
        </p:nvSpPr>
        <p:spPr>
          <a:xfrm>
            <a:off x="485640" y="3343320"/>
            <a:ext cx="8171640" cy="17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85640" y="3343320"/>
            <a:ext cx="817164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485640" y="3450600"/>
            <a:ext cx="1299960" cy="3456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85640" y="3450600"/>
            <a:ext cx="129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76680" bIns="7668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TEAM PHANTOM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85640" y="3875400"/>
            <a:ext cx="39783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CONTACT: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armanislam527@gmail.com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485640" y="4293360"/>
            <a:ext cx="39783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PHONE: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+8801521751005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85640" y="4711320"/>
            <a:ext cx="397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PROJECT PORTFOLIO: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https://armanislam527.github.io/IntelligentVTOLDroneDeliveryEcosystemForSMEs/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2" descr="preencoded.png"/>
          <p:cNvPicPr/>
          <p:nvPr/>
        </p:nvPicPr>
        <p:blipFill>
          <a:blip r:embed="rId3"/>
          <a:stretch/>
        </p:blipFill>
        <p:spPr>
          <a:xfrm>
            <a:off x="7800840" y="4164840"/>
            <a:ext cx="856440" cy="85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3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Shape 0"/>
          <p:cNvSpPr/>
          <p:nvPr/>
        </p:nvSpPr>
        <p:spPr>
          <a:xfrm>
            <a:off x="57240" y="57240"/>
            <a:ext cx="9029160" cy="103500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57240" y="10645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Team: Focused on Execution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85640" y="655560"/>
            <a:ext cx="81716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A dedicated technical specialist driving the future of intelligent logistics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57240" y="1064520"/>
            <a:ext cx="4514040" cy="42051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4543560" y="1064520"/>
            <a:ext cx="27720" cy="4205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2"/>
          <a:stretch/>
        </p:blipFill>
        <p:spPr>
          <a:xfrm>
            <a:off x="728280" y="1381320"/>
            <a:ext cx="3171600" cy="357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6"/>
          <p:cNvSpPr/>
          <p:nvPr/>
        </p:nvSpPr>
        <p:spPr>
          <a:xfrm>
            <a:off x="5000760" y="1300320"/>
            <a:ext cx="36568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8496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Arman Islam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000760" y="1819800"/>
            <a:ext cx="2160720" cy="36540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5000760" y="1819800"/>
            <a:ext cx="216072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4960" bIns="8496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Technical &amp; Idea Supporter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000760" y="2371680"/>
            <a:ext cx="365688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Core Expertise: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5000760" y="269136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179320" y="2693160"/>
            <a:ext cx="18547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WRO 2025 Participant (Invited To National)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000760" y="296568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179320" y="2967480"/>
            <a:ext cx="169812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Autonomous Systems Specialist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000760" y="324000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5179320" y="3241800"/>
            <a:ext cx="16560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Embedded Systems &amp; Robotics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5000760" y="351432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5179320" y="3516120"/>
            <a:ext cx="11660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Flight Control &amp; Navigation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000760" y="378864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5179320" y="3790440"/>
            <a:ext cx="131760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IoT &amp; Sensor Integration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5000760" y="4591440"/>
            <a:ext cx="17931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  <a:ea typeface="Noto Sans CJK SC"/>
              </a:rPr>
              <a:t>PORTFOLIO:</a:t>
            </a: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  <a:ea typeface="Noto Sans CJK SC"/>
              </a:rPr>
              <a:t>	</a:t>
            </a:r>
            <a:r>
              <a:rPr b="0" lang="en-US" sz="7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cv-of-arman.netlify.app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5000760" y="4798800"/>
            <a:ext cx="19681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GITHUB:</a:t>
            </a: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	</a:t>
            </a:r>
            <a:r>
              <a:rPr b="0" lang="en-US" sz="7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github.com/Armanislam527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Logistics Barrier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85640" y="655560"/>
            <a:ext cx="32119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Costly, Unreliable, and Data-Blind Operations Limiting SME Growth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4856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85720" y="127260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585720" y="181008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Last-Mile Inefficiency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585720" y="213336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SMEs struggle with costly, unreliable final-delivery logistics that drain operational budgets.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585720" y="2547720"/>
            <a:ext cx="112104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585720" y="2547720"/>
            <a:ext cx="1121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804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89% AFFECTED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46292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729320" y="129384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4729320" y="183132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Monsoon Vulnerability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729320" y="215460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Severe delivery delays during rainy seasons create supply chain chaos and customer dissatisfaction.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4729320" y="2568960"/>
            <a:ext cx="150048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4729320" y="2568960"/>
            <a:ext cx="1500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804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91% REPORT DELAYS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4856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585720" y="318708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85720" y="372456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Cost Burden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585720" y="404784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Logistics consume a significant portion of SME budgets, limiting resources for growth and innovation.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585720" y="4462200"/>
            <a:ext cx="140904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585720" y="4462200"/>
            <a:ext cx="1409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804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18-25% OF BUDGET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46292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4729320" y="320832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4729320" y="374616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Data Blindness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4729320" y="406908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Lack of business intelligence tools prevents critical insights on demand patterns and inventory.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4729320" y="4483440"/>
            <a:ext cx="127548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4729320" y="4483440"/>
            <a:ext cx="1275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6804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73% LACK TOOLS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Market Opportunity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The $10 Billion Untapped Potential in Bangladesh's SME Sector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8564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600120" y="178128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10.4M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600120" y="218844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SMEs in Bangladesh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324792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3362400" y="178128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78%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3362400" y="218844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Underserved in Poor Logistics Areas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01020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124680" y="180252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$10B+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6124680" y="220968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Market Opportunity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485640" y="2635560"/>
            <a:ext cx="8171640" cy="11102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600120" y="2771280"/>
            <a:ext cx="79430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Target Market Segments: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00120" y="30319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E-commerce &amp; Online Retailers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4614840" y="30319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Agricultural Suppliers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00120" y="32533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Local Pharmacies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4614840" y="32533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Cold-Chain Businesses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600120" y="34747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Food &amp; Beverage Distributors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4614840" y="34747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6992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Retail Chains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1"/>
          <p:cNvSpPr/>
          <p:nvPr/>
        </p:nvSpPr>
        <p:spPr>
          <a:xfrm>
            <a:off x="485640" y="3839040"/>
            <a:ext cx="8171640" cy="5814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600120" y="30319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4614840" y="30319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600120" y="32533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4614840" y="32533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600120" y="34747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4614840" y="34747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585720" y="3960720"/>
            <a:ext cx="797184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Starting Prototyping Area: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585720" y="4105440"/>
            <a:ext cx="79718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PABNA DISTRICT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GreenLift AI: The Integrated Solution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Comprehensive ecosystem combining autonomous delivery with real-time business intelligence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485640" y="1187640"/>
            <a:ext cx="4767840" cy="811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600120" y="130212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064520" y="130212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Green-Fuel VTOL Drones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1064520" y="156276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Autonomous, energy-efficient delivery for fast, reliable service in urban and rural areas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485640" y="1902600"/>
            <a:ext cx="4767840" cy="811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600120" y="201708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1064520" y="201708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AI-Powered SME Dashboard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1064520" y="2277720"/>
            <a:ext cx="40748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Converts raw business data into actionable insights for demand, inventory, and cash flow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485640" y="2757960"/>
            <a:ext cx="4767840" cy="67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600120" y="287208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064520" y="287208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Seamless Integration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1064520" y="313272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Closed-loop intelligence system where every delivery improves predictive analytics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485640" y="3472920"/>
            <a:ext cx="4767840" cy="67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600120" y="358704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1064520" y="358704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Localized &amp; Affordable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064520" y="384804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Bangla interface, mobile-first design, pay-per-use model for easy SME adoption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5468400" y="1187640"/>
            <a:ext cx="3188880" cy="37551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2"/>
          <a:stretch/>
        </p:blipFill>
        <p:spPr>
          <a:xfrm>
            <a:off x="5648040" y="1636920"/>
            <a:ext cx="2856960" cy="285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3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Technical Deep Dive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Precision, Reliability, and Low-Cost Connectivity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485640" y="1159200"/>
            <a:ext cx="4014000" cy="29674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485640" y="1159200"/>
            <a:ext cx="4014000" cy="4064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485640" y="1544760"/>
            <a:ext cx="4014000" cy="20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85640" y="1159200"/>
            <a:ext cx="40140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95760" bIns="9576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LoRa Network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628560" y="16520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Purpose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28560" y="18234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Low-power, long-range communication for telemetry and command signals in areas with poor cellular coverage.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628560" y="225216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Benefits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628560" y="242352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Ensures reliable control and data transmission, reducing operational costs compared to 4G/5G for non-payload data.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628560" y="285228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Range &amp; Coverage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628560" y="302364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Extended range (5-15 km) with low power consumption, ideal for rural and semi-urban deployment.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628560" y="3452040"/>
            <a:ext cx="3728160" cy="3063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28560" y="3452040"/>
            <a:ext cx="37281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COMMUNICATION PROTOCOL: MQTT/LoRaWAN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4643280" y="1159200"/>
            <a:ext cx="4014000" cy="29674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4643280" y="1159200"/>
            <a:ext cx="4014000" cy="4064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4643280" y="1544760"/>
            <a:ext cx="4014000" cy="20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4643280" y="1159200"/>
            <a:ext cx="40140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95760" bIns="9576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Smart Tension Sensor</a:t>
            </a:r>
            <a:endParaRPr b="0" lang="en-US" sz="10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786200" y="16520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Mechanism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786200" y="18234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Integrated into the string-down delivery system for secure, precise, and damage-free package release.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4786200" y="225216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Function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4786200" y="2423520"/>
            <a:ext cx="37281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Detects pre-set threshold tension value when package lands. Upon reaching threshold, system automatically releases package and retracts string.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4786200" y="30128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Advantage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4786200" y="31842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No landing required. Autonomous release ensures delivery without human intervention or landing damage.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4786200" y="3612960"/>
            <a:ext cx="3728160" cy="3063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7"/>
          <p:cNvSpPr/>
          <p:nvPr/>
        </p:nvSpPr>
        <p:spPr>
          <a:xfrm>
            <a:off x="4786200" y="3612960"/>
            <a:ext cx="37281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AUTO-RELEASE: THRESHOLD-BASED ACTIVATION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485640" y="4220280"/>
            <a:ext cx="81716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VTOL DRONE SPECIFICATIONS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9"/>
          <p:cNvSpPr/>
          <p:nvPr/>
        </p:nvSpPr>
        <p:spPr>
          <a:xfrm>
            <a:off x="485640" y="44470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0"/>
          <p:cNvSpPr/>
          <p:nvPr/>
        </p:nvSpPr>
        <p:spPr>
          <a:xfrm>
            <a:off x="485640" y="444708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PAYLOAD: 1-20 kg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4607640" y="44470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4607640" y="444708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RANGE: 10-20 km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485640" y="47595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485640" y="475956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PROPULSION: Hydrogen-Electric Hybrid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5"/>
          <p:cNvSpPr/>
          <p:nvPr/>
        </p:nvSpPr>
        <p:spPr>
          <a:xfrm>
            <a:off x="4607640" y="47595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4607640" y="475956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EMISSIONS: Zero-Carbon Delivery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AI Integration: Transforming Data into Profit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Machine learning powers intelligent decision-making across the entire delivery ecosystem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485640" y="143856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628560" y="152424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1128600" y="152424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Demand Forecasting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128600" y="178488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Predictive analytics anticipate customer needs and optimize inventory levels proactively, reducing stockouts and overstock.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85640" y="209232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28560" y="217800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1128600" y="217800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Route Optimization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1128600" y="243864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AI calculates fastest, most energy-efficient delivery paths, reducing time and fuel consumption while maximizing daily capacity.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485640" y="274572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628560" y="283176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1128600" y="283176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Autonomous Operations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128600" y="309240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Automated decision-making reduces manual oversight while maintaining safety and compliance standards across all deliveries.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485640" y="339948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628560" y="348516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1128600" y="348516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Smart Inventory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128600" y="374616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Real-time inventory synchronization prevents stockouts and reduces wasteful overstock scenarios, improving cash flow.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485640" y="405324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628560" y="413892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1128600" y="413892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3420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Customer Behavior Analysis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1128600" y="439956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Targeted marketing and personalized services built on customer insights that build loyalty and competitive differentiation.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Unique Value Proposition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Efficiency Meets Sustainability: First-of-its-kind Integration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4856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628560" y="130212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02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⚡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628560" y="177696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Zero-Carbon Operations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628560" y="211464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Hydrogen-electric fleet eliminates fuel costs and carbon emissions, aligning with global sustainability goals while boosting brand value.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46292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4772160" y="131868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02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💰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4772160" y="179352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 Wage Burden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4772160" y="2131200"/>
            <a:ext cx="37425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One-time equipment investment replaces ongoing driver salaries. Autonomous operations reduce labor dependency and significantly improve margins.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4856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628560" y="304560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02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🧠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628560" y="352044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Integrated AI Analytics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628560" y="385812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Predictive insights optimize delivery routes, weather planning, and demand forecasting in ways traditional logistics cannot match.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46292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4772160" y="306684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1" lang="en-US" sz="202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🌦️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4772160" y="354204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Weather Resilience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4772160" y="387972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Advanced sensors and AI modeling enable safe operations in challenging conditions where traditional methods struggle.</a:t>
            </a:r>
            <a:endParaRPr b="0" lang="en-US" sz="8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485640" y="4508280"/>
            <a:ext cx="8171640" cy="4251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485640" y="450828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485640" y="4508280"/>
            <a:ext cx="81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89280" bIns="8928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RESULT: Faster deliveries, lower costs, competitive advantage—all without environmental compromise.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22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Business Model: Predictable Revenue, Scalable Growth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Multiple revenue streams creating predictable income while remaining flexible to SME budgets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856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628560" y="130212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Pay-Per-Delivery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628560" y="163404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28560" y="163404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84960" bIns="8496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15-30 BDT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628560" y="212184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Variable revenue scales with transaction volume, aligned with customer success. Incentivizes efficient operations.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46292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4772160" y="130212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AI Dashboard Subscription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4772160" y="163404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4772160" y="163404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84960" bIns="8496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500-2,000 BDT/month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4772160" y="212976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Recurring revenue for analytics, scheduling, and premium features. Tiered pricing for different SME sizes.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4856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628560" y="285120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Strategic Partnerships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28560" y="318348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28560" y="318348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84960" bIns="8496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Revenue Sharing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628560" y="367092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Co-branded solutions with e-commerce platforms and logistics companies expand reach and market credibility.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6292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0"/>
          <p:cNvSpPr/>
          <p:nvPr/>
        </p:nvSpPr>
        <p:spPr>
          <a:xfrm>
            <a:off x="4772160" y="287280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Fleet Leasing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4772160" y="320472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4772160" y="320472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84960" bIns="8496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Equipment-as-a-Service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4772160" y="370656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Maintenance and support included. Lowers customer capital requirements and ensures recurring revenue.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485640" y="4313880"/>
            <a:ext cx="8171640" cy="6138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485640" y="4313880"/>
            <a:ext cx="8171640" cy="61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89280" bIns="8928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FLEXIBLE MODEL: Combines variable (pay-per-delivery) and recurring (subscriptions) revenue, ensuring sustainable growth while maintaining affordability for SMEs.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Shape 0"/>
          <p:cNvSpPr/>
          <p:nvPr/>
        </p:nvSpPr>
        <p:spPr>
          <a:xfrm>
            <a:off x="57240" y="57240"/>
            <a:ext cx="9029160" cy="90900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57240" y="9381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Costing: Strategic Investment for Market Entry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485640" y="641160"/>
            <a:ext cx="817164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Breakdown of 10M BDT to complete pilot and hit Year 2 revenue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85640" y="1653840"/>
            <a:ext cx="8171640" cy="180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485640" y="1675080"/>
            <a:ext cx="8171640" cy="2480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485640" y="190944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485640" y="168228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COMPONENT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3457440" y="168228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ESTIMATED COST (BDT)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5686560" y="168228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JUSTIFICATION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85640" y="19166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R&amp;D and Prototyping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3457440" y="191664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3,000,000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5686560" y="19166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Finalize design, sensors, LoRa, and AI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485640" y="21650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Initial Fleet Acquisition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3457440" y="216504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4,000,000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5686560" y="21650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Buy 8–10 VTOL drones incl. components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485640" y="24138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Micro-Hub Setup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3457440" y="241380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1,000,000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5686560" y="24138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Pabna hub: solar, storage, dispatch, security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485640" y="26622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Software Development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3457440" y="266220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1,500,000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5686560" y="26622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AI dashboard, routing, API, mobile app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485640" y="291096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Regulatory &amp; Legal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3457440" y="291096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algn="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500,000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5686560" y="291096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BVLOS, permits, compliance, legal setup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485640" y="3159360"/>
            <a:ext cx="8171640" cy="2678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485640" y="3159360"/>
            <a:ext cx="29710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TOTAL INITIAL ASK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3457440" y="3159360"/>
            <a:ext cx="22280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68040" bIns="68040" anchor="t">
            <a:spAutoFit/>
          </a:bodyPr>
          <a:p>
            <a:pPr algn="r"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10,000,000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5686560" y="3159360"/>
            <a:ext cx="29710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Funds pilot and market entry by Q4 2026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9"/>
          <p:cNvSpPr/>
          <p:nvPr/>
        </p:nvSpPr>
        <p:spPr>
          <a:xfrm>
            <a:off x="485640" y="3513600"/>
            <a:ext cx="8171640" cy="8280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557280" y="3606480"/>
            <a:ext cx="80287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Capital Required for Pilot Completion &amp; Market Entry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1"/>
          <p:cNvSpPr/>
          <p:nvPr/>
        </p:nvSpPr>
        <p:spPr>
          <a:xfrm>
            <a:off x="557280" y="3746520"/>
            <a:ext cx="8028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25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10,000,000 BDT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557280" y="4109400"/>
            <a:ext cx="80287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Funds prototype, approvals, and Pabna pilot with 50 SMEs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2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Financial Projections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Clear Path to 100 Million BDT Revenue and Market Leadership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"/>
          <p:cNvSpPr/>
          <p:nvPr/>
        </p:nvSpPr>
        <p:spPr>
          <a:xfrm>
            <a:off x="485640" y="1130400"/>
            <a:ext cx="8171640" cy="15710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Image 1" descr="preencoded.png"/>
          <p:cNvPicPr/>
          <p:nvPr/>
        </p:nvPicPr>
        <p:blipFill>
          <a:blip r:embed="rId2"/>
          <a:stretch/>
        </p:blipFill>
        <p:spPr>
          <a:xfrm>
            <a:off x="628560" y="1273320"/>
            <a:ext cx="7842960" cy="12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Shape 5"/>
          <p:cNvSpPr/>
          <p:nvPr/>
        </p:nvSpPr>
        <p:spPr>
          <a:xfrm>
            <a:off x="485640" y="2902320"/>
            <a:ext cx="8171640" cy="10850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485640" y="2902320"/>
            <a:ext cx="8171640" cy="26352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485640" y="315216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48564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YEAR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320976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FOCUS AREA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593388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REVENUE TARGET (BDT)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485640" y="3152160"/>
            <a:ext cx="8171640" cy="263520"/>
          </a:xfrm>
          <a:prstGeom prst="rect">
            <a:avLst/>
          </a:prstGeom>
          <a:solidFill>
            <a:srgbClr val="e8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485640" y="340236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48564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Year 1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320976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R&amp;D, Pilot, Regulatory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593388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0 BDT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485640" y="3402360"/>
            <a:ext cx="8171640" cy="263520"/>
          </a:xfrm>
          <a:prstGeom prst="rect">
            <a:avLst/>
          </a:prstGeom>
          <a:solidFill>
            <a:srgbClr val="ffe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485640" y="365220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48564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Year 2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320976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Commercialization, 50 SME Contracts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593388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1,000,000 BDT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485640" y="3652200"/>
            <a:ext cx="8171640" cy="249480"/>
          </a:xfrm>
          <a:prstGeom prst="rect">
            <a:avLst/>
          </a:prstGeom>
          <a:solidFill>
            <a:srgbClr val="d6f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48564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Year 3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320976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Scale-up, Multi-District Expansion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4"/>
          <p:cNvSpPr/>
          <p:nvPr/>
        </p:nvSpPr>
        <p:spPr>
          <a:xfrm>
            <a:off x="593388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100,000,000 BDT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485640" y="4002120"/>
            <a:ext cx="2647080" cy="10342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60012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Return on Investment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7"/>
          <p:cNvSpPr/>
          <p:nvPr/>
        </p:nvSpPr>
        <p:spPr>
          <a:xfrm>
            <a:off x="60012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2.5 YRS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8"/>
          <p:cNvSpPr/>
          <p:nvPr/>
        </p:nvSpPr>
        <p:spPr>
          <a:xfrm>
            <a:off x="600120" y="4623120"/>
            <a:ext cx="2418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Projected ROI based on initial investment and revenue growth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9"/>
          <p:cNvSpPr/>
          <p:nvPr/>
        </p:nvSpPr>
        <p:spPr>
          <a:xfrm>
            <a:off x="324792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0"/>
          <p:cNvSpPr/>
          <p:nvPr/>
        </p:nvSpPr>
        <p:spPr>
          <a:xfrm>
            <a:off x="336240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Profit Phase Entry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1"/>
          <p:cNvSpPr/>
          <p:nvPr/>
        </p:nvSpPr>
        <p:spPr>
          <a:xfrm>
            <a:off x="336240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Q4 YR 2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2"/>
          <p:cNvSpPr/>
          <p:nvPr/>
        </p:nvSpPr>
        <p:spPr>
          <a:xfrm>
            <a:off x="3362400" y="4623120"/>
            <a:ext cx="241848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When recurring revenue exceeds operational costs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3"/>
          <p:cNvSpPr/>
          <p:nvPr/>
        </p:nvSpPr>
        <p:spPr>
          <a:xfrm>
            <a:off x="601020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4"/>
          <p:cNvSpPr/>
          <p:nvPr/>
        </p:nvSpPr>
        <p:spPr>
          <a:xfrm>
            <a:off x="612468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Initial Investment</a:t>
            </a:r>
            <a:endParaRPr b="0" lang="en-US" sz="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5"/>
          <p:cNvSpPr/>
          <p:nvPr/>
        </p:nvSpPr>
        <p:spPr>
          <a:xfrm>
            <a:off x="612468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10M BDT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6"/>
          <p:cNvSpPr/>
          <p:nvPr/>
        </p:nvSpPr>
        <p:spPr>
          <a:xfrm>
            <a:off x="6124680" y="4623120"/>
            <a:ext cx="241848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Capital required for pilot and market entry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Go-to-Market Strategy: Phased Rollout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Strategic approach targeting high-density SME clusters with proof-of-concept and scalable growth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"/>
          <p:cNvSpPr/>
          <p:nvPr/>
        </p:nvSpPr>
        <p:spPr>
          <a:xfrm>
            <a:off x="485640" y="122076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585720" y="132084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585720" y="172800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5112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Pilot Launch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585720" y="203688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Deploy 8-10 drones across 50 SME partners in Pabna district. Validate operations, gather data, and build proof-of-concept.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585720" y="241560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585720" y="241560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50 SME PARTNERS | PABNA DISTRICT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4614840" y="122076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4714920" y="134208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4714920" y="174924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5112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Strategic Partnerships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4714920" y="20581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Align with e-commerce platforms, local retailers, and business associations for distribution, credibility, and co-branded solutions.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4"/>
          <p:cNvSpPr/>
          <p:nvPr/>
        </p:nvSpPr>
        <p:spPr>
          <a:xfrm>
            <a:off x="4714920" y="243684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4714920" y="243684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PARTNERSHIPS WITH KEY STAKEHOLDERS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6"/>
          <p:cNvSpPr/>
          <p:nvPr/>
        </p:nvSpPr>
        <p:spPr>
          <a:xfrm>
            <a:off x="485640" y="285840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585720" y="295848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585720" y="336564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5112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Digital Marketing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9"/>
          <p:cNvSpPr/>
          <p:nvPr/>
        </p:nvSpPr>
        <p:spPr>
          <a:xfrm>
            <a:off x="585720" y="36745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Targeted campaigns, case studies, and influencer partnerships within SME networks. Build brand awareness and trust through social proof.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0"/>
          <p:cNvSpPr/>
          <p:nvPr/>
        </p:nvSpPr>
        <p:spPr>
          <a:xfrm>
            <a:off x="585720" y="405324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1"/>
          <p:cNvSpPr/>
          <p:nvPr/>
        </p:nvSpPr>
        <p:spPr>
          <a:xfrm>
            <a:off x="585720" y="405324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CASE STUDIES &amp; SOCIAL PROOF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2"/>
          <p:cNvSpPr/>
          <p:nvPr/>
        </p:nvSpPr>
        <p:spPr>
          <a:xfrm>
            <a:off x="4614840" y="285840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3"/>
          <p:cNvSpPr/>
          <p:nvPr/>
        </p:nvSpPr>
        <p:spPr>
          <a:xfrm>
            <a:off x="4714920" y="297972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4"/>
          <p:cNvSpPr/>
          <p:nvPr/>
        </p:nvSpPr>
        <p:spPr>
          <a:xfrm>
            <a:off x="4714920" y="338688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5112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Referral Program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5"/>
          <p:cNvSpPr/>
          <p:nvPr/>
        </p:nvSpPr>
        <p:spPr>
          <a:xfrm>
            <a:off x="4714920" y="36961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Incentivize early adopters to drive organic growth and peer adoption. Create network effects and sustainable customer acquisition.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6"/>
          <p:cNvSpPr/>
          <p:nvPr/>
        </p:nvSpPr>
        <p:spPr>
          <a:xfrm>
            <a:off x="4714920" y="407448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7"/>
          <p:cNvSpPr/>
          <p:nvPr/>
        </p:nvSpPr>
        <p:spPr>
          <a:xfrm>
            <a:off x="4714920" y="407448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INCENTIVIZED ORGANIC GROWTH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8"/>
          <p:cNvSpPr/>
          <p:nvPr/>
        </p:nvSpPr>
        <p:spPr>
          <a:xfrm>
            <a:off x="485640" y="4496040"/>
            <a:ext cx="8171640" cy="3423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9"/>
          <p:cNvSpPr/>
          <p:nvPr/>
        </p:nvSpPr>
        <p:spPr>
          <a:xfrm>
            <a:off x="485640" y="4496040"/>
            <a:ext cx="8171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84960" bIns="8496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TIMELINE: Pilot Launch (Q3 2026) → Strategic Partnerships (Q4 2026) → Digital Marketing (Q1 2027) → Referral Program (Ongoing)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Competitive Moat: Data-Driven Advantage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Self-learning data loop creates a defensible market position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485640" y="110196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628560" y="124488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🔗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628560" y="168048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Integrated Platform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628560" y="201816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Unlike traditional couriers or standalone analytics platforms, GreenLift AI combines delivery logistics and AI business intelligence in one unified ecosystem.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611240" y="110196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4754160" y="125640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🌱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4754160" y="16920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Sustainability-First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4754160" y="202968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Green-fuel VTOL drones differentiate us in an increasingly eco-conscious market. Appeals to SMEs seeking carbon-neutral operations and brand enhancement.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485640" y="273348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628560" y="287640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🌍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4"/>
          <p:cNvSpPr/>
          <p:nvPr/>
        </p:nvSpPr>
        <p:spPr>
          <a:xfrm>
            <a:off x="628560" y="33120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Local &amp; Inclusive Design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628560" y="364968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Designed specifically for Bangladesh's SME ecosystem. Bangla interface, low-tech literacy support, and rural infrastructure compatibility create barriers for global competitors.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4611240" y="273348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4754160" y="289764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1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🧠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8"/>
          <p:cNvSpPr/>
          <p:nvPr/>
        </p:nvSpPr>
        <p:spPr>
          <a:xfrm>
            <a:off x="4754160" y="33336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Proprietary AI Algorithms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4754160" y="367092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Early regulatory alignment and proprietary machine learning models create high barriers to entry. Data improves with every delivery, strengthening competitive advantage.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485640" y="4381920"/>
            <a:ext cx="8171640" cy="6138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485640" y="4381920"/>
            <a:ext cx="8171640" cy="61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136080" bIns="13608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DEFENSIBLE POSITION: Every delivery generates data that improves our AI models. Early market entry, regulatory relationships, and local expertise create a self-reinforcing competitive moat that competitors cannot easily replicate.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Next Steps: Accelerating to Market Leadership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Clear roadmap for the next 12 months to secure BVLOS clearance and full pilot deployment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4856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6001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6001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Q1 2026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6001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Prototype Completion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6001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Hardware/software finalization, integration testing, and pre-flight validation.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9"/>
          <p:cNvSpPr/>
          <p:nvPr/>
        </p:nvSpPr>
        <p:spPr>
          <a:xfrm>
            <a:off x="25502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26647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26647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Q2 2026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26647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Field Testing &amp; Validation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26647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Real-world performance testing with regulatory bodies and select partners.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46148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47293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6"/>
          <p:cNvSpPr/>
          <p:nvPr/>
        </p:nvSpPr>
        <p:spPr>
          <a:xfrm>
            <a:off x="47293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Q3 2026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7"/>
          <p:cNvSpPr/>
          <p:nvPr/>
        </p:nvSpPr>
        <p:spPr>
          <a:xfrm>
            <a:off x="47293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Pilot Launch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8"/>
          <p:cNvSpPr/>
          <p:nvPr/>
        </p:nvSpPr>
        <p:spPr>
          <a:xfrm>
            <a:off x="47293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Full deployment in Pabna district with 50 SME partners and initial revenue generation.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66794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6793560" y="14126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6793560" y="14126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68040" bIns="6804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Q4 2026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2"/>
          <p:cNvSpPr/>
          <p:nvPr/>
        </p:nvSpPr>
        <p:spPr>
          <a:xfrm>
            <a:off x="6793560" y="180720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112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Revenue &amp; Expansion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3"/>
          <p:cNvSpPr/>
          <p:nvPr/>
        </p:nvSpPr>
        <p:spPr>
          <a:xfrm>
            <a:off x="6793560" y="207684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Initial revenue generation and planning for multi-district expansion in Year 2.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485640" y="2782800"/>
            <a:ext cx="8171640" cy="1478160"/>
          </a:xfrm>
          <a:prstGeom prst="rect">
            <a:avLst/>
          </a:prstGeom>
          <a:solidFill>
            <a:srgbClr val="ff5f1f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5"/>
          <p:cNvSpPr/>
          <p:nvPr/>
        </p:nvSpPr>
        <p:spPr>
          <a:xfrm>
            <a:off x="628560" y="2954160"/>
            <a:ext cx="788616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Our Ask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628560" y="3195360"/>
            <a:ext cx="788616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10,000,000 BDT</a:t>
            </a:r>
            <a:endParaRPr b="0" lang="en-US" sz="24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628560" y="3746880"/>
            <a:ext cx="78861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Capital required to accelerate prototype completion, regulatory approval, and pilot execution. This investment directly funds our path to market leadership across Bangladesh.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485640" y="4347000"/>
            <a:ext cx="8171640" cy="4420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9"/>
          <p:cNvSpPr/>
          <p:nvPr/>
        </p:nvSpPr>
        <p:spPr>
          <a:xfrm>
            <a:off x="485640" y="4347000"/>
            <a:ext cx="817164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89280" bIns="8928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INVESTMENT ALLOCATION: R&amp;D (3M) | Fleet Acquisition (4M) | Micro-Hub Setup (1M) | Software Development (1.5M) | Regulatory &amp; Legal (500K)</a:t>
            </a:r>
            <a:endParaRPr b="0" lang="en-US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2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Shape 0"/>
          <p:cNvSpPr/>
          <p:nvPr/>
        </p:nvSpPr>
        <p:spPr>
          <a:xfrm>
            <a:off x="57240" y="57240"/>
            <a:ext cx="9029160" cy="95832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"/>
          <p:cNvSpPr/>
          <p:nvPr/>
        </p:nvSpPr>
        <p:spPr>
          <a:xfrm>
            <a:off x="57240" y="98748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Business Model Canvas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e8e8e8"/>
                </a:solidFill>
                <a:effectLst/>
                <a:uFillTx/>
                <a:latin typeface="Calibri"/>
              </a:rPr>
              <a:t>Comprehensive strategic overview of GreenLift AI's sustainable ecosystem</a:t>
            </a:r>
            <a:endParaRPr b="0" lang="en-US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485640" y="103032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5"/>
          <p:cNvSpPr/>
          <p:nvPr/>
        </p:nvSpPr>
        <p:spPr>
          <a:xfrm>
            <a:off x="485640" y="10303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"/>
          <p:cNvSpPr/>
          <p:nvPr/>
        </p:nvSpPr>
        <p:spPr>
          <a:xfrm>
            <a:off x="485640" y="12661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485640" y="10303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Key Partners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8"/>
          <p:cNvSpPr/>
          <p:nvPr/>
        </p:nvSpPr>
        <p:spPr>
          <a:xfrm>
            <a:off x="571680" y="13233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SME Associations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571680" y="15318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E-commerce Platforms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571680" y="1740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Local Retailers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571680" y="19490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Regulatory Bodies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485640" y="229356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485640" y="229356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4"/>
          <p:cNvSpPr/>
          <p:nvPr/>
        </p:nvSpPr>
        <p:spPr>
          <a:xfrm>
            <a:off x="485640" y="252936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5"/>
          <p:cNvSpPr/>
          <p:nvPr/>
        </p:nvSpPr>
        <p:spPr>
          <a:xfrm>
            <a:off x="485640" y="229356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Key Activities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6"/>
          <p:cNvSpPr/>
          <p:nvPr/>
        </p:nvSpPr>
        <p:spPr>
          <a:xfrm>
            <a:off x="571680" y="258624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Drone Operations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7"/>
          <p:cNvSpPr/>
          <p:nvPr/>
        </p:nvSpPr>
        <p:spPr>
          <a:xfrm>
            <a:off x="571680" y="279504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AI Model Training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8"/>
          <p:cNvSpPr/>
          <p:nvPr/>
        </p:nvSpPr>
        <p:spPr>
          <a:xfrm>
            <a:off x="571680" y="3003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Software Development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9"/>
          <p:cNvSpPr/>
          <p:nvPr/>
        </p:nvSpPr>
        <p:spPr>
          <a:xfrm>
            <a:off x="571680" y="321228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Regulatory Compliance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0"/>
          <p:cNvSpPr/>
          <p:nvPr/>
        </p:nvSpPr>
        <p:spPr>
          <a:xfrm>
            <a:off x="485640" y="355644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1"/>
          <p:cNvSpPr/>
          <p:nvPr/>
        </p:nvSpPr>
        <p:spPr>
          <a:xfrm>
            <a:off x="485640" y="355644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2"/>
          <p:cNvSpPr/>
          <p:nvPr/>
        </p:nvSpPr>
        <p:spPr>
          <a:xfrm>
            <a:off x="485640" y="379224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3"/>
          <p:cNvSpPr/>
          <p:nvPr/>
        </p:nvSpPr>
        <p:spPr>
          <a:xfrm>
            <a:off x="485640" y="355644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Key Resources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4"/>
          <p:cNvSpPr/>
          <p:nvPr/>
        </p:nvSpPr>
        <p:spPr>
          <a:xfrm>
            <a:off x="571680" y="3849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VTOL Drone Fleet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5"/>
          <p:cNvSpPr/>
          <p:nvPr/>
        </p:nvSpPr>
        <p:spPr>
          <a:xfrm>
            <a:off x="571680" y="40579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AI Analytics Engine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6"/>
          <p:cNvSpPr/>
          <p:nvPr/>
        </p:nvSpPr>
        <p:spPr>
          <a:xfrm>
            <a:off x="571680" y="42667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LoRa Network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7"/>
          <p:cNvSpPr/>
          <p:nvPr/>
        </p:nvSpPr>
        <p:spPr>
          <a:xfrm>
            <a:off x="571680" y="447516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Technical Team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8"/>
          <p:cNvSpPr/>
          <p:nvPr/>
        </p:nvSpPr>
        <p:spPr>
          <a:xfrm>
            <a:off x="3071880" y="1030320"/>
            <a:ext cx="2999520" cy="15138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9"/>
          <p:cNvSpPr/>
          <p:nvPr/>
        </p:nvSpPr>
        <p:spPr>
          <a:xfrm>
            <a:off x="3157560" y="1116360"/>
            <a:ext cx="2828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6804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Value Propositions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0"/>
          <p:cNvSpPr/>
          <p:nvPr/>
        </p:nvSpPr>
        <p:spPr>
          <a:xfrm>
            <a:off x="3157560" y="138060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✓ Zero-Carbon Delivery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1"/>
          <p:cNvSpPr/>
          <p:nvPr/>
        </p:nvSpPr>
        <p:spPr>
          <a:xfrm>
            <a:off x="3157560" y="158904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✓ Real-Time AI Insights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2"/>
          <p:cNvSpPr/>
          <p:nvPr/>
        </p:nvSpPr>
        <p:spPr>
          <a:xfrm>
            <a:off x="3157560" y="179784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✓ Cost Reduction (No Wage Burden)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3"/>
          <p:cNvSpPr/>
          <p:nvPr/>
        </p:nvSpPr>
        <p:spPr>
          <a:xfrm>
            <a:off x="3157560" y="200628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✓ Weather Resilience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4"/>
          <p:cNvSpPr/>
          <p:nvPr/>
        </p:nvSpPr>
        <p:spPr>
          <a:xfrm>
            <a:off x="3157560" y="2214720"/>
            <a:ext cx="282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✓ Integrated Platform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5"/>
          <p:cNvSpPr/>
          <p:nvPr/>
        </p:nvSpPr>
        <p:spPr>
          <a:xfrm>
            <a:off x="3071880" y="2559240"/>
            <a:ext cx="299952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6"/>
          <p:cNvSpPr/>
          <p:nvPr/>
        </p:nvSpPr>
        <p:spPr>
          <a:xfrm>
            <a:off x="3071880" y="2559240"/>
            <a:ext cx="299952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7"/>
          <p:cNvSpPr/>
          <p:nvPr/>
        </p:nvSpPr>
        <p:spPr>
          <a:xfrm>
            <a:off x="3071880" y="2795040"/>
            <a:ext cx="299952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8"/>
          <p:cNvSpPr/>
          <p:nvPr/>
        </p:nvSpPr>
        <p:spPr>
          <a:xfrm>
            <a:off x="3071880" y="2559240"/>
            <a:ext cx="2999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Customer Relationships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9"/>
          <p:cNvSpPr/>
          <p:nvPr/>
        </p:nvSpPr>
        <p:spPr>
          <a:xfrm>
            <a:off x="3157560" y="285228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Dedicated Account Management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0"/>
          <p:cNvSpPr/>
          <p:nvPr/>
        </p:nvSpPr>
        <p:spPr>
          <a:xfrm>
            <a:off x="3157560" y="306072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Automated Support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1"/>
          <p:cNvSpPr/>
          <p:nvPr/>
        </p:nvSpPr>
        <p:spPr>
          <a:xfrm>
            <a:off x="3157560" y="326916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Community Building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2"/>
          <p:cNvSpPr/>
          <p:nvPr/>
        </p:nvSpPr>
        <p:spPr>
          <a:xfrm>
            <a:off x="3157560" y="3477960"/>
            <a:ext cx="282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Training &amp; Onboarding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3"/>
          <p:cNvSpPr/>
          <p:nvPr/>
        </p:nvSpPr>
        <p:spPr>
          <a:xfrm>
            <a:off x="3071880" y="3822120"/>
            <a:ext cx="2999520" cy="8528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44"/>
          <p:cNvSpPr/>
          <p:nvPr/>
        </p:nvSpPr>
        <p:spPr>
          <a:xfrm>
            <a:off x="3071880" y="3822120"/>
            <a:ext cx="299952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5"/>
          <p:cNvSpPr/>
          <p:nvPr/>
        </p:nvSpPr>
        <p:spPr>
          <a:xfrm>
            <a:off x="3071880" y="4057920"/>
            <a:ext cx="299952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3071880" y="3822120"/>
            <a:ext cx="29995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Customer Segments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7"/>
          <p:cNvSpPr/>
          <p:nvPr/>
        </p:nvSpPr>
        <p:spPr>
          <a:xfrm>
            <a:off x="3157560" y="4115160"/>
            <a:ext cx="282816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Small and Medium Enterprises (SMEs) in Bangladesh including e-commerce retailers, agricultural suppliers, pharmacies, and food distributors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48"/>
          <p:cNvSpPr/>
          <p:nvPr/>
        </p:nvSpPr>
        <p:spPr>
          <a:xfrm>
            <a:off x="6157800" y="103032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9"/>
          <p:cNvSpPr/>
          <p:nvPr/>
        </p:nvSpPr>
        <p:spPr>
          <a:xfrm>
            <a:off x="6157800" y="10303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50"/>
          <p:cNvSpPr/>
          <p:nvPr/>
        </p:nvSpPr>
        <p:spPr>
          <a:xfrm>
            <a:off x="6157800" y="12661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1"/>
          <p:cNvSpPr/>
          <p:nvPr/>
        </p:nvSpPr>
        <p:spPr>
          <a:xfrm>
            <a:off x="6157800" y="10303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Channels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2"/>
          <p:cNvSpPr/>
          <p:nvPr/>
        </p:nvSpPr>
        <p:spPr>
          <a:xfrm>
            <a:off x="6243480" y="13233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Direct Sales Team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3"/>
          <p:cNvSpPr/>
          <p:nvPr/>
        </p:nvSpPr>
        <p:spPr>
          <a:xfrm>
            <a:off x="6243480" y="15318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Strategic Partnerships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4"/>
          <p:cNvSpPr/>
          <p:nvPr/>
        </p:nvSpPr>
        <p:spPr>
          <a:xfrm>
            <a:off x="6243480" y="1740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Online Platform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5"/>
          <p:cNvSpPr/>
          <p:nvPr/>
        </p:nvSpPr>
        <p:spPr>
          <a:xfrm>
            <a:off x="6243480" y="19490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Referral Program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56"/>
          <p:cNvSpPr/>
          <p:nvPr/>
        </p:nvSpPr>
        <p:spPr>
          <a:xfrm>
            <a:off x="6157800" y="229356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7"/>
          <p:cNvSpPr/>
          <p:nvPr/>
        </p:nvSpPr>
        <p:spPr>
          <a:xfrm>
            <a:off x="6157800" y="22939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58"/>
          <p:cNvSpPr/>
          <p:nvPr/>
        </p:nvSpPr>
        <p:spPr>
          <a:xfrm>
            <a:off x="6157800" y="25297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9"/>
          <p:cNvSpPr/>
          <p:nvPr/>
        </p:nvSpPr>
        <p:spPr>
          <a:xfrm>
            <a:off x="6157800" y="22939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Revenue Streams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0"/>
          <p:cNvSpPr/>
          <p:nvPr/>
        </p:nvSpPr>
        <p:spPr>
          <a:xfrm>
            <a:off x="6243480" y="25941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Pay-Per-Delivery (15-30 BDT)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1"/>
          <p:cNvSpPr/>
          <p:nvPr/>
        </p:nvSpPr>
        <p:spPr>
          <a:xfrm>
            <a:off x="6243480" y="2802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Dashboard Subscription (500-2,000 BDT/month)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2"/>
          <p:cNvSpPr/>
          <p:nvPr/>
        </p:nvSpPr>
        <p:spPr>
          <a:xfrm>
            <a:off x="6243480" y="30114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Strategic Partnerships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63"/>
          <p:cNvSpPr/>
          <p:nvPr/>
        </p:nvSpPr>
        <p:spPr>
          <a:xfrm>
            <a:off x="6243480" y="32198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Fleet Leasing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64"/>
          <p:cNvSpPr/>
          <p:nvPr/>
        </p:nvSpPr>
        <p:spPr>
          <a:xfrm>
            <a:off x="6157800" y="3564000"/>
            <a:ext cx="2499480" cy="14709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65"/>
          <p:cNvSpPr/>
          <p:nvPr/>
        </p:nvSpPr>
        <p:spPr>
          <a:xfrm>
            <a:off x="6157800" y="358560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66"/>
          <p:cNvSpPr/>
          <p:nvPr/>
        </p:nvSpPr>
        <p:spPr>
          <a:xfrm>
            <a:off x="6157800" y="382140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7"/>
          <p:cNvSpPr/>
          <p:nvPr/>
        </p:nvSpPr>
        <p:spPr>
          <a:xfrm>
            <a:off x="6157800" y="358560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960" rIns="84960" tIns="57600" bIns="5760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Cost Structure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8"/>
          <p:cNvSpPr/>
          <p:nvPr/>
        </p:nvSpPr>
        <p:spPr>
          <a:xfrm>
            <a:off x="6243480" y="3885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R&amp;D &amp; Development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9"/>
          <p:cNvSpPr/>
          <p:nvPr/>
        </p:nvSpPr>
        <p:spPr>
          <a:xfrm>
            <a:off x="6243480" y="40942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Fleet Maintenance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0"/>
          <p:cNvSpPr/>
          <p:nvPr/>
        </p:nvSpPr>
        <p:spPr>
          <a:xfrm>
            <a:off x="6243480" y="43027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Software Licensing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71"/>
          <p:cNvSpPr/>
          <p:nvPr/>
        </p:nvSpPr>
        <p:spPr>
          <a:xfrm>
            <a:off x="6243480" y="45115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Hub Operations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2"/>
          <p:cNvSpPr/>
          <p:nvPr/>
        </p:nvSpPr>
        <p:spPr>
          <a:xfrm>
            <a:off x="6243480" y="471996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4248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63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b="0" lang="en-US" sz="67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 Regulatory Fees</a:t>
            </a:r>
            <a:endParaRPr b="0" lang="en-US" sz="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Shape 0"/>
          <p:cNvSpPr/>
          <p:nvPr/>
        </p:nvSpPr>
        <p:spPr>
          <a:xfrm>
            <a:off x="57240" y="57240"/>
            <a:ext cx="9029160" cy="15782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57240" y="16077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485640" y="485640"/>
            <a:ext cx="8171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4300"/>
              </a:lnSpc>
              <a:tabLst>
                <a:tab algn="l" pos="0"/>
              </a:tabLst>
            </a:pPr>
            <a:r>
              <a:rPr b="1" lang="en-US" sz="32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b="0" lang="en-US" sz="32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485640" y="1119960"/>
            <a:ext cx="81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899"/>
              </a:lnSpc>
              <a:tabLst>
                <a:tab algn="l" pos="0"/>
              </a:tabLst>
            </a:pPr>
            <a:r>
              <a:rPr b="1" lang="en-US" sz="13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Let's Transform SME Logistics Together</a:t>
            </a:r>
            <a:endParaRPr b="0" lang="en-US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485640" y="1930680"/>
            <a:ext cx="455328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0224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Get in Touch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657360" y="242172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Email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657360" y="2600640"/>
            <a:ext cx="1778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armanislam527@gmail.com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657360" y="290412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Phone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657360" y="3082680"/>
            <a:ext cx="438192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+8801521751005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9"/>
          <p:cNvSpPr/>
          <p:nvPr/>
        </p:nvSpPr>
        <p:spPr>
          <a:xfrm>
            <a:off x="657360" y="338616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Portfolio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0"/>
          <p:cNvSpPr/>
          <p:nvPr/>
        </p:nvSpPr>
        <p:spPr>
          <a:xfrm>
            <a:off x="657360" y="3564720"/>
            <a:ext cx="15015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cv-of-arman.netlify.app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657360" y="386856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GitHub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657360" y="4047120"/>
            <a:ext cx="1790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trike="noStrike" u="none">
                <a:solidFill>
                  <a:srgbClr val="0047ab"/>
                </a:solidFill>
                <a:effectLst/>
                <a:uFillTx/>
                <a:latin typeface="Calibri"/>
              </a:rPr>
              <a:t>github.com/Armanislam527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5468400" y="1855800"/>
            <a:ext cx="3188880" cy="2569320"/>
          </a:xfrm>
          <a:prstGeom prst="rect">
            <a:avLst/>
          </a:prstGeom>
          <a:solidFill>
            <a:srgbClr val="1a1a1a"/>
          </a:solidFill>
          <a:ln w="2743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4"/>
          <p:cNvSpPr/>
          <p:nvPr/>
        </p:nvSpPr>
        <p:spPr>
          <a:xfrm>
            <a:off x="6448320" y="2084400"/>
            <a:ext cx="126504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5f1f"/>
                </a:solidFill>
                <a:effectLst/>
                <a:uFillTx/>
                <a:latin typeface="Calibri"/>
              </a:rPr>
              <a:t>Scan to Learn More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Image 1" descr="preencoded.png"/>
          <p:cNvPicPr/>
          <p:nvPr/>
        </p:nvPicPr>
        <p:blipFill>
          <a:blip r:embed="rId2"/>
          <a:stretch/>
        </p:blipFill>
        <p:spPr>
          <a:xfrm>
            <a:off x="6366960" y="235404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 15"/>
          <p:cNvSpPr/>
          <p:nvPr/>
        </p:nvSpPr>
        <p:spPr>
          <a:xfrm>
            <a:off x="5704200" y="3897000"/>
            <a:ext cx="275328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Connect with us for partnership and investment opportunities in intelligent drone logistics</a:t>
            </a:r>
            <a:endParaRPr b="0" lang="en-US" sz="7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6"/>
          <p:cNvSpPr/>
          <p:nvPr/>
        </p:nvSpPr>
        <p:spPr>
          <a:xfrm>
            <a:off x="57240" y="4673880"/>
            <a:ext cx="9029160" cy="4118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57240" y="467388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8"/>
          <p:cNvSpPr/>
          <p:nvPr/>
        </p:nvSpPr>
        <p:spPr>
          <a:xfrm>
            <a:off x="57240" y="4673880"/>
            <a:ext cx="902916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10120" rIns="510120" tIns="70200" bIns="7020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TEAM PHANTOM | PABNA UNIVERSITY OF SCIENCE AND TECHNOLOGY | GREENLIFT AI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LibreOffice/25.8.2.2$Linux_X86_64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2025-12-03T01:23:38Z</dcterms:created>
  <dc:creator>PptxGenJS</dc:creator>
  <dc:description/>
  <dc:language>en-US</dc:language>
  <cp:lastModifiedBy/>
  <dcterms:modified xsi:type="dcterms:W3CDTF">2025-12-03T11:39:28Z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